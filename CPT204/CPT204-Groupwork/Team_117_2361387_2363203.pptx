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92" r:id="rId2"/>
    <p:sldId id="266" r:id="rId3"/>
    <p:sldId id="257" r:id="rId4"/>
    <p:sldId id="267" r:id="rId5"/>
    <p:sldId id="268" r:id="rId6"/>
    <p:sldId id="269" r:id="rId7"/>
    <p:sldId id="270" r:id="rId8"/>
    <p:sldId id="271" r:id="rId9"/>
    <p:sldId id="272" r:id="rId10"/>
    <p:sldId id="273" r:id="rId11"/>
    <p:sldId id="278" r:id="rId12"/>
    <p:sldId id="259" r:id="rId13"/>
    <p:sldId id="276" r:id="rId14"/>
    <p:sldId id="263" r:id="rId15"/>
    <p:sldId id="289" r:id="rId16"/>
    <p:sldId id="290" r:id="rId17"/>
    <p:sldId id="279" r:id="rId18"/>
    <p:sldId id="291" r:id="rId19"/>
    <p:sldId id="281" r:id="rId20"/>
    <p:sldId id="260" r:id="rId21"/>
    <p:sldId id="275" r:id="rId22"/>
    <p:sldId id="280" r:id="rId23"/>
    <p:sldId id="282" r:id="rId24"/>
    <p:sldId id="283" r:id="rId25"/>
    <p:sldId id="284" r:id="rId26"/>
    <p:sldId id="286" r:id="rId27"/>
    <p:sldId id="287" r:id="rId28"/>
    <p:sldId id="288" r:id="rId29"/>
    <p:sldId id="302" r:id="rId30"/>
    <p:sldId id="303" r:id="rId31"/>
    <p:sldId id="304"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61507"/>
  </p:normalViewPr>
  <p:slideViewPr>
    <p:cSldViewPr snapToGrid="0" snapToObjects="1">
      <p:cViewPr varScale="1">
        <p:scale>
          <a:sx n="73" d="100"/>
          <a:sy n="73" d="100"/>
        </p:scale>
        <p:origin x="208" y="232"/>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0943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45A01-C95D-7541-E1CF-B563A245C9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696EB-2049-40CC-41FA-7DC8AF0ED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F6D3D5-A738-A343-D359-EC67340A86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AFB2D5-81B0-4FBA-589C-D473BD3B854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5787903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38C60-9CC7-70ED-F1BA-CBF3F8A39E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C4F91-CC23-19CF-A459-8CD4CE0831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544260-8DB5-36C9-5D02-984EBE2296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481365-C92C-833C-64F5-6D828C2830C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589361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989FB-1B0E-A94E-4207-F233F8F39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4202A3-30A9-2837-D23B-5C9576A96C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8A84F2-4CD5-EA96-9346-2EC497B6B2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8E56F6-6F0A-BF22-1C9C-74C287DED60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4184999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B1112-5A58-331E-19D2-07B075933A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6D2A2-0058-6261-759A-8F4110CFAB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8105A-3380-8C17-EDDE-42D27AAC12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D00E25-63ED-BC93-1F07-08D433CE0FA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24870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D89E7-C590-725E-09A5-330A164575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F7F783-A0CE-7B32-A91F-B54004DAF0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58D63E-4731-A8F6-F85A-7BB22502EE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E01F2D-6A69-F2BB-A09A-AA3126778E1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4143684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58831-F275-020E-5FFF-DB3B06D47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1CF70B-F282-852C-A291-DE2B0F3946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A9DCEF-4F49-6129-6687-AA35EB25BDF9}"/>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8CAFB3A-A55E-144A-2890-21F3D02AE76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025166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BA18A-F084-4D3A-BB1D-285AF72FFA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045E1-488A-E295-62F9-8D57D191AC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EA0CBA-6CC5-B709-811D-6FB5B581FA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AA80F2-11C3-3AC0-5BC6-B012F45402A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970813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36129-9A56-1D4D-D6BA-AEB386984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C50A2-F416-3BA3-C8F0-4D57F16A05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96E89C-A70D-5551-084F-4FFA1CAB6F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AADA34-504C-E15F-7E5A-8AFEB16535D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170758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B2BB-9475-3EEB-0EF4-8AF49E575D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711D4-D8D9-92EF-2385-FAA32B2D82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41EF71-EEEB-A809-FD4B-4C7F96754E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7EDF7E-2C19-4FC0-CD77-BA648A2FECC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852624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04D1C-03CF-538C-F360-BFF3E8110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D4B9A-AB2F-F5A2-C453-C3D67B0843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478886-3183-3B8D-0D02-84AD067968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1E400F-AA8C-BA06-A775-91C35B19C05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5262654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CA146-40B1-D35A-5E99-C6CD42A6DD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744404-DE65-4B84-2AE9-3FE1215725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B82037-302F-1AD2-242B-C590B358EE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1F5803-4897-849F-0ED6-5E948884567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209610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E3D7C-98FC-670F-790F-223DA85B99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3164F1-9C93-039D-314D-9AB58E957E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1EC4A2-C346-4C39-BCE7-D59380BFAD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C2D98B-7777-EDD0-6307-C33576258D5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40159493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FF211-C685-77FF-0606-947AE384F5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26A392-C514-A80E-67D5-2913EB2DE4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FE9BEA-0090-9736-B9BB-1BB3B7EB1A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ADD22C-B84C-1696-9A29-10F0DC09916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6866911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68234-298D-5B29-72CF-C90B25535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45B4C-418F-2C42-195B-25DA46865A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D2254E-E7C7-258E-3CCA-95106B31AA27}"/>
              </a:ext>
            </a:extLst>
          </p:cNvPr>
          <p:cNvSpPr>
            <a:spLocks noGrp="1"/>
          </p:cNvSpPr>
          <p:nvPr>
            <p:ph type="body" idx="1"/>
          </p:nvPr>
        </p:nvSpPr>
        <p:spPr/>
        <p:txBody>
          <a:bodyPr/>
          <a:lstStyle/>
          <a:p>
            <a:endParaRPr lang="en" altLang="zh-CN" dirty="0"/>
          </a:p>
        </p:txBody>
      </p:sp>
      <p:sp>
        <p:nvSpPr>
          <p:cNvPr id="4" name="Slide Number Placeholder 3">
            <a:extLst>
              <a:ext uri="{FF2B5EF4-FFF2-40B4-BE49-F238E27FC236}">
                <a16:creationId xmlns:a16="http://schemas.microsoft.com/office/drawing/2014/main" id="{7269D049-55BD-6DC3-494E-0A5B66CBEFA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626473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8A15F-674D-97B9-DD88-3B68DC1E70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0CC78A-D1FD-2941-794D-73D9902CB6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F4CBCF-D7CD-6174-5FA6-FCA6148559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5FDC02-D9CF-0A7E-0C4D-FE5EB76CED0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6177002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FF167-EAE1-21C3-898A-B9819DABA4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2C6CF7-D436-53C8-E804-94846B7D7E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7B5BE1-1CBC-B7D7-CF8C-8635A808FD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81961B-3226-F47B-14DF-B755DE91696F}"/>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2034250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AF58B-23BE-7931-CE99-4BE8578BF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7CBAE0-7FB6-BCF4-3D64-901F41CE0B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61A9E2-8957-BE8C-82BE-982D7699BF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1781ED-DE06-A754-9EA2-8DB76F587E11}"/>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3513837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09798-556F-1B29-BC79-0222B36BC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7E3E40-E6DC-D8F5-A959-05E69DB145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F6818-0361-8CF1-D848-2BA0DB2A71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998720-CE20-C0BC-E68D-282AF4EEC9A9}"/>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553913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9512C-62C2-A256-F72D-E0EE10063C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4092E1-D053-0478-BDE8-28AD4530F3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275CDD-821E-2D90-598E-582DA9EBFC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84FBBC-CBA6-6EE5-9A58-2B2DFAB8313D}"/>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9571329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2183F-9551-AEA4-42CE-B6244F565E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8D92B-C57D-EC17-B230-AD0E3A34A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C6C869-99ED-8FE9-7E1B-AB951146B1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1569BC-156E-6DA4-7764-1C89A2A02530}"/>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711880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93AA9-7238-C5D8-9A20-8157A9BEA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F3A208-4E89-D77F-7CA4-2D4CCDEAF7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2B8028-0339-F40A-D136-C4E59D2D81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BD3466-EF3A-42E5-A920-86434A9EC3F3}"/>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004699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1E30D-1051-729A-170B-0E9E916221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43ED0-4E7E-1EC5-A985-83FC827ED9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BA6083-2981-B209-9021-5FE1D6E581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75E369-0039-F52C-C4C3-8551662CDDEE}"/>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3030026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39302-6DD5-D4BF-2659-C39CA0C0C0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9FDE40-651A-549F-E4A9-7B5D0B8BEE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4CB2CD-CAAE-0FEE-CCED-0A54E0FAFC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BB3261-D430-C3F5-C9A2-EDF033F1186B}"/>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0833503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94B2F-BC24-996B-386D-0A95429D9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0F0B3-C53E-B362-6307-FC372738F7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44C4F-3406-4DFC-210A-BECA942238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FF2E6C-B91D-E09A-0D1C-863B3E42D8E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5246749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38A53-145B-2CA3-B672-C87530781D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4B4B33-0C58-2260-B907-6EDEF8EDF4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3E1515-33EB-DCE5-01C4-6D582F2C70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8D8EBB-C1F0-E4D4-29CE-3B59C2E7ECA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9357219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NUL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p:cNvGrpSpPr/>
        <p:nvPr/>
      </p:nvGrpSpPr>
      <p:grpSpPr>
        <a:xfrm>
          <a:off x="0" y="0"/>
          <a:ext cx="0" cy="0"/>
          <a:chOff x="0" y="0"/>
          <a:chExt cx="0" cy="0"/>
        </a:xfrm>
      </p:grpSpPr>
      <p:sp>
        <p:nvSpPr>
          <p:cNvPr id="2" name="Text 0"/>
          <p:cNvSpPr/>
          <p:nvPr/>
        </p:nvSpPr>
        <p:spPr>
          <a:xfrm>
            <a:off x="502920" y="274320"/>
            <a:ext cx="21945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CPT204 Group Project</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Shape 1"/>
          <p:cNvSpPr/>
          <p:nvPr/>
        </p:nvSpPr>
        <p:spPr>
          <a:xfrm>
            <a:off x="10607040" y="292608"/>
            <a:ext cx="201168" cy="201168"/>
          </a:xfrm>
          <a:prstGeom prst="ellipse">
            <a:avLst/>
          </a:prstGeom>
          <a:solidFill>
            <a:srgbClr val="E1A4C2"/>
          </a:solidFill>
          <a:ln w="12700">
            <a:solidFill>
              <a:srgbClr val="E1A4C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4" name="Shape 2"/>
          <p:cNvSpPr/>
          <p:nvPr/>
        </p:nvSpPr>
        <p:spPr>
          <a:xfrm>
            <a:off x="10972800" y="292608"/>
            <a:ext cx="201168" cy="201168"/>
          </a:xfrm>
          <a:prstGeom prst="ellipse">
            <a:avLst/>
          </a:prstGeom>
          <a:solidFill>
            <a:srgbClr val="D6DD63"/>
          </a:solidFill>
          <a:ln w="12700">
            <a:solidFill>
              <a:srgbClr val="D6DD6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5" name="Shape 3"/>
          <p:cNvSpPr/>
          <p:nvPr/>
        </p:nvSpPr>
        <p:spPr>
          <a:xfrm>
            <a:off x="11338560" y="292608"/>
            <a:ext cx="201168" cy="201168"/>
          </a:xfrm>
          <a:prstGeom prst="ellipse">
            <a:avLst/>
          </a:prstGeom>
          <a:solidFill>
            <a:srgbClr val="E8C9B6"/>
          </a:solidFill>
          <a:ln w="12700">
            <a:solidFill>
              <a:srgbClr val="E8C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6" name="Text 4"/>
          <p:cNvSpPr/>
          <p:nvPr/>
        </p:nvSpPr>
        <p:spPr>
          <a:xfrm>
            <a:off x="685800" y="1280160"/>
            <a:ext cx="38404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Course project presentation · AY2526</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Text 5"/>
          <p:cNvSpPr/>
          <p:nvPr/>
        </p:nvSpPr>
        <p:spPr>
          <a:xfrm>
            <a:off x="658368" y="1600200"/>
            <a:ext cx="6675120" cy="1920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Urban Infrastructure</a:t>
            </a:r>
            <a:endParaRPr kumimoji="0" lang="en-US" sz="3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Inspection System.</a:t>
            </a:r>
            <a:endParaRPr kumimoji="0" lang="en-US" sz="30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6"/>
          <p:cNvSpPr/>
          <p:nvPr/>
        </p:nvSpPr>
        <p:spPr>
          <a:xfrm>
            <a:off x="713232" y="3767328"/>
            <a:ext cx="749808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C5345"/>
                </a:solidFill>
                <a:effectLst/>
                <a:uLnTx/>
                <a:uFillTx/>
                <a:latin typeface="Aptos" pitchFamily="34" charset="0"/>
                <a:ea typeface="Aptos" pitchFamily="34" charset="-122"/>
                <a:cs typeface="Aptos" pitchFamily="34" charset="-120"/>
              </a:rPr>
              <a:t>A concise presentation of our sorting benchmark, shortest-path solution, object-oriented design, and project reflection for the Urban Infrastructure Inspection coursework.</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Text 8"/>
          <p:cNvSpPr/>
          <p:nvPr/>
        </p:nvSpPr>
        <p:spPr>
          <a:xfrm>
            <a:off x="9326880" y="6428232"/>
            <a:ext cx="24688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2361387 · 2363203</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文本框 10">
            <a:extLst>
              <a:ext uri="{FF2B5EF4-FFF2-40B4-BE49-F238E27FC236}">
                <a16:creationId xmlns:a16="http://schemas.microsoft.com/office/drawing/2014/main" id="{A9038146-7E49-63E0-AF0E-B408CC81094A}"/>
              </a:ext>
            </a:extLst>
          </p:cNvPr>
          <p:cNvSpPr txBox="1"/>
          <p:nvPr/>
        </p:nvSpPr>
        <p:spPr>
          <a:xfrm>
            <a:off x="658368" y="4617720"/>
            <a:ext cx="26899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1" u="none" strike="noStrike" kern="1200" cap="none" spc="0" normalizeH="0" baseline="0" noProof="0" dirty="0" err="1">
                <a:ln>
                  <a:noFill/>
                </a:ln>
                <a:solidFill>
                  <a:prstClr val="black"/>
                </a:solidFill>
                <a:effectLst/>
                <a:uLnTx/>
                <a:uFillTx/>
                <a:latin typeface="Georgia" panose="02040502050405020303" pitchFamily="18" charset="0"/>
                <a:ea typeface="等线" panose="02010600030101010101" pitchFamily="2" charset="-122"/>
                <a:cs typeface="+mn-cs"/>
              </a:rPr>
              <a:t>Qi.Chen</a:t>
            </a:r>
            <a:r>
              <a:rPr kumimoji="1" lang="en-US" altLang="zh-CN" sz="1200" b="0" i="1"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mn-cs"/>
              </a:rPr>
              <a:t> 2363203</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1" u="none" strike="noStrike" kern="1200" cap="none" spc="0" normalizeH="0" baseline="0" noProof="0" dirty="0" err="1">
                <a:ln>
                  <a:noFill/>
                </a:ln>
                <a:solidFill>
                  <a:prstClr val="black"/>
                </a:solidFill>
                <a:effectLst/>
                <a:uLnTx/>
                <a:uFillTx/>
                <a:latin typeface="Georgia" panose="02040502050405020303" pitchFamily="18" charset="0"/>
                <a:ea typeface="等线" panose="02010600030101010101" pitchFamily="2" charset="-122"/>
                <a:cs typeface="+mn-cs"/>
              </a:rPr>
              <a:t>Chenrui.Zhu</a:t>
            </a:r>
            <a:r>
              <a:rPr kumimoji="1" lang="en-US" altLang="zh-CN" sz="1200" b="0" i="1"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mn-cs"/>
              </a:rPr>
              <a:t> 2361387</a:t>
            </a:r>
            <a:endParaRPr kumimoji="1" lang="zh-CN" altLang="en-US" sz="1200" b="0" i="1"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advTm="18288"/>
    </mc:Choice>
    <mc:Fallback xmlns="">
      <p:transition spd="slow" advTm="1828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F96E56C2-34A0-FF90-8AF0-C2B38B73B9D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BB7A4CA-3C91-E6F0-9073-117152C01FFC}"/>
              </a:ext>
            </a:extLst>
          </p:cNvPr>
          <p:cNvSpPr/>
          <p:nvPr/>
        </p:nvSpPr>
        <p:spPr>
          <a:xfrm>
            <a:off x="502920" y="274320"/>
            <a:ext cx="21945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CPT204 Group Project</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Shape 1">
            <a:extLst>
              <a:ext uri="{FF2B5EF4-FFF2-40B4-BE49-F238E27FC236}">
                <a16:creationId xmlns:a16="http://schemas.microsoft.com/office/drawing/2014/main" id="{132AC110-E77E-7B33-CB5A-8359420B671C}"/>
              </a:ext>
            </a:extLst>
          </p:cNvPr>
          <p:cNvSpPr/>
          <p:nvPr/>
        </p:nvSpPr>
        <p:spPr>
          <a:xfrm>
            <a:off x="10607040" y="292608"/>
            <a:ext cx="201168" cy="201168"/>
          </a:xfrm>
          <a:prstGeom prst="ellipse">
            <a:avLst/>
          </a:prstGeom>
          <a:solidFill>
            <a:srgbClr val="E1A4C2"/>
          </a:solidFill>
          <a:ln w="12700">
            <a:solidFill>
              <a:srgbClr val="E1A4C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4" name="Shape 2">
            <a:extLst>
              <a:ext uri="{FF2B5EF4-FFF2-40B4-BE49-F238E27FC236}">
                <a16:creationId xmlns:a16="http://schemas.microsoft.com/office/drawing/2014/main" id="{1A228EFF-912E-5BE5-B0AD-5B30F346B041}"/>
              </a:ext>
            </a:extLst>
          </p:cNvPr>
          <p:cNvSpPr/>
          <p:nvPr/>
        </p:nvSpPr>
        <p:spPr>
          <a:xfrm>
            <a:off x="10972800" y="292608"/>
            <a:ext cx="201168" cy="201168"/>
          </a:xfrm>
          <a:prstGeom prst="ellipse">
            <a:avLst/>
          </a:prstGeom>
          <a:solidFill>
            <a:srgbClr val="D6DD63"/>
          </a:solidFill>
          <a:ln w="12700">
            <a:solidFill>
              <a:srgbClr val="D6DD6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5" name="Shape 3">
            <a:extLst>
              <a:ext uri="{FF2B5EF4-FFF2-40B4-BE49-F238E27FC236}">
                <a16:creationId xmlns:a16="http://schemas.microsoft.com/office/drawing/2014/main" id="{778C62B0-D493-888F-3001-FB038E226809}"/>
              </a:ext>
            </a:extLst>
          </p:cNvPr>
          <p:cNvSpPr/>
          <p:nvPr/>
        </p:nvSpPr>
        <p:spPr>
          <a:xfrm>
            <a:off x="11338560" y="292608"/>
            <a:ext cx="201168" cy="201168"/>
          </a:xfrm>
          <a:prstGeom prst="ellipse">
            <a:avLst/>
          </a:prstGeom>
          <a:solidFill>
            <a:srgbClr val="E8C9B6"/>
          </a:solidFill>
          <a:ln w="12700">
            <a:solidFill>
              <a:srgbClr val="E8C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6" name="Text 4">
            <a:extLst>
              <a:ext uri="{FF2B5EF4-FFF2-40B4-BE49-F238E27FC236}">
                <a16:creationId xmlns:a16="http://schemas.microsoft.com/office/drawing/2014/main" id="{194C10C8-94A6-4366-35B2-A36A4E0AAC72}"/>
              </a:ext>
            </a:extLst>
          </p:cNvPr>
          <p:cNvSpPr/>
          <p:nvPr/>
        </p:nvSpPr>
        <p:spPr>
          <a:xfrm>
            <a:off x="685800" y="1280160"/>
            <a:ext cx="38404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Course project presentation</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Text 5">
            <a:extLst>
              <a:ext uri="{FF2B5EF4-FFF2-40B4-BE49-F238E27FC236}">
                <a16:creationId xmlns:a16="http://schemas.microsoft.com/office/drawing/2014/main" id="{61BDCC64-44CD-59CE-BE9F-FDF705B97792}"/>
              </a:ext>
            </a:extLst>
          </p:cNvPr>
          <p:cNvSpPr/>
          <p:nvPr/>
        </p:nvSpPr>
        <p:spPr>
          <a:xfrm>
            <a:off x="658368" y="1600200"/>
            <a:ext cx="6675120" cy="1920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mn-cs"/>
              </a:rPr>
              <a:t>Overview</a:t>
            </a:r>
            <a:endParaRPr kumimoji="0" lang="zh-CN" altLang="zh-CN" sz="3200" b="0" i="0"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6">
            <a:extLst>
              <a:ext uri="{FF2B5EF4-FFF2-40B4-BE49-F238E27FC236}">
                <a16:creationId xmlns:a16="http://schemas.microsoft.com/office/drawing/2014/main" id="{04535C2E-4341-D0B7-B709-10DE6AD472D6}"/>
              </a:ext>
            </a:extLst>
          </p:cNvPr>
          <p:cNvSpPr/>
          <p:nvPr/>
        </p:nvSpPr>
        <p:spPr>
          <a:xfrm>
            <a:off x="658368" y="3736428"/>
            <a:ext cx="2011680" cy="104241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Georgia"/>
                <a:ea typeface="+mn-ea"/>
                <a:cs typeface="+mn-cs"/>
              </a:rPr>
              <a:t>Part 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Georgia"/>
                <a:ea typeface="+mn-ea"/>
                <a:cs typeface="+mn-cs"/>
              </a:rPr>
              <a:t>Introduction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eorgia"/>
                <a:ea typeface="+mn-ea"/>
                <a:cs typeface="+mn-cs"/>
              </a:rPr>
              <a:t>Project Background &amp; Objectives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eorg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a:extLst>
              <a:ext uri="{FF2B5EF4-FFF2-40B4-BE49-F238E27FC236}">
                <a16:creationId xmlns:a16="http://schemas.microsoft.com/office/drawing/2014/main" id="{A3E0D4E8-C51E-1D35-54E6-F3C2A4A40DE0}"/>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文本框 13">
            <a:extLst>
              <a:ext uri="{FF2B5EF4-FFF2-40B4-BE49-F238E27FC236}">
                <a16:creationId xmlns:a16="http://schemas.microsoft.com/office/drawing/2014/main" id="{E724FAFA-6144-D8A1-0AF6-B8051E2FC674}"/>
              </a:ext>
            </a:extLst>
          </p:cNvPr>
          <p:cNvSpPr txBox="1"/>
          <p:nvPr/>
        </p:nvSpPr>
        <p:spPr>
          <a:xfrm>
            <a:off x="2748916" y="3312340"/>
            <a:ext cx="2740152" cy="166199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2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Part II</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2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Task A</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Sorting Algorithms &amp; Benchmark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
        <p:nvSpPr>
          <p:cNvPr id="15" name="文本框 14">
            <a:extLst>
              <a:ext uri="{FF2B5EF4-FFF2-40B4-BE49-F238E27FC236}">
                <a16:creationId xmlns:a16="http://schemas.microsoft.com/office/drawing/2014/main" id="{085C2766-0E57-6F8F-538D-8B6E1F3B8F7F}"/>
              </a:ext>
            </a:extLst>
          </p:cNvPr>
          <p:cNvSpPr txBox="1"/>
          <p:nvPr/>
        </p:nvSpPr>
        <p:spPr>
          <a:xfrm>
            <a:off x="5237226" y="3312341"/>
            <a:ext cx="2764535" cy="166199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2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Part III</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2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Task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Graph Representation &amp; Shortest Path Planning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
        <p:nvSpPr>
          <p:cNvPr id="16" name="文本框 15">
            <a:extLst>
              <a:ext uri="{FF2B5EF4-FFF2-40B4-BE49-F238E27FC236}">
                <a16:creationId xmlns:a16="http://schemas.microsoft.com/office/drawing/2014/main" id="{37A95D31-D1BA-A477-2E05-D1F305049A17}"/>
              </a:ext>
            </a:extLst>
          </p:cNvPr>
          <p:cNvSpPr txBox="1"/>
          <p:nvPr/>
        </p:nvSpPr>
        <p:spPr>
          <a:xfrm>
            <a:off x="7778497" y="3312339"/>
            <a:ext cx="2397252" cy="166199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2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Part IV</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2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Task C</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Object-Oriented System Design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
        <p:nvSpPr>
          <p:cNvPr id="17" name="文本框 16">
            <a:extLst>
              <a:ext uri="{FF2B5EF4-FFF2-40B4-BE49-F238E27FC236}">
                <a16:creationId xmlns:a16="http://schemas.microsoft.com/office/drawing/2014/main" id="{E3FC2CA2-AFF4-D154-10C1-E996915E2E45}"/>
              </a:ext>
            </a:extLst>
          </p:cNvPr>
          <p:cNvSpPr txBox="1"/>
          <p:nvPr/>
        </p:nvSpPr>
        <p:spPr>
          <a:xfrm>
            <a:off x="9645396" y="3312341"/>
            <a:ext cx="2764536" cy="166199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2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Part V</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2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Project Reflection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Collaboration, EDI &amp; Future Development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Tree>
    <p:extLst>
      <p:ext uri="{BB962C8B-B14F-4D97-AF65-F5344CB8AC3E}">
        <p14:creationId xmlns:p14="http://schemas.microsoft.com/office/powerpoint/2010/main" val="2831287046"/>
      </p:ext>
    </p:extLst>
  </p:cSld>
  <p:clrMapOvr>
    <a:masterClrMapping/>
  </p:clrMapOvr>
  <mc:AlternateContent xmlns:mc="http://schemas.openxmlformats.org/markup-compatibility/2006" xmlns:p14="http://schemas.microsoft.com/office/powerpoint/2010/main">
    <mc:Choice Requires="p14">
      <p:transition spd="slow" p14:dur="2000" advTm="22965"/>
    </mc:Choice>
    <mc:Fallback xmlns="">
      <p:transition spd="slow" advTm="2296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Project background</a:t>
            </a:r>
            <a:endParaRPr kumimoji="0" lang="en-US" altLang="zh-CN" sz="16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3" name="Text 1"/>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p:cNvSpPr/>
          <p:nvPr/>
        </p:nvSpPr>
        <p:spPr>
          <a:xfrm>
            <a:off x="8212015" y="6428232"/>
            <a:ext cx="3583745" cy="15073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Urban Infrastructure Inspection System</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p:cNvSpPr/>
          <p:nvPr/>
        </p:nvSpPr>
        <p:spPr>
          <a:xfrm>
            <a:off x="502920" y="1188720"/>
            <a:ext cx="4745736" cy="25328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Georgia"/>
                <a:ea typeface="+mn-ea"/>
                <a:cs typeface="+mn-cs"/>
              </a:rPr>
              <a:t>Introduction &amp; Backgrounds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Georgia"/>
              <a:ea typeface="+mn-ea"/>
              <a:cs typeface="+mn-cs"/>
            </a:endParaRPr>
          </a:p>
        </p:txBody>
      </p:sp>
      <p:sp>
        <p:nvSpPr>
          <p:cNvPr id="7" name="Shape 5"/>
          <p:cNvSpPr/>
          <p:nvPr/>
        </p:nvSpPr>
        <p:spPr>
          <a:xfrm>
            <a:off x="5763770" y="1197864"/>
            <a:ext cx="4745736" cy="3136392"/>
          </a:xfrm>
          <a:prstGeom prst="roundRect">
            <a:avLst>
              <a:gd name="adj" fmla="val 0"/>
            </a:avLst>
          </a:prstGeom>
          <a:solidFill>
            <a:srgbClr val="FFFDF8">
              <a:alpha val="82000"/>
            </a:srgbClr>
          </a:solidFill>
          <a:ln w="12700">
            <a:solidFill>
              <a:srgbClr val="D8CFBB">
                <a:alpha val="6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8" name="Text 6"/>
          <p:cNvSpPr/>
          <p:nvPr/>
        </p:nvSpPr>
        <p:spPr>
          <a:xfrm>
            <a:off x="6096000" y="1526715"/>
            <a:ext cx="4206240" cy="3383280"/>
          </a:xfrm>
          <a:prstGeom prst="rect">
            <a:avLst/>
          </a:prstGeom>
          <a:noFill/>
          <a:ln/>
        </p:spPr>
        <p:txBody>
          <a:bodyPr wrap="square" lIns="508" tIns="508" rIns="508" bIns="508" rtlCol="0" anchor="t"/>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2400" b="0" i="0" u="none" strike="noStrike" kern="1200" cap="none" spc="0" normalizeH="0" baseline="0" noProof="0" dirty="0">
                <a:ln>
                  <a:noFill/>
                </a:ln>
                <a:solidFill>
                  <a:prstClr val="black"/>
                </a:solidFill>
                <a:effectLst/>
                <a:uLnTx/>
                <a:uFillTx/>
                <a:latin typeface="Georgia"/>
                <a:ea typeface="+mn-ea"/>
                <a:cs typeface="+mn-cs"/>
              </a:rPr>
              <a:t>Project Purpose</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700" b="0" i="0" u="none" strike="noStrike" kern="1200" cap="none" spc="0" normalizeH="0" baseline="0" noProof="0" dirty="0">
                <a:ln>
                  <a:noFill/>
                </a:ln>
                <a:solidFill>
                  <a:prstClr val="black"/>
                </a:solidFill>
                <a:effectLst/>
                <a:uLnTx/>
                <a:uFillTx/>
                <a:latin typeface="Georgia"/>
                <a:ea typeface="+mn-ea"/>
                <a:cs typeface="+mn-cs"/>
              </a:rPr>
              <a:t>Build an urban infrastructure inspection planning system</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700" b="0" i="0" u="none" strike="noStrike" kern="1200" cap="none" spc="0" normalizeH="0" baseline="0" noProof="0" dirty="0">
                <a:ln>
                  <a:noFill/>
                </a:ln>
                <a:solidFill>
                  <a:prstClr val="black"/>
                </a:solidFill>
                <a:effectLst/>
                <a:uLnTx/>
                <a:uFillTx/>
                <a:latin typeface="Georgia"/>
                <a:ea typeface="+mn-ea"/>
                <a:cs typeface="+mn-cs"/>
              </a:rPr>
              <a:t>Rank candidate inspection locations by priority</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700" b="0" i="0" u="none" strike="noStrike" kern="1200" cap="none" spc="0" normalizeH="0" baseline="0" noProof="0" dirty="0">
                <a:ln>
                  <a:noFill/>
                </a:ln>
                <a:solidFill>
                  <a:prstClr val="black"/>
                </a:solidFill>
                <a:effectLst/>
                <a:uLnTx/>
                <a:uFillTx/>
                <a:latin typeface="Georgia"/>
                <a:ea typeface="+mn-ea"/>
                <a:cs typeface="+mn-cs"/>
              </a:rPr>
              <a:t>Find shortest inspection routes using graph algorithms</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700" b="0" i="0" u="none" strike="noStrike" kern="1200" cap="none" spc="0" normalizeH="0" baseline="0" noProof="0" dirty="0">
                <a:ln>
                  <a:noFill/>
                </a:ln>
                <a:solidFill>
                  <a:prstClr val="black"/>
                </a:solidFill>
                <a:effectLst/>
                <a:uLnTx/>
                <a:uFillTx/>
                <a:latin typeface="Georgia"/>
                <a:ea typeface="+mn-ea"/>
                <a:cs typeface="+mn-cs"/>
              </a:rPr>
              <a:t>Compare algorithm performance under different datasets</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2485205" y="4727836"/>
            <a:ext cx="2239734" cy="640080"/>
          </a:xfrm>
          <a:prstGeom prst="chevron">
            <a:avLst/>
          </a:prstGeom>
          <a:solidFill>
            <a:srgbClr val="E1A4C2"/>
          </a:solidFill>
          <a:ln w="12700">
            <a:solidFill>
              <a:srgbClr val="E1A4C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2" name="Text 10"/>
          <p:cNvSpPr/>
          <p:nvPr/>
        </p:nvSpPr>
        <p:spPr>
          <a:xfrm>
            <a:off x="2629248" y="4602597"/>
            <a:ext cx="1951648" cy="7857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Georgia"/>
                <a:ea typeface="+mn-ea"/>
                <a:cs typeface="+mn-cs"/>
              </a:rPr>
              <a:t>evaluate and rank candidate locations</a:t>
            </a:r>
          </a:p>
        </p:txBody>
      </p:sp>
      <p:grpSp>
        <p:nvGrpSpPr>
          <p:cNvPr id="20" name="组合 19">
            <a:extLst>
              <a:ext uri="{FF2B5EF4-FFF2-40B4-BE49-F238E27FC236}">
                <a16:creationId xmlns:a16="http://schemas.microsoft.com/office/drawing/2014/main" id="{BD752330-B558-624B-0649-D8AD5111F1E1}"/>
              </a:ext>
            </a:extLst>
          </p:cNvPr>
          <p:cNvGrpSpPr/>
          <p:nvPr/>
        </p:nvGrpSpPr>
        <p:grpSpPr>
          <a:xfrm>
            <a:off x="4833797" y="4730381"/>
            <a:ext cx="2242864" cy="640080"/>
            <a:chOff x="2916318" y="4764024"/>
            <a:chExt cx="1856722" cy="640080"/>
          </a:xfrm>
        </p:grpSpPr>
        <p:sp>
          <p:nvSpPr>
            <p:cNvPr id="10" name="Shape 8"/>
            <p:cNvSpPr/>
            <p:nvPr/>
          </p:nvSpPr>
          <p:spPr>
            <a:xfrm>
              <a:off x="2916318" y="4764024"/>
              <a:ext cx="1856722" cy="640080"/>
            </a:xfrm>
            <a:prstGeom prst="chevron">
              <a:avLst/>
            </a:prstGeom>
            <a:solidFill>
              <a:srgbClr val="D6DD63"/>
            </a:solidFill>
            <a:ln w="12700">
              <a:solidFill>
                <a:srgbClr val="D6DD6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3" name="Text 11"/>
            <p:cNvSpPr/>
            <p:nvPr/>
          </p:nvSpPr>
          <p:spPr>
            <a:xfrm>
              <a:off x="2964039" y="4833909"/>
              <a:ext cx="1761278" cy="4385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Georgia"/>
                  <a:ea typeface="+mn-ea"/>
                  <a:cs typeface="+mn-cs"/>
                </a:rPr>
                <a:t>select top-priority locations</a:t>
              </a:r>
            </a:p>
          </p:txBody>
        </p:sp>
      </p:grpSp>
      <p:sp>
        <p:nvSpPr>
          <p:cNvPr id="11" name="Shape 9"/>
          <p:cNvSpPr/>
          <p:nvPr/>
        </p:nvSpPr>
        <p:spPr>
          <a:xfrm>
            <a:off x="7185519" y="4748241"/>
            <a:ext cx="2242864" cy="640080"/>
          </a:xfrm>
          <a:prstGeom prst="chevron">
            <a:avLst/>
          </a:prstGeom>
          <a:solidFill>
            <a:srgbClr val="E8C9B6"/>
          </a:solidFill>
          <a:ln w="12700">
            <a:solidFill>
              <a:srgbClr val="E8C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4" name="Text 12"/>
          <p:cNvSpPr/>
          <p:nvPr/>
        </p:nvSpPr>
        <p:spPr>
          <a:xfrm>
            <a:off x="7408891" y="4862925"/>
            <a:ext cx="1828800" cy="352711"/>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Georgia"/>
                <a:ea typeface="+mn-ea"/>
                <a:cs typeface="+mn-cs"/>
              </a:rPr>
              <a:t>map them into a weighted graph</a:t>
            </a:r>
          </a:p>
        </p:txBody>
      </p:sp>
      <p:grpSp>
        <p:nvGrpSpPr>
          <p:cNvPr id="18" name="组合 17">
            <a:extLst>
              <a:ext uri="{FF2B5EF4-FFF2-40B4-BE49-F238E27FC236}">
                <a16:creationId xmlns:a16="http://schemas.microsoft.com/office/drawing/2014/main" id="{BEF77C59-2E21-0DF4-59AB-21CA2DD03017}"/>
              </a:ext>
            </a:extLst>
          </p:cNvPr>
          <p:cNvGrpSpPr/>
          <p:nvPr/>
        </p:nvGrpSpPr>
        <p:grpSpPr>
          <a:xfrm>
            <a:off x="160890" y="4731503"/>
            <a:ext cx="2239733" cy="649741"/>
            <a:chOff x="6653130" y="4721698"/>
            <a:chExt cx="2239733" cy="649741"/>
          </a:xfrm>
        </p:grpSpPr>
        <p:sp>
          <p:nvSpPr>
            <p:cNvPr id="16" name="Shape 9">
              <a:extLst>
                <a:ext uri="{FF2B5EF4-FFF2-40B4-BE49-F238E27FC236}">
                  <a16:creationId xmlns:a16="http://schemas.microsoft.com/office/drawing/2014/main" id="{9A58D313-2264-0B54-DC17-3CF1C7B07F51}"/>
                </a:ext>
              </a:extLst>
            </p:cNvPr>
            <p:cNvSpPr/>
            <p:nvPr/>
          </p:nvSpPr>
          <p:spPr>
            <a:xfrm>
              <a:off x="6653130" y="4731359"/>
              <a:ext cx="2239733" cy="640080"/>
            </a:xfrm>
            <a:prstGeom prst="chevron">
              <a:avLst/>
            </a:prstGeom>
            <a:solidFill>
              <a:schemeClr val="accent2">
                <a:lumMod val="60000"/>
                <a:lumOff val="40000"/>
              </a:schemeClr>
            </a:solidFill>
            <a:ln w="12700">
              <a:solidFill>
                <a:srgbClr val="E8C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7" name="文本框 16">
              <a:extLst>
                <a:ext uri="{FF2B5EF4-FFF2-40B4-BE49-F238E27FC236}">
                  <a16:creationId xmlns:a16="http://schemas.microsoft.com/office/drawing/2014/main" id="{B2CF653B-8161-A513-8A39-A8E60EA12014}"/>
                </a:ext>
              </a:extLst>
            </p:cNvPr>
            <p:cNvSpPr txBox="1"/>
            <p:nvPr/>
          </p:nvSpPr>
          <p:spPr>
            <a:xfrm>
              <a:off x="6919863" y="4721698"/>
              <a:ext cx="1828800" cy="61555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7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Three candidate datasets</a:t>
              </a:r>
              <a:endParaRPr kumimoji="1" lang="zh-CN" altLang="en-US" sz="17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grpSp>
      <p:grpSp>
        <p:nvGrpSpPr>
          <p:cNvPr id="26" name="组合 25">
            <a:extLst>
              <a:ext uri="{FF2B5EF4-FFF2-40B4-BE49-F238E27FC236}">
                <a16:creationId xmlns:a16="http://schemas.microsoft.com/office/drawing/2014/main" id="{E2AA0D29-67C0-5866-B82E-54BF5F4F204B}"/>
              </a:ext>
            </a:extLst>
          </p:cNvPr>
          <p:cNvGrpSpPr/>
          <p:nvPr/>
        </p:nvGrpSpPr>
        <p:grpSpPr>
          <a:xfrm>
            <a:off x="9537241" y="4720383"/>
            <a:ext cx="2258519" cy="646331"/>
            <a:chOff x="8850745" y="4720383"/>
            <a:chExt cx="2258519" cy="646331"/>
          </a:xfrm>
        </p:grpSpPr>
        <p:sp>
          <p:nvSpPr>
            <p:cNvPr id="24" name="Shape 9">
              <a:extLst>
                <a:ext uri="{FF2B5EF4-FFF2-40B4-BE49-F238E27FC236}">
                  <a16:creationId xmlns:a16="http://schemas.microsoft.com/office/drawing/2014/main" id="{66712D9A-F3DB-3D5B-31E1-F460F259E238}"/>
                </a:ext>
              </a:extLst>
            </p:cNvPr>
            <p:cNvSpPr/>
            <p:nvPr/>
          </p:nvSpPr>
          <p:spPr>
            <a:xfrm>
              <a:off x="8850745" y="4726634"/>
              <a:ext cx="2242864" cy="640080"/>
            </a:xfrm>
            <a:prstGeom prst="chevron">
              <a:avLst/>
            </a:prstGeom>
            <a:solidFill>
              <a:srgbClr val="E8C9B6"/>
            </a:solidFill>
            <a:ln w="12700">
              <a:solidFill>
                <a:srgbClr val="E8C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25" name="文本框 24">
              <a:extLst>
                <a:ext uri="{FF2B5EF4-FFF2-40B4-BE49-F238E27FC236}">
                  <a16:creationId xmlns:a16="http://schemas.microsoft.com/office/drawing/2014/main" id="{0DB7785B-5D39-1C63-B4B0-08779B22D962}"/>
                </a:ext>
              </a:extLst>
            </p:cNvPr>
            <p:cNvSpPr txBox="1"/>
            <p:nvPr/>
          </p:nvSpPr>
          <p:spPr>
            <a:xfrm>
              <a:off x="9098976" y="4720383"/>
              <a:ext cx="201028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compute the shortest route</a:t>
              </a:r>
              <a:endParaRPr kumimoji="1" lang="zh-CN" altLang="en-US"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grpSp>
      <p:sp>
        <p:nvSpPr>
          <p:cNvPr id="15" name="Slide page number">
            <a:extLst>
              <a:ext uri="{FF2B5EF4-FFF2-40B4-BE49-F238E27FC236}">
                <a16:creationId xmlns:a16="http://schemas.microsoft.com/office/drawing/2014/main" id="{3BAFFA34-54C0-C718-7686-C9454F69B156}"/>
              </a:ext>
            </a:extLst>
          </p:cNvPr>
          <p:cNvSpPr>
            <a:spLocks noGrp="1"/>
          </p:cNvSpPr>
          <p:nvPr/>
        </p:nvSpPr>
        <p:spPr>
          <a:xfrm>
            <a:off x="11334750" y="257175"/>
            <a:ext cx="457200" cy="276225"/>
          </a:xfrm>
          <a:prstGeom prst="rect">
            <a:avLst/>
          </a:prstGeom>
          <a:solidFill>
            <a:srgbClr val="000000">
              <a:alpha val="0"/>
            </a:srgbClr>
          </a:solidFill>
          <a:ln w="0">
            <a:solidFill>
              <a:srgbClr val="000000">
                <a:alpha val="0"/>
              </a:srgbClr>
            </a:solidFill>
            <a:prstDash val="solid"/>
          </a:ln>
        </p:spPr>
        <p:txBody>
          <a:bodyPr lIns="0" tIns="0" rIns="0" bIns="0" anchor="ctr"/>
          <a:lstStyle/>
          <a:p>
            <a:pPr algn="r">
              <a:defRPr sz="1600" b="0">
                <a:solidFill>
                  <a:srgbClr val="202326"/>
                </a:solidFill>
                <a:latin typeface="Georgia"/>
                <a:ea typeface="Georgia"/>
                <a:cs typeface="Georgia"/>
              </a:defRPr>
            </a:pPr>
            <a:r>
              <a:rPr sz="1600" b="0" dirty="0">
                <a:solidFill>
                  <a:srgbClr val="202326"/>
                </a:solidFill>
                <a:latin typeface="Georgia"/>
                <a:ea typeface="Georgia"/>
                <a:cs typeface="Georgia"/>
              </a:rPr>
              <a:t>03</a:t>
            </a:r>
          </a:p>
        </p:txBody>
      </p:sp>
    </p:spTree>
  </p:cSld>
  <p:clrMapOvr>
    <a:masterClrMapping/>
  </p:clrMapOvr>
  <mc:AlternateContent xmlns:mc="http://schemas.openxmlformats.org/markup-compatibility/2006" xmlns:p14="http://schemas.microsoft.com/office/powerpoint/2010/main">
    <mc:Choice Requires="p14">
      <p:transition spd="slow" p14:dur="2000" advTm="35033"/>
    </mc:Choice>
    <mc:Fallback xmlns="">
      <p:transition spd="slow" advTm="3503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D81EC779-5E4F-46A9-C9CA-1A9A5BA9C65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CF1C348-BB4D-F3C1-3DFC-42BD460A82BC}"/>
              </a:ext>
            </a:extLst>
          </p:cNvPr>
          <p:cNvSpPr/>
          <p:nvPr/>
        </p:nvSpPr>
        <p:spPr>
          <a:xfrm>
            <a:off x="502920" y="530352"/>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a:ea typeface="+mn-ea"/>
                <a:cs typeface="+mn-cs"/>
              </a:rPr>
              <a:t>Project background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B71AF2DD-5F74-958D-40DF-37F6F681B3AC}"/>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a:extLst>
              <a:ext uri="{FF2B5EF4-FFF2-40B4-BE49-F238E27FC236}">
                <a16:creationId xmlns:a16="http://schemas.microsoft.com/office/drawing/2014/main" id="{7997E555-69C9-114E-FBD2-FBD4D1665558}"/>
              </a:ext>
            </a:extLst>
          </p:cNvPr>
          <p:cNvSpPr/>
          <p:nvPr/>
        </p:nvSpPr>
        <p:spPr>
          <a:xfrm>
            <a:off x="8412480" y="6428232"/>
            <a:ext cx="33832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Runtime results and main findings</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a:extLst>
              <a:ext uri="{FF2B5EF4-FFF2-40B4-BE49-F238E27FC236}">
                <a16:creationId xmlns:a16="http://schemas.microsoft.com/office/drawing/2014/main" id="{377F437C-F287-8C60-EADA-5ABE30880D70}"/>
              </a:ext>
            </a:extLst>
          </p:cNvPr>
          <p:cNvSpPr/>
          <p:nvPr/>
        </p:nvSpPr>
        <p:spPr>
          <a:xfrm>
            <a:off x="685800" y="960120"/>
            <a:ext cx="676656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graphicFrame>
        <p:nvGraphicFramePr>
          <p:cNvPr id="7" name="Table 0">
            <a:extLst>
              <a:ext uri="{FF2B5EF4-FFF2-40B4-BE49-F238E27FC236}">
                <a16:creationId xmlns:a16="http://schemas.microsoft.com/office/drawing/2014/main" id="{6CD52973-555B-A1F3-4EB3-934FD6E10EF5}"/>
              </a:ext>
            </a:extLst>
          </p:cNvPr>
          <p:cNvGraphicFramePr>
            <a:graphicFrameLocks noGrp="1"/>
          </p:cNvGraphicFramePr>
          <p:nvPr/>
        </p:nvGraphicFramePr>
        <p:xfrm>
          <a:off x="731519" y="2457496"/>
          <a:ext cx="5221302" cy="2136648"/>
        </p:xfrm>
        <a:graphic>
          <a:graphicData uri="http://schemas.openxmlformats.org/drawingml/2006/table">
            <a:tbl>
              <a:tblPr/>
              <a:tblGrid>
                <a:gridCol w="2051438">
                  <a:extLst>
                    <a:ext uri="{9D8B030D-6E8A-4147-A177-3AD203B41FA5}">
                      <a16:colId xmlns:a16="http://schemas.microsoft.com/office/drawing/2014/main" val="20000"/>
                    </a:ext>
                  </a:extLst>
                </a:gridCol>
                <a:gridCol w="3169864">
                  <a:extLst>
                    <a:ext uri="{9D8B030D-6E8A-4147-A177-3AD203B41FA5}">
                      <a16:colId xmlns:a16="http://schemas.microsoft.com/office/drawing/2014/main" val="20005"/>
                    </a:ext>
                  </a:extLst>
                </a:gridCol>
              </a:tblGrid>
              <a:tr h="272187">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Dataset</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latin typeface="Aptos" charset="0"/>
                          <a:ea typeface="Aptos" charset="0"/>
                          <a:cs typeface="Aptos" charset="0"/>
                        </a:rPr>
                        <a:t>Characteristic</a:t>
                      </a:r>
                    </a:p>
                    <a:p>
                      <a:pPr marL="0" indent="0" algn="ctr">
                        <a:buNone/>
                      </a:pP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0"/>
                  </a:ext>
                </a:extLst>
              </a:tr>
              <a:tr h="312195">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A</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latin typeface="Aptos" charset="0"/>
                          <a:ea typeface="Aptos" charset="0"/>
                          <a:cs typeface="Aptos" charset="0"/>
                        </a:rPr>
                        <a:t>Nearly Sorted</a:t>
                      </a:r>
                    </a:p>
                    <a:p>
                      <a:pPr marL="0" indent="0" algn="ctr">
                        <a:buNone/>
                      </a:pP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457200">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B</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latin typeface="Aptos" charset="0"/>
                          <a:ea typeface="Aptos" charset="0"/>
                          <a:cs typeface="Aptos" charset="0"/>
                        </a:rPr>
                        <a:t>Random</a:t>
                      </a:r>
                    </a:p>
                    <a:p>
                      <a:pPr marL="0" indent="0" algn="ctr">
                        <a:buNone/>
                      </a:pP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2"/>
                  </a:ext>
                </a:extLst>
              </a:tr>
              <a:tr h="457200">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C</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600" dirty="0"/>
                        <a:t>Reverse / Duplicate</a:t>
                      </a:r>
                    </a:p>
                    <a:p>
                      <a:pPr marL="0" indent="0" algn="ctr">
                        <a:buNone/>
                      </a:pP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bl>
          </a:graphicData>
        </a:graphic>
      </p:graphicFrame>
      <p:sp>
        <p:nvSpPr>
          <p:cNvPr id="9" name="Text 6">
            <a:extLst>
              <a:ext uri="{FF2B5EF4-FFF2-40B4-BE49-F238E27FC236}">
                <a16:creationId xmlns:a16="http://schemas.microsoft.com/office/drawing/2014/main" id="{5E793224-ECA7-B6F7-5A38-2F32439DFECC}"/>
              </a:ext>
            </a:extLst>
          </p:cNvPr>
          <p:cNvSpPr/>
          <p:nvPr/>
        </p:nvSpPr>
        <p:spPr>
          <a:xfrm>
            <a:off x="7626294" y="1895373"/>
            <a:ext cx="1828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Key findings</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Shape 5">
            <a:extLst>
              <a:ext uri="{FF2B5EF4-FFF2-40B4-BE49-F238E27FC236}">
                <a16:creationId xmlns:a16="http://schemas.microsoft.com/office/drawing/2014/main" id="{9582B4BE-949D-A022-529B-4BAA335E240C}"/>
              </a:ext>
            </a:extLst>
          </p:cNvPr>
          <p:cNvSpPr/>
          <p:nvPr/>
        </p:nvSpPr>
        <p:spPr>
          <a:xfrm>
            <a:off x="7613374" y="2295542"/>
            <a:ext cx="3683441" cy="2972198"/>
          </a:xfrm>
          <a:prstGeom prst="roundRect">
            <a:avLst>
              <a:gd name="adj" fmla="val 1765"/>
            </a:avLst>
          </a:prstGeom>
          <a:solidFill>
            <a:srgbClr val="FFFDF8">
              <a:alpha val="82000"/>
            </a:srgbClr>
          </a:solidFill>
          <a:ln w="12700">
            <a:solidFill>
              <a:srgbClr val="D8CFBB">
                <a:alpha val="6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10" name="Text 7">
            <a:extLst>
              <a:ext uri="{FF2B5EF4-FFF2-40B4-BE49-F238E27FC236}">
                <a16:creationId xmlns:a16="http://schemas.microsoft.com/office/drawing/2014/main" id="{1A1C9423-933B-6F22-0A91-22DA904DC6FE}"/>
              </a:ext>
            </a:extLst>
          </p:cNvPr>
          <p:cNvSpPr/>
          <p:nvPr/>
        </p:nvSpPr>
        <p:spPr>
          <a:xfrm>
            <a:off x="7909560" y="2331720"/>
            <a:ext cx="3063240" cy="2286000"/>
          </a:xfrm>
          <a:prstGeom prst="rect">
            <a:avLst/>
          </a:prstGeom>
          <a:noFill/>
          <a:ln/>
        </p:spPr>
        <p:txBody>
          <a:bodyPr wrap="square" lIns="508" tIns="508" rIns="508" bIns="508"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55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Dataset A is nearly sorted, so Bubble Sort benefits from early termination.</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55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Dataset B is random, so Quick Sort gains from balanced partitions.</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55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Dataset C contains many duplicate values, so Insertion Sort works well.</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55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Merge Sort is not always the fastest, but it is the most stable overall.</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文本框 10">
            <a:extLst>
              <a:ext uri="{FF2B5EF4-FFF2-40B4-BE49-F238E27FC236}">
                <a16:creationId xmlns:a16="http://schemas.microsoft.com/office/drawing/2014/main" id="{49D44647-3CB3-8226-3DB6-062FCF5B47DF}"/>
              </a:ext>
            </a:extLst>
          </p:cNvPr>
          <p:cNvSpPr txBox="1"/>
          <p:nvPr/>
        </p:nvSpPr>
        <p:spPr>
          <a:xfrm>
            <a:off x="731520" y="955315"/>
            <a:ext cx="5221301" cy="10772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Datasets &amp; Weighted Graph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
        <p:nvSpPr>
          <p:cNvPr id="14" name="文本框 13">
            <a:extLst>
              <a:ext uri="{FF2B5EF4-FFF2-40B4-BE49-F238E27FC236}">
                <a16:creationId xmlns:a16="http://schemas.microsoft.com/office/drawing/2014/main" id="{56AB013B-CCCD-B414-956E-F8BD5B631F0D}"/>
              </a:ext>
            </a:extLst>
          </p:cNvPr>
          <p:cNvSpPr txBox="1"/>
          <p:nvPr/>
        </p:nvSpPr>
        <p:spPr>
          <a:xfrm>
            <a:off x="680472" y="4944574"/>
            <a:ext cx="6102626"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Each dataset contains 1000 candidate inspection locations with priority scores.</a:t>
            </a:r>
          </a:p>
        </p:txBody>
      </p:sp>
      <p:sp>
        <p:nvSpPr>
          <p:cNvPr id="12" name="Slide page number">
            <a:extLst>
              <a:ext uri="{FF2B5EF4-FFF2-40B4-BE49-F238E27FC236}">
                <a16:creationId xmlns:a16="http://schemas.microsoft.com/office/drawing/2014/main" id="{60689EB4-9257-3DE0-1C71-2E1857D7E7FA}"/>
              </a:ext>
            </a:extLst>
          </p:cNvPr>
          <p:cNvSpPr>
            <a:spLocks noGrp="1"/>
          </p:cNvSpPr>
          <p:nvPr/>
        </p:nvSpPr>
        <p:spPr>
          <a:xfrm>
            <a:off x="11334750" y="257175"/>
            <a:ext cx="457200" cy="276225"/>
          </a:xfrm>
          <a:prstGeom prst="rect">
            <a:avLst/>
          </a:prstGeom>
          <a:solidFill>
            <a:srgbClr val="000000">
              <a:alpha val="0"/>
            </a:srgbClr>
          </a:solidFill>
          <a:ln w="0">
            <a:solidFill>
              <a:srgbClr val="000000">
                <a:alpha val="0"/>
              </a:srgbClr>
            </a:solidFill>
            <a:prstDash val="solid"/>
          </a:ln>
        </p:spPr>
        <p:txBody>
          <a:bodyPr lIns="0" tIns="0" rIns="0" bIns="0" anchor="ctr"/>
          <a:lstStyle/>
          <a:p>
            <a:pPr algn="r">
              <a:defRPr sz="1600" b="0">
                <a:solidFill>
                  <a:srgbClr val="202326"/>
                </a:solidFill>
                <a:latin typeface="Georgia"/>
                <a:ea typeface="Georgia"/>
                <a:cs typeface="Georgia"/>
              </a:defRPr>
            </a:pPr>
            <a:r>
              <a:rPr sz="1600" dirty="0">
                <a:solidFill>
                  <a:srgbClr val="202326"/>
                </a:solidFill>
                <a:latin typeface="Georgia"/>
                <a:ea typeface="Georgia"/>
                <a:cs typeface="Georgia"/>
              </a:rPr>
              <a:t>0</a:t>
            </a:r>
            <a:r>
              <a:rPr lang="en-US" altLang="zh-CN" sz="1600" dirty="0">
                <a:solidFill>
                  <a:srgbClr val="202326"/>
                </a:solidFill>
                <a:latin typeface="Georgia"/>
                <a:ea typeface="Georgia"/>
                <a:cs typeface="Georgia"/>
              </a:rPr>
              <a:t>4</a:t>
            </a:r>
            <a:endParaRPr sz="1600" dirty="0">
              <a:solidFill>
                <a:srgbClr val="202326"/>
              </a:solidFill>
              <a:latin typeface="Georgia"/>
              <a:ea typeface="Georgia"/>
              <a:cs typeface="Georgia"/>
            </a:endParaRPr>
          </a:p>
        </p:txBody>
      </p:sp>
    </p:spTree>
    <p:extLst>
      <p:ext uri="{BB962C8B-B14F-4D97-AF65-F5344CB8AC3E}">
        <p14:creationId xmlns:p14="http://schemas.microsoft.com/office/powerpoint/2010/main" val="4089127599"/>
      </p:ext>
    </p:extLst>
  </p:cSld>
  <p:clrMapOvr>
    <a:masterClrMapping/>
  </p:clrMapOvr>
  <mc:AlternateContent xmlns:mc="http://schemas.openxmlformats.org/markup-compatibility/2006" xmlns:p14="http://schemas.microsoft.com/office/powerpoint/2010/main">
    <mc:Choice Requires="p14">
      <p:transition spd="slow" p14:dur="2000" advTm="59314"/>
    </mc:Choice>
    <mc:Fallback xmlns="">
      <p:transition spd="slow" advTm="5931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775C1418-9C61-E350-F96F-A25751847DC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A319E82-1CCD-372F-94FB-63724D4094A8}"/>
              </a:ext>
            </a:extLst>
          </p:cNvPr>
          <p:cNvSpPr/>
          <p:nvPr/>
        </p:nvSpPr>
        <p:spPr>
          <a:xfrm>
            <a:off x="502920" y="393192"/>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Project background</a:t>
            </a:r>
            <a:endParaRPr kumimoji="0" lang="en-US" altLang="zh-CN" sz="16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a:extLst>
              <a:ext uri="{FF2B5EF4-FFF2-40B4-BE49-F238E27FC236}">
                <a16:creationId xmlns:a16="http://schemas.microsoft.com/office/drawing/2014/main" id="{D16903B3-A15A-02B8-18E3-FCE371BF6BB8}"/>
              </a:ext>
            </a:extLst>
          </p:cNvPr>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sz="1600" i="1" dirty="0">
                <a:solidFill>
                  <a:srgbClr val="5C5345"/>
                </a:solidFill>
                <a:latin typeface="Georgia" pitchFamily="34" charset="0"/>
              </a:rPr>
              <a:t>05</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207753DC-26A3-C6C0-FA07-932765628B3F}"/>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a:extLst>
              <a:ext uri="{FF2B5EF4-FFF2-40B4-BE49-F238E27FC236}">
                <a16:creationId xmlns:a16="http://schemas.microsoft.com/office/drawing/2014/main" id="{1E17C53E-5934-AA8E-7DC5-5F8898B827FE}"/>
              </a:ext>
            </a:extLst>
          </p:cNvPr>
          <p:cNvSpPr/>
          <p:nvPr/>
        </p:nvSpPr>
        <p:spPr>
          <a:xfrm>
            <a:off x="8412480" y="6428232"/>
            <a:ext cx="33832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Shortest-path outputs</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a:extLst>
              <a:ext uri="{FF2B5EF4-FFF2-40B4-BE49-F238E27FC236}">
                <a16:creationId xmlns:a16="http://schemas.microsoft.com/office/drawing/2014/main" id="{7230543B-5E69-594C-9E5F-6D67196BB490}"/>
              </a:ext>
            </a:extLst>
          </p:cNvPr>
          <p:cNvSpPr/>
          <p:nvPr/>
        </p:nvSpPr>
        <p:spPr>
          <a:xfrm>
            <a:off x="685800" y="1005840"/>
            <a:ext cx="667512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Georgia"/>
                <a:ea typeface="+mn-ea"/>
                <a:cs typeface="+mn-cs"/>
              </a:rPr>
              <a:t>Input Data and System Workflow</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Georgia"/>
              <a:ea typeface="+mn-ea"/>
              <a:cs typeface="+mn-cs"/>
            </a:endParaRPr>
          </a:p>
        </p:txBody>
      </p:sp>
      <p:sp>
        <p:nvSpPr>
          <p:cNvPr id="14" name="文本框 13">
            <a:extLst>
              <a:ext uri="{FF2B5EF4-FFF2-40B4-BE49-F238E27FC236}">
                <a16:creationId xmlns:a16="http://schemas.microsoft.com/office/drawing/2014/main" id="{E1733101-403A-A94C-87BE-A39F4E4C1EA8}"/>
              </a:ext>
            </a:extLst>
          </p:cNvPr>
          <p:cNvSpPr txBox="1"/>
          <p:nvPr/>
        </p:nvSpPr>
        <p:spPr>
          <a:xfrm>
            <a:off x="685799" y="1614362"/>
            <a:ext cx="7444409" cy="21236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2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Input Files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0" lang="en" altLang="zh-CN" sz="18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candidates_A.csv</a:t>
            </a:r>
            <a:endPar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0" lang="en" altLang="zh-CN" sz="18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candidates_B.csv</a:t>
            </a:r>
            <a:endPar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0" lang="en" altLang="zh-CN" sz="18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candidates_C.csv</a:t>
            </a:r>
            <a:endPar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0" lang="en" altLang="zh-CN" sz="18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paths.csv</a:t>
            </a:r>
            <a:endPar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Each candidate dataset contains </a:t>
            </a:r>
            <a:r>
              <a:rPr kumimoji="0" lang="en" altLang="zh-CN" sz="18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location_id</a:t>
            </a:r>
            <a:r>
              <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and </a:t>
            </a:r>
            <a:r>
              <a:rPr kumimoji="0" lang="en" altLang="zh-CN" sz="18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priority_score</a:t>
            </a:r>
            <a:r>
              <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The graph file contains </a:t>
            </a:r>
            <a:r>
              <a:rPr kumimoji="0" lang="en" altLang="zh-CN" sz="18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from_location</a:t>
            </a:r>
            <a:r>
              <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0" lang="en" altLang="zh-CN" sz="18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to_location</a:t>
            </a:r>
            <a:r>
              <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and weight.</a:t>
            </a:r>
          </a:p>
        </p:txBody>
      </p:sp>
      <p:sp>
        <p:nvSpPr>
          <p:cNvPr id="16" name="文本框 15">
            <a:extLst>
              <a:ext uri="{FF2B5EF4-FFF2-40B4-BE49-F238E27FC236}">
                <a16:creationId xmlns:a16="http://schemas.microsoft.com/office/drawing/2014/main" id="{F3922E28-8E47-04B6-3E33-C09E4ECCAF06}"/>
              </a:ext>
            </a:extLst>
          </p:cNvPr>
          <p:cNvSpPr txBox="1"/>
          <p:nvPr/>
        </p:nvSpPr>
        <p:spPr>
          <a:xfrm>
            <a:off x="685799" y="4021297"/>
            <a:ext cx="6102626" cy="21236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2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Workflow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01  Load datasets and graph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02  Sort candidates using multiple algorithms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03  Select top 10 highest-priority locations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04  Build shortest-path query cases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05  Display and export results in the Swing desktop application</a:t>
            </a:r>
          </a:p>
        </p:txBody>
      </p:sp>
      <p:pic>
        <p:nvPicPr>
          <p:cNvPr id="9" name="图片 8">
            <a:extLst>
              <a:ext uri="{FF2B5EF4-FFF2-40B4-BE49-F238E27FC236}">
                <a16:creationId xmlns:a16="http://schemas.microsoft.com/office/drawing/2014/main" id="{48DEF1FA-F997-964E-7586-2CBC45953AA3}"/>
              </a:ext>
            </a:extLst>
          </p:cNvPr>
          <p:cNvPicPr>
            <a:picLocks noChangeAspect="1"/>
          </p:cNvPicPr>
          <p:nvPr/>
        </p:nvPicPr>
        <p:blipFill>
          <a:blip r:embed="rId3"/>
          <a:stretch>
            <a:fillRect/>
          </a:stretch>
        </p:blipFill>
        <p:spPr>
          <a:xfrm>
            <a:off x="7761845" y="1432468"/>
            <a:ext cx="3744355" cy="4611104"/>
          </a:xfrm>
          <a:prstGeom prst="rect">
            <a:avLst/>
          </a:prstGeom>
        </p:spPr>
      </p:pic>
    </p:spTree>
    <p:extLst>
      <p:ext uri="{BB962C8B-B14F-4D97-AF65-F5344CB8AC3E}">
        <p14:creationId xmlns:p14="http://schemas.microsoft.com/office/powerpoint/2010/main" val="2090012520"/>
      </p:ext>
    </p:extLst>
  </p:cSld>
  <p:clrMapOvr>
    <a:masterClrMapping/>
  </p:clrMapOvr>
  <mc:AlternateContent xmlns:mc="http://schemas.openxmlformats.org/markup-compatibility/2006" xmlns:p14="http://schemas.microsoft.com/office/powerpoint/2010/main">
    <mc:Choice Requires="p14">
      <p:transition spd="slow" p14:dur="2000" advTm="37963"/>
    </mc:Choice>
    <mc:Fallback xmlns="">
      <p:transition spd="slow" advTm="3796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CE73DEA4-0BFC-AAE0-8E89-E9518295AAC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EC46F31-7CDC-D4E5-06C1-D5CAF356D345}"/>
              </a:ext>
            </a:extLst>
          </p:cNvPr>
          <p:cNvSpPr/>
          <p:nvPr/>
        </p:nvSpPr>
        <p:spPr>
          <a:xfrm>
            <a:off x="502920" y="256032"/>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Task A · sorting design</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a:extLst>
              <a:ext uri="{FF2B5EF4-FFF2-40B4-BE49-F238E27FC236}">
                <a16:creationId xmlns:a16="http://schemas.microsoft.com/office/drawing/2014/main" id="{AFEDB650-B0A8-F986-48A0-E07789381395}"/>
              </a:ext>
            </a:extLst>
          </p:cNvPr>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sz="1600" i="1" dirty="0">
                <a:solidFill>
                  <a:srgbClr val="5C5345"/>
                </a:solidFill>
                <a:latin typeface="Georgia" pitchFamily="34" charset="0"/>
              </a:rPr>
              <a:t>06</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56F5DBA7-2FA9-DA89-BF6C-E9BD5EC5BF35}"/>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a:extLst>
              <a:ext uri="{FF2B5EF4-FFF2-40B4-BE49-F238E27FC236}">
                <a16:creationId xmlns:a16="http://schemas.microsoft.com/office/drawing/2014/main" id="{BD250374-5C0E-5893-46FB-666981AABDB7}"/>
              </a:ext>
            </a:extLst>
          </p:cNvPr>
          <p:cNvSpPr/>
          <p:nvPr/>
        </p:nvSpPr>
        <p:spPr>
          <a:xfrm>
            <a:off x="8412480" y="6428232"/>
            <a:ext cx="33832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Sorting algorithms and ranking rule</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Shape 4">
            <a:extLst>
              <a:ext uri="{FF2B5EF4-FFF2-40B4-BE49-F238E27FC236}">
                <a16:creationId xmlns:a16="http://schemas.microsoft.com/office/drawing/2014/main" id="{A39C1079-E760-C2E1-D917-3B9B69F79845}"/>
              </a:ext>
            </a:extLst>
          </p:cNvPr>
          <p:cNvSpPr/>
          <p:nvPr/>
        </p:nvSpPr>
        <p:spPr>
          <a:xfrm>
            <a:off x="685800" y="1417320"/>
            <a:ext cx="2606040" cy="4434840"/>
          </a:xfrm>
          <a:prstGeom prst="roundRect">
            <a:avLst>
              <a:gd name="adj" fmla="val 2807"/>
            </a:avLst>
          </a:prstGeom>
          <a:solidFill>
            <a:srgbClr val="E1A4C2"/>
          </a:solidFill>
          <a:ln w="12700">
            <a:solidFill>
              <a:srgbClr val="E1A4C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7" name="Text 5">
            <a:extLst>
              <a:ext uri="{FF2B5EF4-FFF2-40B4-BE49-F238E27FC236}">
                <a16:creationId xmlns:a16="http://schemas.microsoft.com/office/drawing/2014/main" id="{47E1FE89-B8D6-99FD-5F3E-A76AB48B56C8}"/>
              </a:ext>
            </a:extLst>
          </p:cNvPr>
          <p:cNvSpPr/>
          <p:nvPr/>
        </p:nvSpPr>
        <p:spPr>
          <a:xfrm>
            <a:off x="850392" y="1563624"/>
            <a:ext cx="22768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Ranking rule</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6">
            <a:extLst>
              <a:ext uri="{FF2B5EF4-FFF2-40B4-BE49-F238E27FC236}">
                <a16:creationId xmlns:a16="http://schemas.microsoft.com/office/drawing/2014/main" id="{2D11621F-F520-A280-C61A-8469D2021943}"/>
              </a:ext>
            </a:extLst>
          </p:cNvPr>
          <p:cNvSpPr/>
          <p:nvPr/>
        </p:nvSpPr>
        <p:spPr>
          <a:xfrm>
            <a:off x="850392" y="1984248"/>
            <a:ext cx="2276856" cy="372160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prstClr val="black"/>
                </a:solidFill>
                <a:effectLst/>
                <a:uLnTx/>
                <a:uFillTx/>
                <a:latin typeface="Aptos"/>
                <a:ea typeface="+mn-ea"/>
                <a:cs typeface="+mn-cs"/>
              </a:rPr>
              <a:t>Sort candidate locations by priority score in descending order, and if two locations have the same priority score, sort them by location ID in ascending order.</a:t>
            </a:r>
          </a:p>
        </p:txBody>
      </p:sp>
      <p:sp>
        <p:nvSpPr>
          <p:cNvPr id="9" name="Shape 7">
            <a:extLst>
              <a:ext uri="{FF2B5EF4-FFF2-40B4-BE49-F238E27FC236}">
                <a16:creationId xmlns:a16="http://schemas.microsoft.com/office/drawing/2014/main" id="{D1EBBBB8-A3AD-B0B6-0015-DBB81B609E69}"/>
              </a:ext>
            </a:extLst>
          </p:cNvPr>
          <p:cNvSpPr/>
          <p:nvPr/>
        </p:nvSpPr>
        <p:spPr>
          <a:xfrm>
            <a:off x="3520440" y="1417320"/>
            <a:ext cx="2606040" cy="4434840"/>
          </a:xfrm>
          <a:prstGeom prst="roundRect">
            <a:avLst>
              <a:gd name="adj" fmla="val 2807"/>
            </a:avLst>
          </a:prstGeom>
          <a:solidFill>
            <a:srgbClr val="D6DD63"/>
          </a:solidFill>
          <a:ln w="12700">
            <a:solidFill>
              <a:srgbClr val="D6DD6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0" name="Text 8">
            <a:extLst>
              <a:ext uri="{FF2B5EF4-FFF2-40B4-BE49-F238E27FC236}">
                <a16:creationId xmlns:a16="http://schemas.microsoft.com/office/drawing/2014/main" id="{A314E51C-DDD0-5EB7-3108-DD70E7853355}"/>
              </a:ext>
            </a:extLst>
          </p:cNvPr>
          <p:cNvSpPr/>
          <p:nvPr/>
        </p:nvSpPr>
        <p:spPr>
          <a:xfrm>
            <a:off x="3685032" y="1563624"/>
            <a:ext cx="22768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Algorithms</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Text 9">
            <a:extLst>
              <a:ext uri="{FF2B5EF4-FFF2-40B4-BE49-F238E27FC236}">
                <a16:creationId xmlns:a16="http://schemas.microsoft.com/office/drawing/2014/main" id="{F33BA8E4-D41E-C81F-3A60-9902BAABA65B}"/>
              </a:ext>
            </a:extLst>
          </p:cNvPr>
          <p:cNvSpPr/>
          <p:nvPr/>
        </p:nvSpPr>
        <p:spPr>
          <a:xfrm>
            <a:off x="3685032" y="1984248"/>
            <a:ext cx="2276856" cy="372160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We implemented Bubble Sort, Quick Sort, and Merge Sort as required, and added Insertion Sort for comparison.</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Shape 10">
            <a:extLst>
              <a:ext uri="{FF2B5EF4-FFF2-40B4-BE49-F238E27FC236}">
                <a16:creationId xmlns:a16="http://schemas.microsoft.com/office/drawing/2014/main" id="{CB83BD1E-09D3-D087-2F5F-B15B56E903E4}"/>
              </a:ext>
            </a:extLst>
          </p:cNvPr>
          <p:cNvSpPr/>
          <p:nvPr/>
        </p:nvSpPr>
        <p:spPr>
          <a:xfrm>
            <a:off x="6355080" y="1417320"/>
            <a:ext cx="2606040" cy="4434840"/>
          </a:xfrm>
          <a:prstGeom prst="roundRect">
            <a:avLst>
              <a:gd name="adj" fmla="val 2807"/>
            </a:avLst>
          </a:prstGeom>
          <a:solidFill>
            <a:srgbClr val="E8C9B6"/>
          </a:solidFill>
          <a:ln w="12700">
            <a:solidFill>
              <a:srgbClr val="E8C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3" name="Text 11">
            <a:extLst>
              <a:ext uri="{FF2B5EF4-FFF2-40B4-BE49-F238E27FC236}">
                <a16:creationId xmlns:a16="http://schemas.microsoft.com/office/drawing/2014/main" id="{81CE58E3-4101-E64A-7807-3B28B76F7738}"/>
              </a:ext>
            </a:extLst>
          </p:cNvPr>
          <p:cNvSpPr/>
          <p:nvPr/>
        </p:nvSpPr>
        <p:spPr>
          <a:xfrm>
            <a:off x="6519672" y="1563624"/>
            <a:ext cx="22768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Benchmark fairness</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Text 12">
            <a:extLst>
              <a:ext uri="{FF2B5EF4-FFF2-40B4-BE49-F238E27FC236}">
                <a16:creationId xmlns:a16="http://schemas.microsoft.com/office/drawing/2014/main" id="{436CADE4-865C-2647-32F8-4F1EA7318F44}"/>
              </a:ext>
            </a:extLst>
          </p:cNvPr>
          <p:cNvSpPr/>
          <p:nvPr/>
        </p:nvSpPr>
        <p:spPr>
          <a:xfrm>
            <a:off x="6519672" y="1984248"/>
            <a:ext cx="2276856" cy="372160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We used warm-up runs, 100 formal runs, and a fresh copy of the dataset for each execution to reduce measurement noise.</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Shape 13">
            <a:extLst>
              <a:ext uri="{FF2B5EF4-FFF2-40B4-BE49-F238E27FC236}">
                <a16:creationId xmlns:a16="http://schemas.microsoft.com/office/drawing/2014/main" id="{56282A45-C33E-457E-68AF-9E42FF348FEC}"/>
              </a:ext>
            </a:extLst>
          </p:cNvPr>
          <p:cNvSpPr/>
          <p:nvPr/>
        </p:nvSpPr>
        <p:spPr>
          <a:xfrm>
            <a:off x="9189720" y="1417320"/>
            <a:ext cx="2463800" cy="4434840"/>
          </a:xfrm>
          <a:prstGeom prst="roundRect">
            <a:avLst>
              <a:gd name="adj" fmla="val 3810"/>
            </a:avLst>
          </a:prstGeom>
          <a:solidFill>
            <a:srgbClr val="B7C7A8"/>
          </a:solidFill>
          <a:ln w="12700">
            <a:solidFill>
              <a:srgbClr val="B7C7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6" name="Text 14">
            <a:extLst>
              <a:ext uri="{FF2B5EF4-FFF2-40B4-BE49-F238E27FC236}">
                <a16:creationId xmlns:a16="http://schemas.microsoft.com/office/drawing/2014/main" id="{7BEC0BA2-ACB5-789D-D380-28B5A3973E61}"/>
              </a:ext>
            </a:extLst>
          </p:cNvPr>
          <p:cNvSpPr/>
          <p:nvPr/>
        </p:nvSpPr>
        <p:spPr>
          <a:xfrm>
            <a:off x="9354312" y="1563624"/>
            <a:ext cx="2151888"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Georgia"/>
                <a:ea typeface="+mn-ea"/>
                <a:cs typeface="+mn-cs"/>
              </a:rPr>
              <a:t>Recorded Statistics </a:t>
            </a:r>
            <a:endParaRPr kumimoji="0" lang="zh-CN" altLang="en-US" sz="20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
        <p:nvSpPr>
          <p:cNvPr id="17" name="Text 15">
            <a:extLst>
              <a:ext uri="{FF2B5EF4-FFF2-40B4-BE49-F238E27FC236}">
                <a16:creationId xmlns:a16="http://schemas.microsoft.com/office/drawing/2014/main" id="{255A241B-A7A5-B630-C0E7-003ACF3A8C4A}"/>
              </a:ext>
            </a:extLst>
          </p:cNvPr>
          <p:cNvSpPr/>
          <p:nvPr/>
        </p:nvSpPr>
        <p:spPr>
          <a:xfrm>
            <a:off x="9354312" y="1984248"/>
            <a:ext cx="2151888" cy="372160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4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Average runtime</a:t>
            </a:r>
            <a:r>
              <a:rPr kumimoji="0" lang="zh-C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overall efficiency of each algorithm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4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Median runtime</a:t>
            </a:r>
            <a:r>
              <a:rPr kumimoji="0" lang="zh-C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typical runtime, less affected by outliers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4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Minimum runtime</a:t>
            </a:r>
            <a:r>
              <a:rPr kumimoji="0" lang="zh-C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best observed performance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4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Maximum runtime</a:t>
            </a:r>
            <a:r>
              <a:rPr kumimoji="0" lang="zh-C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worst observed performance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4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Range</a:t>
            </a:r>
            <a:r>
              <a:rPr kumimoji="0" lang="zh-C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difference between minimum and maximum runtime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4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Standard deviation</a:t>
            </a:r>
            <a:r>
              <a:rPr kumimoji="0" lang="zh-C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stability and consistency of runtime</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zh-C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br>
            <a:endParaRPr kumimoji="0" lang="en-US" sz="1400" b="0" i="0" u="none" strike="noStrike" kern="1200" cap="none" spc="0" normalizeH="0" baseline="0" noProof="0" dirty="0">
              <a:ln>
                <a:noFill/>
              </a:ln>
              <a:solidFill>
                <a:prstClr val="black"/>
              </a:solidFill>
              <a:effectLst/>
              <a:uLnTx/>
              <a:uFillTx/>
              <a:latin typeface="Georgia"/>
              <a:ea typeface="+mn-ea"/>
              <a:cs typeface="+mn-cs"/>
            </a:endParaRPr>
          </a:p>
        </p:txBody>
      </p:sp>
      <p:sp>
        <p:nvSpPr>
          <p:cNvPr id="19" name="文本框 18">
            <a:extLst>
              <a:ext uri="{FF2B5EF4-FFF2-40B4-BE49-F238E27FC236}">
                <a16:creationId xmlns:a16="http://schemas.microsoft.com/office/drawing/2014/main" id="{ECEBAC0B-474D-B192-ED75-8E1BE2E3957C}"/>
              </a:ext>
            </a:extLst>
          </p:cNvPr>
          <p:cNvSpPr txBox="1"/>
          <p:nvPr/>
        </p:nvSpPr>
        <p:spPr>
          <a:xfrm>
            <a:off x="685800" y="613310"/>
            <a:ext cx="6102626"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Task A</a:t>
            </a:r>
            <a:r>
              <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Sorting Algorithms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Tree>
    <p:extLst>
      <p:ext uri="{BB962C8B-B14F-4D97-AF65-F5344CB8AC3E}">
        <p14:creationId xmlns:p14="http://schemas.microsoft.com/office/powerpoint/2010/main" val="527958084"/>
      </p:ext>
    </p:extLst>
  </p:cSld>
  <p:clrMapOvr>
    <a:masterClrMapping/>
  </p:clrMapOvr>
  <mc:AlternateContent xmlns:mc="http://schemas.openxmlformats.org/markup-compatibility/2006" xmlns:p14="http://schemas.microsoft.com/office/powerpoint/2010/main">
    <mc:Choice Requires="p14">
      <p:transition spd="slow" p14:dur="2000" advTm="47961"/>
    </mc:Choice>
    <mc:Fallback xmlns="">
      <p:transition spd="slow" advTm="4796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67A562BD-ED5D-ACCC-9E6C-188148735D1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E3F47D9-C6ED-BE8C-6DE9-11B172291D59}"/>
              </a:ext>
            </a:extLst>
          </p:cNvPr>
          <p:cNvSpPr/>
          <p:nvPr/>
        </p:nvSpPr>
        <p:spPr>
          <a:xfrm>
            <a:off x="502920" y="256032"/>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Task A · sorting design</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a:extLst>
              <a:ext uri="{FF2B5EF4-FFF2-40B4-BE49-F238E27FC236}">
                <a16:creationId xmlns:a16="http://schemas.microsoft.com/office/drawing/2014/main" id="{3069BEED-BC3F-549C-A7D7-8CA92AF51C05}"/>
              </a:ext>
            </a:extLst>
          </p:cNvPr>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07</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1B1D491B-7CC5-C30B-1166-4E0328FE4B1A}"/>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a:extLst>
              <a:ext uri="{FF2B5EF4-FFF2-40B4-BE49-F238E27FC236}">
                <a16:creationId xmlns:a16="http://schemas.microsoft.com/office/drawing/2014/main" id="{89407477-A091-EE7D-0CA6-D0D3B7197EF7}"/>
              </a:ext>
            </a:extLst>
          </p:cNvPr>
          <p:cNvSpPr/>
          <p:nvPr/>
        </p:nvSpPr>
        <p:spPr>
          <a:xfrm>
            <a:off x="8412480" y="6428232"/>
            <a:ext cx="33832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Sorting algorithms and ranking rule</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Shape 4">
            <a:extLst>
              <a:ext uri="{FF2B5EF4-FFF2-40B4-BE49-F238E27FC236}">
                <a16:creationId xmlns:a16="http://schemas.microsoft.com/office/drawing/2014/main" id="{6C3058C3-22FD-DB72-C8CC-D77884313E52}"/>
              </a:ext>
            </a:extLst>
          </p:cNvPr>
          <p:cNvSpPr/>
          <p:nvPr/>
        </p:nvSpPr>
        <p:spPr>
          <a:xfrm>
            <a:off x="685800" y="1417320"/>
            <a:ext cx="5410200" cy="4434840"/>
          </a:xfrm>
          <a:prstGeom prst="roundRect">
            <a:avLst>
              <a:gd name="adj" fmla="val 2807"/>
            </a:avLst>
          </a:prstGeom>
          <a:solidFill>
            <a:srgbClr val="E1A4C2"/>
          </a:solidFill>
          <a:ln w="12700">
            <a:solidFill>
              <a:srgbClr val="E1A4C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7" name="Text 5">
            <a:extLst>
              <a:ext uri="{FF2B5EF4-FFF2-40B4-BE49-F238E27FC236}">
                <a16:creationId xmlns:a16="http://schemas.microsoft.com/office/drawing/2014/main" id="{58200576-9020-E0EC-92B5-A53539B095A9}"/>
              </a:ext>
            </a:extLst>
          </p:cNvPr>
          <p:cNvSpPr/>
          <p:nvPr/>
        </p:nvSpPr>
        <p:spPr>
          <a:xfrm>
            <a:off x="850392" y="1563624"/>
            <a:ext cx="22768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eorgia"/>
                <a:ea typeface="+mn-ea"/>
                <a:cs typeface="+mn-cs"/>
              </a:rPr>
              <a:t>Bubble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eorgia"/>
              <a:ea typeface="+mn-ea"/>
              <a:cs typeface="+mn-cs"/>
            </a:endParaRPr>
          </a:p>
        </p:txBody>
      </p:sp>
      <p:sp>
        <p:nvSpPr>
          <p:cNvPr id="19" name="文本框 18">
            <a:extLst>
              <a:ext uri="{FF2B5EF4-FFF2-40B4-BE49-F238E27FC236}">
                <a16:creationId xmlns:a16="http://schemas.microsoft.com/office/drawing/2014/main" id="{3E5859D1-C959-A429-1D06-B412AD264427}"/>
              </a:ext>
            </a:extLst>
          </p:cNvPr>
          <p:cNvSpPr txBox="1"/>
          <p:nvPr/>
        </p:nvSpPr>
        <p:spPr>
          <a:xfrm>
            <a:off x="685800" y="613310"/>
            <a:ext cx="6102626"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Task A</a:t>
            </a:r>
            <a:r>
              <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Sorting Algorithms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endPar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
        <p:nvSpPr>
          <p:cNvPr id="18" name="文本框 17">
            <a:extLst>
              <a:ext uri="{FF2B5EF4-FFF2-40B4-BE49-F238E27FC236}">
                <a16:creationId xmlns:a16="http://schemas.microsoft.com/office/drawing/2014/main" id="{C9C18438-5AA4-E62E-F915-006C182B427B}"/>
              </a:ext>
            </a:extLst>
          </p:cNvPr>
          <p:cNvSpPr txBox="1"/>
          <p:nvPr/>
        </p:nvSpPr>
        <p:spPr>
          <a:xfrm>
            <a:off x="6624961" y="1947672"/>
            <a:ext cx="5170799" cy="36933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for (int </a:t>
            </a:r>
            <a:r>
              <a:rPr kumimoji="1"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i</a:t>
            </a: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 0; </a:t>
            </a:r>
            <a:r>
              <a:rPr kumimoji="1"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i</a:t>
            </a: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&lt; n - 1; </a:t>
            </a:r>
            <a:r>
              <a:rPr kumimoji="1"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i</a:t>
            </a: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1" lang="en" altLang="zh-CN" sz="1800" b="0" i="0" u="none" strike="noStrike" kern="1200" cap="none" spc="0" normalizeH="0" baseline="0" noProof="0" dirty="0" err="1">
                <a:ln>
                  <a:noFill/>
                </a:ln>
                <a:solidFill>
                  <a:prstClr val="black"/>
                </a:solidFill>
                <a:effectLst/>
                <a:highlight>
                  <a:srgbClr val="FFFF00"/>
                </a:highlight>
                <a:uLnTx/>
                <a:uFillTx/>
                <a:latin typeface="Aptos"/>
                <a:ea typeface="等线" panose="02010600030101010101" pitchFamily="2" charset="-122"/>
                <a:cs typeface="+mn-cs"/>
              </a:rPr>
              <a:t>boolean</a:t>
            </a:r>
            <a:r>
              <a:rPr kumimoji="1" lang="en" altLang="zh-CN" sz="1800" b="0" i="0" u="none" strike="noStrike" kern="1200" cap="none" spc="0" normalizeH="0" baseline="0" noProof="0" dirty="0">
                <a:ln>
                  <a:noFill/>
                </a:ln>
                <a:solidFill>
                  <a:prstClr val="black"/>
                </a:solidFill>
                <a:effectLst/>
                <a:highlight>
                  <a:srgbClr val="FFFF00"/>
                </a:highlight>
                <a:uLnTx/>
                <a:uFillTx/>
                <a:latin typeface="Aptos"/>
                <a:ea typeface="等线" panose="02010600030101010101" pitchFamily="2" charset="-122"/>
                <a:cs typeface="+mn-cs"/>
              </a:rPr>
              <a:t> swapped = false;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for (int j = 0; j &lt; n - 1 - </a:t>
            </a:r>
            <a:r>
              <a:rPr kumimoji="1"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i</a:t>
            </a: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1"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j++</a:t>
            </a: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if (</a:t>
            </a:r>
            <a:r>
              <a:rPr kumimoji="1"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sorted.get</a:t>
            </a: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(j).</a:t>
            </a:r>
            <a:r>
              <a:rPr kumimoji="1"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compareTo</a:t>
            </a: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r>
              <a:rPr kumimoji="1"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sorted.get</a:t>
            </a: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(j + 1)) &gt; 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Candidate temp = </a:t>
            </a:r>
            <a:r>
              <a:rPr kumimoji="1"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sorted.get</a:t>
            </a: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(j);</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1"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sorted.set</a:t>
            </a: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(j, </a:t>
            </a:r>
            <a:r>
              <a:rPr kumimoji="1"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sorted.get</a:t>
            </a: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(j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1"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sorted.set</a:t>
            </a: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(j + 1, temp);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swapped = true;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if (!swapped) break;</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endParaRPr kumimoji="1"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21" name="文本框 20">
            <a:extLst>
              <a:ext uri="{FF2B5EF4-FFF2-40B4-BE49-F238E27FC236}">
                <a16:creationId xmlns:a16="http://schemas.microsoft.com/office/drawing/2014/main" id="{305696E6-0DE7-D010-E21B-2195B999680E}"/>
              </a:ext>
            </a:extLst>
          </p:cNvPr>
          <p:cNvSpPr txBox="1"/>
          <p:nvPr/>
        </p:nvSpPr>
        <p:spPr>
          <a:xfrm>
            <a:off x="1035326" y="2128735"/>
            <a:ext cx="4787348" cy="31393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Bubble Sort is applied by repeatedly comparing adjacent candidate locations and swapping them when they are not in the correct order according to the sorting rule. In this project, an early-termination mechanism is used through a swapped flag, so the algorithm can stop once no exchanges are needed. This makes Bubble Sort especially suitable for Dataset A, which is nearly sorted, because only a small number of comparisons and swaps are required.</a:t>
            </a:r>
          </a:p>
        </p:txBody>
      </p:sp>
    </p:spTree>
    <p:extLst>
      <p:ext uri="{BB962C8B-B14F-4D97-AF65-F5344CB8AC3E}">
        <p14:creationId xmlns:p14="http://schemas.microsoft.com/office/powerpoint/2010/main" val="189093195"/>
      </p:ext>
    </p:extLst>
  </p:cSld>
  <p:clrMapOvr>
    <a:masterClrMapping/>
  </p:clrMapOvr>
  <mc:AlternateContent xmlns:mc="http://schemas.openxmlformats.org/markup-compatibility/2006" xmlns:p14="http://schemas.microsoft.com/office/powerpoint/2010/main">
    <mc:Choice Requires="p14">
      <p:transition spd="slow" p14:dur="2000" advTm="37768"/>
    </mc:Choice>
    <mc:Fallback xmlns="">
      <p:transition spd="slow" advTm="3776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F3B91F8C-98E3-E948-4DB1-C0C054160DA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009340C-C48B-27B3-9884-F8294858D83C}"/>
              </a:ext>
            </a:extLst>
          </p:cNvPr>
          <p:cNvSpPr/>
          <p:nvPr/>
        </p:nvSpPr>
        <p:spPr>
          <a:xfrm>
            <a:off x="502920" y="256032"/>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Task A · sorting design</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a:extLst>
              <a:ext uri="{FF2B5EF4-FFF2-40B4-BE49-F238E27FC236}">
                <a16:creationId xmlns:a16="http://schemas.microsoft.com/office/drawing/2014/main" id="{117A1C29-3B65-DE69-740F-68F4E4CA7D25}"/>
              </a:ext>
            </a:extLst>
          </p:cNvPr>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08</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361A8A9D-EDAB-BCDF-26EF-DEB2000FC41C}"/>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a:extLst>
              <a:ext uri="{FF2B5EF4-FFF2-40B4-BE49-F238E27FC236}">
                <a16:creationId xmlns:a16="http://schemas.microsoft.com/office/drawing/2014/main" id="{D22A8176-4E06-9A22-0097-7EB768F1C615}"/>
              </a:ext>
            </a:extLst>
          </p:cNvPr>
          <p:cNvSpPr/>
          <p:nvPr/>
        </p:nvSpPr>
        <p:spPr>
          <a:xfrm>
            <a:off x="8412480" y="6428232"/>
            <a:ext cx="33832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Sorting algorithms and ranking rule</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a:extLst>
              <a:ext uri="{FF2B5EF4-FFF2-40B4-BE49-F238E27FC236}">
                <a16:creationId xmlns:a16="http://schemas.microsoft.com/office/drawing/2014/main" id="{A64A6024-2484-AE30-F296-9E840704DD6A}"/>
              </a:ext>
            </a:extLst>
          </p:cNvPr>
          <p:cNvSpPr/>
          <p:nvPr/>
        </p:nvSpPr>
        <p:spPr>
          <a:xfrm>
            <a:off x="662940" y="1498504"/>
            <a:ext cx="5433060" cy="4434840"/>
          </a:xfrm>
          <a:prstGeom prst="roundRect">
            <a:avLst>
              <a:gd name="adj" fmla="val 2807"/>
            </a:avLst>
          </a:prstGeom>
          <a:solidFill>
            <a:srgbClr val="D6DD63"/>
          </a:solidFill>
          <a:ln w="12700">
            <a:solidFill>
              <a:srgbClr val="D6DD6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10" name="Text 8">
            <a:extLst>
              <a:ext uri="{FF2B5EF4-FFF2-40B4-BE49-F238E27FC236}">
                <a16:creationId xmlns:a16="http://schemas.microsoft.com/office/drawing/2014/main" id="{6D78A816-4EBA-439C-BB24-E99BE8C4B489}"/>
              </a:ext>
            </a:extLst>
          </p:cNvPr>
          <p:cNvSpPr/>
          <p:nvPr/>
        </p:nvSpPr>
        <p:spPr>
          <a:xfrm>
            <a:off x="827532" y="1801368"/>
            <a:ext cx="22768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mn-cs"/>
              </a:rPr>
              <a:t>Quick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19" name="文本框 18">
            <a:extLst>
              <a:ext uri="{FF2B5EF4-FFF2-40B4-BE49-F238E27FC236}">
                <a16:creationId xmlns:a16="http://schemas.microsoft.com/office/drawing/2014/main" id="{08411B08-3FD0-4B78-9E4A-EBD27BA2BA6A}"/>
              </a:ext>
            </a:extLst>
          </p:cNvPr>
          <p:cNvSpPr txBox="1"/>
          <p:nvPr/>
        </p:nvSpPr>
        <p:spPr>
          <a:xfrm>
            <a:off x="685800" y="613310"/>
            <a:ext cx="6102626"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Task A</a:t>
            </a:r>
            <a:r>
              <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Sorting Algorithms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endPar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
        <p:nvSpPr>
          <p:cNvPr id="20" name="文本框 19">
            <a:extLst>
              <a:ext uri="{FF2B5EF4-FFF2-40B4-BE49-F238E27FC236}">
                <a16:creationId xmlns:a16="http://schemas.microsoft.com/office/drawing/2014/main" id="{7E4C8C4A-FBFE-5EAA-649C-8574B4CFFFD9}"/>
              </a:ext>
            </a:extLst>
          </p:cNvPr>
          <p:cNvSpPr txBox="1"/>
          <p:nvPr/>
        </p:nvSpPr>
        <p:spPr>
          <a:xfrm>
            <a:off x="891010" y="2296256"/>
            <a:ext cx="4976920" cy="31393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Quick Sort is applied using a divide-and-conquer strategy. In this project, the last element of the list is selected as the pivot, and the dataset is partitioned so that locations with higher priority are placed on the left side and lower-priority locations on the right side. The same process is then repeated recursively for the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sublists</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This method performs very efficiently on random data such as Dataset B, but it becomes less effective on nearly sorted data because the fixed pivot strategy can create highly unbalanced partitions.</a:t>
            </a:r>
          </a:p>
        </p:txBody>
      </p:sp>
      <p:sp>
        <p:nvSpPr>
          <p:cNvPr id="7" name="文本框 6">
            <a:extLst>
              <a:ext uri="{FF2B5EF4-FFF2-40B4-BE49-F238E27FC236}">
                <a16:creationId xmlns:a16="http://schemas.microsoft.com/office/drawing/2014/main" id="{1C7F64AD-1BA1-6D67-7B97-7FDB89E90388}"/>
              </a:ext>
            </a:extLst>
          </p:cNvPr>
          <p:cNvSpPr txBox="1"/>
          <p:nvPr/>
        </p:nvSpPr>
        <p:spPr>
          <a:xfrm>
            <a:off x="6324070" y="1826777"/>
            <a:ext cx="6100548" cy="39703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private int partition(List&lt;Candidate&gt; candidates, int low, int high)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 altLang="zh-CN" sz="1800" b="0" i="0" u="none" strike="noStrike" kern="1200" cap="none" spc="0" normalizeH="0" baseline="0" noProof="0" dirty="0">
                <a:ln>
                  <a:noFill/>
                </a:ln>
                <a:solidFill>
                  <a:prstClr val="black"/>
                </a:solidFill>
                <a:effectLst/>
                <a:highlight>
                  <a:srgbClr val="FFFF00"/>
                </a:highlight>
                <a:uLnTx/>
                <a:uFillTx/>
                <a:latin typeface="Aptos"/>
                <a:ea typeface="等线" panose="02010600030101010101" pitchFamily="2" charset="-122"/>
                <a:cs typeface="+mn-cs"/>
              </a:rPr>
              <a:t>Candidate pivot = </a:t>
            </a:r>
            <a:r>
              <a:rPr kumimoji="0" lang="en" altLang="zh-CN" sz="1800" b="0" i="0" u="none" strike="noStrike" kern="1200" cap="none" spc="0" normalizeH="0" baseline="0" noProof="0" dirty="0" err="1">
                <a:ln>
                  <a:noFill/>
                </a:ln>
                <a:solidFill>
                  <a:prstClr val="black"/>
                </a:solidFill>
                <a:effectLst/>
                <a:highlight>
                  <a:srgbClr val="FFFF00"/>
                </a:highlight>
                <a:uLnTx/>
                <a:uFillTx/>
                <a:latin typeface="Aptos"/>
                <a:ea typeface="等线" panose="02010600030101010101" pitchFamily="2" charset="-122"/>
                <a:cs typeface="+mn-cs"/>
              </a:rPr>
              <a:t>candidates.get</a:t>
            </a:r>
            <a:r>
              <a:rPr kumimoji="0" lang="en" altLang="zh-CN" sz="1800" b="0" i="0" u="none" strike="noStrike" kern="1200" cap="none" spc="0" normalizeH="0" baseline="0" noProof="0" dirty="0">
                <a:ln>
                  <a:noFill/>
                </a:ln>
                <a:solidFill>
                  <a:prstClr val="black"/>
                </a:solidFill>
                <a:effectLst/>
                <a:highlight>
                  <a:srgbClr val="FFFF00"/>
                </a:highlight>
                <a:uLnTx/>
                <a:uFillTx/>
                <a:latin typeface="Aptos"/>
                <a:ea typeface="等线" panose="02010600030101010101" pitchFamily="2" charset="-122"/>
                <a:cs typeface="+mn-cs"/>
              </a:rPr>
              <a:t>(high);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int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i</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 low - 1;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for (int j = low; j &lt; high;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j++</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if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candidates.get</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(j).</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compareTo</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(pivot) &lt;= 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i</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swap(candidates,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i</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j);</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swap(candidates,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i</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+ 1, high);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return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i</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endParaRPr kumimoji="0"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Tree>
    <p:extLst>
      <p:ext uri="{BB962C8B-B14F-4D97-AF65-F5344CB8AC3E}">
        <p14:creationId xmlns:p14="http://schemas.microsoft.com/office/powerpoint/2010/main" val="1369457946"/>
      </p:ext>
    </p:extLst>
  </p:cSld>
  <p:clrMapOvr>
    <a:masterClrMapping/>
  </p:clrMapOvr>
  <mc:AlternateContent xmlns:mc="http://schemas.openxmlformats.org/markup-compatibility/2006" xmlns:p14="http://schemas.microsoft.com/office/powerpoint/2010/main">
    <mc:Choice Requires="p14">
      <p:transition spd="slow" p14:dur="2000" advTm="18381"/>
    </mc:Choice>
    <mc:Fallback xmlns="">
      <p:transition spd="slow" advTm="1838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EB513F80-6A22-292C-831B-83C2A6BEBE4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D6DE866-10F7-78DA-12F1-18E1278EB737}"/>
              </a:ext>
            </a:extLst>
          </p:cNvPr>
          <p:cNvSpPr/>
          <p:nvPr/>
        </p:nvSpPr>
        <p:spPr>
          <a:xfrm>
            <a:off x="502920" y="256032"/>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Task A · sorting design</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a:extLst>
              <a:ext uri="{FF2B5EF4-FFF2-40B4-BE49-F238E27FC236}">
                <a16:creationId xmlns:a16="http://schemas.microsoft.com/office/drawing/2014/main" id="{866E62DD-D0A9-B40A-B556-C50ECF6C1955}"/>
              </a:ext>
            </a:extLst>
          </p:cNvPr>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sz="1600" i="1" dirty="0">
                <a:solidFill>
                  <a:srgbClr val="5C5345"/>
                </a:solidFill>
                <a:latin typeface="Georgia" pitchFamily="34" charset="0"/>
              </a:rPr>
              <a:t>09</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4ECCD2F6-48FB-09C1-668B-CCAE195282E7}"/>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a:extLst>
              <a:ext uri="{FF2B5EF4-FFF2-40B4-BE49-F238E27FC236}">
                <a16:creationId xmlns:a16="http://schemas.microsoft.com/office/drawing/2014/main" id="{A4192FDF-42A7-12FD-7CB2-E08184DAB403}"/>
              </a:ext>
            </a:extLst>
          </p:cNvPr>
          <p:cNvSpPr/>
          <p:nvPr/>
        </p:nvSpPr>
        <p:spPr>
          <a:xfrm>
            <a:off x="8412480" y="6428232"/>
            <a:ext cx="33832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Sorting algorithms and ranking rule</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Shape 10">
            <a:extLst>
              <a:ext uri="{FF2B5EF4-FFF2-40B4-BE49-F238E27FC236}">
                <a16:creationId xmlns:a16="http://schemas.microsoft.com/office/drawing/2014/main" id="{9C936449-2DDC-AB76-7699-EF9136F679E4}"/>
              </a:ext>
            </a:extLst>
          </p:cNvPr>
          <p:cNvSpPr/>
          <p:nvPr/>
        </p:nvSpPr>
        <p:spPr>
          <a:xfrm>
            <a:off x="502920" y="1417320"/>
            <a:ext cx="5593080" cy="4434840"/>
          </a:xfrm>
          <a:prstGeom prst="roundRect">
            <a:avLst>
              <a:gd name="adj" fmla="val 2807"/>
            </a:avLst>
          </a:prstGeom>
          <a:solidFill>
            <a:srgbClr val="E8C9B6"/>
          </a:solidFill>
          <a:ln w="12700">
            <a:solidFill>
              <a:srgbClr val="E8C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3" name="Text 11">
            <a:extLst>
              <a:ext uri="{FF2B5EF4-FFF2-40B4-BE49-F238E27FC236}">
                <a16:creationId xmlns:a16="http://schemas.microsoft.com/office/drawing/2014/main" id="{F616C2C6-E965-AF6C-DE6B-D2CC599CAAAB}"/>
              </a:ext>
            </a:extLst>
          </p:cNvPr>
          <p:cNvSpPr/>
          <p:nvPr/>
        </p:nvSpPr>
        <p:spPr>
          <a:xfrm>
            <a:off x="667512" y="1563624"/>
            <a:ext cx="488658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mn-cs"/>
              </a:rPr>
              <a:t>Merge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19" name="文本框 18">
            <a:extLst>
              <a:ext uri="{FF2B5EF4-FFF2-40B4-BE49-F238E27FC236}">
                <a16:creationId xmlns:a16="http://schemas.microsoft.com/office/drawing/2014/main" id="{25A011A6-2D55-C205-4D80-68FE880CC91F}"/>
              </a:ext>
            </a:extLst>
          </p:cNvPr>
          <p:cNvSpPr txBox="1"/>
          <p:nvPr/>
        </p:nvSpPr>
        <p:spPr>
          <a:xfrm>
            <a:off x="685800" y="613310"/>
            <a:ext cx="6102626"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Task A</a:t>
            </a:r>
            <a:r>
              <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Sorting Algorithms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endPar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
        <p:nvSpPr>
          <p:cNvPr id="20" name="文本框 19">
            <a:extLst>
              <a:ext uri="{FF2B5EF4-FFF2-40B4-BE49-F238E27FC236}">
                <a16:creationId xmlns:a16="http://schemas.microsoft.com/office/drawing/2014/main" id="{23458935-86D4-A138-C59F-17072127B93E}"/>
              </a:ext>
            </a:extLst>
          </p:cNvPr>
          <p:cNvSpPr txBox="1"/>
          <p:nvPr/>
        </p:nvSpPr>
        <p:spPr>
          <a:xfrm>
            <a:off x="985707" y="2266600"/>
            <a:ext cx="4886586" cy="286232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Merge Sort is applied by first dividing the dataset into smaller </a:t>
            </a:r>
            <a:r>
              <a:rPr kumimoji="0" lang="en-US"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sublists</a:t>
            </a:r>
            <a:r>
              <a:rPr kumimoji="0" lang="en-US"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until each </a:t>
            </a:r>
            <a:r>
              <a:rPr kumimoji="0" lang="en-US"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sublist</a:t>
            </a:r>
            <a:r>
              <a:rPr kumimoji="0" lang="en-US"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contains only one element, and then merging them back together in sorted order. During the merge process, the project follows the same ranking rule of priority score and location ID. Merge Sort is useful in Task A because its performance remains stable across different dataset characteristics, making it a reliable algorithm for consistent sorting results.</a:t>
            </a:r>
          </a:p>
        </p:txBody>
      </p:sp>
      <p:sp>
        <p:nvSpPr>
          <p:cNvPr id="9" name="文本框 8">
            <a:extLst>
              <a:ext uri="{FF2B5EF4-FFF2-40B4-BE49-F238E27FC236}">
                <a16:creationId xmlns:a16="http://schemas.microsoft.com/office/drawing/2014/main" id="{6B4F0B08-33D9-5314-67BC-96076F52B003}"/>
              </a:ext>
            </a:extLst>
          </p:cNvPr>
          <p:cNvSpPr txBox="1"/>
          <p:nvPr/>
        </p:nvSpPr>
        <p:spPr>
          <a:xfrm>
            <a:off x="6355080" y="2750000"/>
            <a:ext cx="3360959"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int middle =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candidates.size</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return </a:t>
            </a:r>
            <a:r>
              <a:rPr kumimoji="0" lang="en" altLang="zh-CN" sz="1800" b="0" i="0" u="none" strike="noStrike" kern="1200" cap="none" spc="0" normalizeH="0" baseline="0" noProof="0" dirty="0">
                <a:ln>
                  <a:noFill/>
                </a:ln>
                <a:solidFill>
                  <a:prstClr val="black"/>
                </a:solidFill>
                <a:effectLst/>
                <a:highlight>
                  <a:srgbClr val="FFFF00"/>
                </a:highlight>
                <a:uLnTx/>
                <a:uFillTx/>
                <a:latin typeface="Aptos"/>
                <a:ea typeface="等线" panose="02010600030101010101" pitchFamily="2" charset="-122"/>
                <a:cs typeface="+mn-cs"/>
              </a:rPr>
              <a:t>merge(left, right);</a:t>
            </a:r>
            <a:endParaRPr kumimoji="0" lang="zh-CN" altLang="en-US" sz="1800" b="0" i="0" u="none" strike="noStrike" kern="1200" cap="none" spc="0" normalizeH="0" baseline="0" noProof="0" dirty="0">
              <a:ln>
                <a:noFill/>
              </a:ln>
              <a:solidFill>
                <a:prstClr val="black"/>
              </a:solidFill>
              <a:effectLst/>
              <a:highlight>
                <a:srgbClr val="FFFF00"/>
              </a:highlight>
              <a:uLnTx/>
              <a:uFillTx/>
              <a:latin typeface="Aptos"/>
              <a:ea typeface="等线" panose="02010600030101010101" pitchFamily="2" charset="-122"/>
              <a:cs typeface="+mn-cs"/>
            </a:endParaRPr>
          </a:p>
        </p:txBody>
      </p:sp>
      <p:sp>
        <p:nvSpPr>
          <p:cNvPr id="11" name="文本框 10">
            <a:extLst>
              <a:ext uri="{FF2B5EF4-FFF2-40B4-BE49-F238E27FC236}">
                <a16:creationId xmlns:a16="http://schemas.microsoft.com/office/drawing/2014/main" id="{61911CA3-0665-AD6B-B91B-581C8F9A8E91}"/>
              </a:ext>
            </a:extLst>
          </p:cNvPr>
          <p:cNvSpPr txBox="1"/>
          <p:nvPr/>
        </p:nvSpPr>
        <p:spPr>
          <a:xfrm>
            <a:off x="6355080" y="3697761"/>
            <a:ext cx="610054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if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left.get</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leftIndex</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compareTo</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right.get</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rightIndex</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&lt;= 0)</a:t>
            </a:r>
            <a:endParaRPr kumimoji="0"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Tree>
    <p:extLst>
      <p:ext uri="{BB962C8B-B14F-4D97-AF65-F5344CB8AC3E}">
        <p14:creationId xmlns:p14="http://schemas.microsoft.com/office/powerpoint/2010/main" val="2078191216"/>
      </p:ext>
    </p:extLst>
  </p:cSld>
  <p:clrMapOvr>
    <a:masterClrMapping/>
  </p:clrMapOvr>
  <mc:AlternateContent xmlns:mc="http://schemas.openxmlformats.org/markup-compatibility/2006" xmlns:p14="http://schemas.microsoft.com/office/powerpoint/2010/main">
    <mc:Choice Requires="p14">
      <p:transition spd="slow" p14:dur="2000" advTm="19431"/>
    </mc:Choice>
    <mc:Fallback xmlns="">
      <p:transition spd="slow" advTm="1943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8DEC31CF-62DD-ADE5-57BA-E3F7932A621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978A0EC-DFB6-DA4E-14DE-41D741210E7F}"/>
              </a:ext>
            </a:extLst>
          </p:cNvPr>
          <p:cNvSpPr/>
          <p:nvPr/>
        </p:nvSpPr>
        <p:spPr>
          <a:xfrm>
            <a:off x="502920" y="256032"/>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Task A · sorting design</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a:extLst>
              <a:ext uri="{FF2B5EF4-FFF2-40B4-BE49-F238E27FC236}">
                <a16:creationId xmlns:a16="http://schemas.microsoft.com/office/drawing/2014/main" id="{6C8AC58D-E569-3381-C836-DBBB1228810C}"/>
              </a:ext>
            </a:extLst>
          </p:cNvPr>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10</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CF93321F-9547-61BD-6D6D-63E9516CE72E}"/>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a:extLst>
              <a:ext uri="{FF2B5EF4-FFF2-40B4-BE49-F238E27FC236}">
                <a16:creationId xmlns:a16="http://schemas.microsoft.com/office/drawing/2014/main" id="{52F6F4BA-D128-7A87-5517-AD07424689D3}"/>
              </a:ext>
            </a:extLst>
          </p:cNvPr>
          <p:cNvSpPr/>
          <p:nvPr/>
        </p:nvSpPr>
        <p:spPr>
          <a:xfrm>
            <a:off x="8412480" y="6428232"/>
            <a:ext cx="33832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Sorting algorithms and ranking rule</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Shape 13">
            <a:extLst>
              <a:ext uri="{FF2B5EF4-FFF2-40B4-BE49-F238E27FC236}">
                <a16:creationId xmlns:a16="http://schemas.microsoft.com/office/drawing/2014/main" id="{FA568A46-ED5D-0E74-A6CA-EF389A13AFA8}"/>
              </a:ext>
            </a:extLst>
          </p:cNvPr>
          <p:cNvSpPr/>
          <p:nvPr/>
        </p:nvSpPr>
        <p:spPr>
          <a:xfrm>
            <a:off x="502920" y="1417320"/>
            <a:ext cx="5593080" cy="4434840"/>
          </a:xfrm>
          <a:prstGeom prst="roundRect">
            <a:avLst>
              <a:gd name="adj" fmla="val 3810"/>
            </a:avLst>
          </a:prstGeom>
          <a:solidFill>
            <a:srgbClr val="B7C7A8"/>
          </a:solidFill>
          <a:ln w="12700">
            <a:solidFill>
              <a:srgbClr val="B7C7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6" name="Text 14">
            <a:extLst>
              <a:ext uri="{FF2B5EF4-FFF2-40B4-BE49-F238E27FC236}">
                <a16:creationId xmlns:a16="http://schemas.microsoft.com/office/drawing/2014/main" id="{68B5B8E4-5D19-15E9-25D5-1A158B561797}"/>
              </a:ext>
            </a:extLst>
          </p:cNvPr>
          <p:cNvSpPr/>
          <p:nvPr/>
        </p:nvSpPr>
        <p:spPr>
          <a:xfrm>
            <a:off x="685800" y="1594516"/>
            <a:ext cx="15910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Insertion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eorgia"/>
              <a:ea typeface="+mn-ea"/>
              <a:cs typeface="+mn-cs"/>
            </a:endParaRPr>
          </a:p>
        </p:txBody>
      </p:sp>
      <p:sp>
        <p:nvSpPr>
          <p:cNvPr id="19" name="文本框 18">
            <a:extLst>
              <a:ext uri="{FF2B5EF4-FFF2-40B4-BE49-F238E27FC236}">
                <a16:creationId xmlns:a16="http://schemas.microsoft.com/office/drawing/2014/main" id="{BC96DBAE-3680-9306-DCB7-8819A0C33F35}"/>
              </a:ext>
            </a:extLst>
          </p:cNvPr>
          <p:cNvSpPr txBox="1"/>
          <p:nvPr/>
        </p:nvSpPr>
        <p:spPr>
          <a:xfrm>
            <a:off x="685800" y="613310"/>
            <a:ext cx="6102626"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Task A</a:t>
            </a:r>
            <a:r>
              <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Sorting Algorithms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endPar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
        <p:nvSpPr>
          <p:cNvPr id="20" name="文本框 19">
            <a:extLst>
              <a:ext uri="{FF2B5EF4-FFF2-40B4-BE49-F238E27FC236}">
                <a16:creationId xmlns:a16="http://schemas.microsoft.com/office/drawing/2014/main" id="{C04B86C3-3677-CB1E-BEA1-2D72B9F40FA3}"/>
              </a:ext>
            </a:extLst>
          </p:cNvPr>
          <p:cNvSpPr txBox="1"/>
          <p:nvPr/>
        </p:nvSpPr>
        <p:spPr>
          <a:xfrm>
            <a:off x="1137699" y="2020752"/>
            <a:ext cx="4323522" cy="3416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Insertion Sort is applied by scanning the dataset from left to right and inserting each candidate location into its correct position in the already sorted part of the list. This approach is simple and efficient when the data is already close to the target order. In Task A, Insertion Sort performs well on nearly sorted or partially ordered datasets, such as Dataset A and Dataset C, because fewer shifts are needed to place elements in the correct order.</a:t>
            </a:r>
          </a:p>
        </p:txBody>
      </p:sp>
      <p:sp>
        <p:nvSpPr>
          <p:cNvPr id="7" name="文本框 6">
            <a:extLst>
              <a:ext uri="{FF2B5EF4-FFF2-40B4-BE49-F238E27FC236}">
                <a16:creationId xmlns:a16="http://schemas.microsoft.com/office/drawing/2014/main" id="{2F7DE1AE-6E61-A4F0-2E10-4D62A61771FF}"/>
              </a:ext>
            </a:extLst>
          </p:cNvPr>
          <p:cNvSpPr txBox="1"/>
          <p:nvPr/>
        </p:nvSpPr>
        <p:spPr>
          <a:xfrm>
            <a:off x="6366681" y="2203579"/>
            <a:ext cx="6100548" cy="286232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for (int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i</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 1;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i</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&lt;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sorted.size</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i</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Candidate current =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sorted.get</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i</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int j =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i</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- 1;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 altLang="zh-CN" sz="1800" b="0" i="0" u="none" strike="noStrike" kern="1200" cap="none" spc="0" normalizeH="0" baseline="0" noProof="0" dirty="0">
                <a:ln>
                  <a:noFill/>
                </a:ln>
                <a:solidFill>
                  <a:prstClr val="black"/>
                </a:solidFill>
                <a:effectLst/>
                <a:highlight>
                  <a:srgbClr val="FFFF00"/>
                </a:highlight>
                <a:uLnTx/>
                <a:uFillTx/>
                <a:latin typeface="Aptos"/>
                <a:ea typeface="等线" panose="02010600030101010101" pitchFamily="2" charset="-122"/>
                <a:cs typeface="+mn-cs"/>
              </a:rPr>
              <a:t>while (j &gt;= 0 &amp;&amp; </a:t>
            </a:r>
            <a:r>
              <a:rPr kumimoji="0" lang="en" altLang="zh-CN" sz="1800" b="0" i="0" u="none" strike="noStrike" kern="1200" cap="none" spc="0" normalizeH="0" baseline="0" noProof="0" dirty="0" err="1">
                <a:ln>
                  <a:noFill/>
                </a:ln>
                <a:solidFill>
                  <a:prstClr val="black"/>
                </a:solidFill>
                <a:effectLst/>
                <a:highlight>
                  <a:srgbClr val="FFFF00"/>
                </a:highlight>
                <a:uLnTx/>
                <a:uFillTx/>
                <a:latin typeface="Aptos"/>
                <a:ea typeface="等线" panose="02010600030101010101" pitchFamily="2" charset="-122"/>
                <a:cs typeface="+mn-cs"/>
              </a:rPr>
              <a:t>sorted.get</a:t>
            </a:r>
            <a:r>
              <a:rPr kumimoji="0" lang="en" altLang="zh-CN" sz="1800" b="0" i="0" u="none" strike="noStrike" kern="1200" cap="none" spc="0" normalizeH="0" baseline="0" noProof="0" dirty="0">
                <a:ln>
                  <a:noFill/>
                </a:ln>
                <a:solidFill>
                  <a:prstClr val="black"/>
                </a:solidFill>
                <a:effectLst/>
                <a:highlight>
                  <a:srgbClr val="FFFF00"/>
                </a:highlight>
                <a:uLnTx/>
                <a:uFillTx/>
                <a:latin typeface="Aptos"/>
                <a:ea typeface="等线" panose="02010600030101010101" pitchFamily="2" charset="-122"/>
                <a:cs typeface="+mn-cs"/>
              </a:rPr>
              <a:t>(j).</a:t>
            </a:r>
            <a:r>
              <a:rPr kumimoji="0" lang="en" altLang="zh-CN" sz="1800" b="0" i="0" u="none" strike="noStrike" kern="1200" cap="none" spc="0" normalizeH="0" baseline="0" noProof="0" dirty="0" err="1">
                <a:ln>
                  <a:noFill/>
                </a:ln>
                <a:solidFill>
                  <a:prstClr val="black"/>
                </a:solidFill>
                <a:effectLst/>
                <a:highlight>
                  <a:srgbClr val="FFFF00"/>
                </a:highlight>
                <a:uLnTx/>
                <a:uFillTx/>
                <a:latin typeface="Aptos"/>
                <a:ea typeface="等线" panose="02010600030101010101" pitchFamily="2" charset="-122"/>
                <a:cs typeface="+mn-cs"/>
              </a:rPr>
              <a:t>compareTo</a:t>
            </a:r>
            <a:r>
              <a:rPr kumimoji="0" lang="en" altLang="zh-CN" sz="1800" b="0" i="0" u="none" strike="noStrike" kern="1200" cap="none" spc="0" normalizeH="0" baseline="0" noProof="0" dirty="0">
                <a:ln>
                  <a:noFill/>
                </a:ln>
                <a:solidFill>
                  <a:prstClr val="black"/>
                </a:solidFill>
                <a:effectLst/>
                <a:highlight>
                  <a:srgbClr val="FFFF00"/>
                </a:highlight>
                <a:uLnTx/>
                <a:uFillTx/>
                <a:latin typeface="Aptos"/>
                <a:ea typeface="等线" panose="02010600030101010101" pitchFamily="2" charset="-122"/>
                <a:cs typeface="+mn-cs"/>
              </a:rPr>
              <a:t>(current) &gt; 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sorted.set</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(j + 1, </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sorted.get</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(j));</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j--;</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 altLang="zh-CN" sz="1800" b="0" i="0" u="none" strike="noStrike" kern="1200" cap="none" spc="0" normalizeH="0" baseline="0" noProof="0" dirty="0" err="1">
                <a:ln>
                  <a:noFill/>
                </a:ln>
                <a:solidFill>
                  <a:prstClr val="black"/>
                </a:solidFill>
                <a:effectLst/>
                <a:highlight>
                  <a:srgbClr val="FFFF00"/>
                </a:highlight>
                <a:uLnTx/>
                <a:uFillTx/>
                <a:latin typeface="Aptos"/>
                <a:ea typeface="等线" panose="02010600030101010101" pitchFamily="2" charset="-122"/>
                <a:cs typeface="+mn-cs"/>
              </a:rPr>
              <a:t>sorted.set</a:t>
            </a:r>
            <a:r>
              <a:rPr kumimoji="0" lang="en" altLang="zh-CN" sz="1800" b="0" i="0" u="none" strike="noStrike" kern="1200" cap="none" spc="0" normalizeH="0" baseline="0" noProof="0" dirty="0">
                <a:ln>
                  <a:noFill/>
                </a:ln>
                <a:solidFill>
                  <a:prstClr val="black"/>
                </a:solidFill>
                <a:effectLst/>
                <a:highlight>
                  <a:srgbClr val="FFFF00"/>
                </a:highlight>
                <a:uLnTx/>
                <a:uFillTx/>
                <a:latin typeface="Aptos"/>
                <a:ea typeface="等线" panose="02010600030101010101" pitchFamily="2" charset="-122"/>
                <a:cs typeface="+mn-cs"/>
              </a:rPr>
              <a:t>(j + 1, current);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endParaRPr kumimoji="0"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Tree>
    <p:extLst>
      <p:ext uri="{BB962C8B-B14F-4D97-AF65-F5344CB8AC3E}">
        <p14:creationId xmlns:p14="http://schemas.microsoft.com/office/powerpoint/2010/main" val="2529219018"/>
      </p:ext>
    </p:extLst>
  </p:cSld>
  <p:clrMapOvr>
    <a:masterClrMapping/>
  </p:clrMapOvr>
  <mc:AlternateContent xmlns:mc="http://schemas.openxmlformats.org/markup-compatibility/2006" xmlns:p14="http://schemas.microsoft.com/office/powerpoint/2010/main">
    <mc:Choice Requires="p14">
      <p:transition spd="slow" p14:dur="2000" advTm="15198"/>
    </mc:Choice>
    <mc:Fallback xmlns="">
      <p:transition spd="slow" advTm="1519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B66829F3-975B-675F-57B7-59D005968B1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6B8E8FF-5083-2283-B555-EF972D64BE27}"/>
              </a:ext>
            </a:extLst>
          </p:cNvPr>
          <p:cNvSpPr/>
          <p:nvPr/>
        </p:nvSpPr>
        <p:spPr>
          <a:xfrm>
            <a:off x="502920" y="256032"/>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Task A · sorting design</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a:extLst>
              <a:ext uri="{FF2B5EF4-FFF2-40B4-BE49-F238E27FC236}">
                <a16:creationId xmlns:a16="http://schemas.microsoft.com/office/drawing/2014/main" id="{A84D763A-9A77-C299-3CD4-84F8E98CF712}"/>
              </a:ext>
            </a:extLst>
          </p:cNvPr>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11</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CD62A647-E6EC-1392-B085-8291D9723066}"/>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a:extLst>
              <a:ext uri="{FF2B5EF4-FFF2-40B4-BE49-F238E27FC236}">
                <a16:creationId xmlns:a16="http://schemas.microsoft.com/office/drawing/2014/main" id="{253D7B69-9532-DE8C-9656-561983AD8200}"/>
              </a:ext>
            </a:extLst>
          </p:cNvPr>
          <p:cNvSpPr/>
          <p:nvPr/>
        </p:nvSpPr>
        <p:spPr>
          <a:xfrm>
            <a:off x="8412480" y="6428232"/>
            <a:ext cx="33832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Sorting algorithms and ranking rule</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文本框 18">
            <a:extLst>
              <a:ext uri="{FF2B5EF4-FFF2-40B4-BE49-F238E27FC236}">
                <a16:creationId xmlns:a16="http://schemas.microsoft.com/office/drawing/2014/main" id="{43A81879-D7D6-669D-82A9-2FFD65D42B22}"/>
              </a:ext>
            </a:extLst>
          </p:cNvPr>
          <p:cNvSpPr txBox="1"/>
          <p:nvPr/>
        </p:nvSpPr>
        <p:spPr>
          <a:xfrm>
            <a:off x="685800" y="613310"/>
            <a:ext cx="6102626"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Task A</a:t>
            </a:r>
            <a:r>
              <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Sorting Algorithms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endPar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FB1B418B-718C-BF70-AC69-C1308155CE39}"/>
                  </a:ext>
                </a:extLst>
              </p:cNvPr>
              <p:cNvGraphicFramePr>
                <a:graphicFrameLocks noGrp="1"/>
              </p:cNvGraphicFramePr>
              <p:nvPr/>
            </p:nvGraphicFramePr>
            <p:xfrm>
              <a:off x="685800" y="1888250"/>
              <a:ext cx="10115549" cy="3598147"/>
            </p:xfrm>
            <a:graphic>
              <a:graphicData uri="http://schemas.openxmlformats.org/drawingml/2006/table">
                <a:tbl>
                  <a:tblPr>
                    <a:tableStyleId>{5C22544A-7EE6-4342-B048-85BDC9FD1C3A}</a:tableStyleId>
                  </a:tblPr>
                  <a:tblGrid>
                    <a:gridCol w="2001171">
                      <a:extLst>
                        <a:ext uri="{9D8B030D-6E8A-4147-A177-3AD203B41FA5}">
                          <a16:colId xmlns:a16="http://schemas.microsoft.com/office/drawing/2014/main" val="3153229955"/>
                        </a:ext>
                      </a:extLst>
                    </a:gridCol>
                    <a:gridCol w="2311454">
                      <a:extLst>
                        <a:ext uri="{9D8B030D-6E8A-4147-A177-3AD203B41FA5}">
                          <a16:colId xmlns:a16="http://schemas.microsoft.com/office/drawing/2014/main" val="2119620451"/>
                        </a:ext>
                      </a:extLst>
                    </a:gridCol>
                    <a:gridCol w="1933785">
                      <a:extLst>
                        <a:ext uri="{9D8B030D-6E8A-4147-A177-3AD203B41FA5}">
                          <a16:colId xmlns:a16="http://schemas.microsoft.com/office/drawing/2014/main" val="2482315656"/>
                        </a:ext>
                      </a:extLst>
                    </a:gridCol>
                    <a:gridCol w="1935354">
                      <a:extLst>
                        <a:ext uri="{9D8B030D-6E8A-4147-A177-3AD203B41FA5}">
                          <a16:colId xmlns:a16="http://schemas.microsoft.com/office/drawing/2014/main" val="815525445"/>
                        </a:ext>
                      </a:extLst>
                    </a:gridCol>
                    <a:gridCol w="1933785">
                      <a:extLst>
                        <a:ext uri="{9D8B030D-6E8A-4147-A177-3AD203B41FA5}">
                          <a16:colId xmlns:a16="http://schemas.microsoft.com/office/drawing/2014/main" val="2474322812"/>
                        </a:ext>
                      </a:extLst>
                    </a:gridCol>
                  </a:tblGrid>
                  <a:tr h="717082">
                    <a:tc>
                      <a:txBody>
                        <a:bodyPr/>
                        <a:lstStyle/>
                        <a:p>
                          <a:pPr algn="ctr">
                            <a:lnSpc>
                              <a:spcPct val="115000"/>
                            </a:lnSpc>
                            <a:spcAft>
                              <a:spcPts val="800"/>
                            </a:spcAft>
                            <a:buNone/>
                          </a:pPr>
                          <a:r>
                            <a:rPr lang="en-US" sz="900" kern="0">
                              <a:effectLst/>
                            </a:rPr>
                            <a:t>Algorithm</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r>
                            <a:rPr lang="en-US" sz="900" kern="0">
                              <a:effectLst/>
                            </a:rPr>
                            <a:t>Best Time Complexity</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r>
                            <a:rPr lang="en-US" sz="900" kern="0">
                              <a:effectLst/>
                            </a:rPr>
                            <a:t>Average Time Complexity</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r>
                            <a:rPr lang="en-US" sz="900" kern="0">
                              <a:effectLst/>
                            </a:rPr>
                            <a:t>Worst Time Complexity</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r>
                            <a:rPr lang="en-US" sz="900" kern="0">
                              <a:effectLst/>
                            </a:rPr>
                            <a:t>Extra Space Complexity</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714319791"/>
                      </a:ext>
                    </a:extLst>
                  </a:tr>
                  <a:tr h="717082">
                    <a:tc>
                      <a:txBody>
                        <a:bodyPr/>
                        <a:lstStyle/>
                        <a:p>
                          <a:pPr algn="ctr">
                            <a:lnSpc>
                              <a:spcPct val="115000"/>
                            </a:lnSpc>
                            <a:spcAft>
                              <a:spcPts val="800"/>
                            </a:spcAft>
                            <a:buNone/>
                          </a:pPr>
                          <a:r>
                            <a:rPr lang="en-US" sz="900" kern="0">
                              <a:effectLst/>
                            </a:rPr>
                            <a:t>Bubble Sort</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14:m>
                            <m:oMath xmlns:m="http://schemas.openxmlformats.org/officeDocument/2006/math">
                              <m:r>
                                <a:rPr lang="zh-CN" altLang="en-US" sz="900" kern="0">
                                  <a:effectLst/>
                                  <a:latin typeface="Cambria Math" panose="02040503050406030204" pitchFamily="18" charset="0"/>
                                </a:rPr>
                                <m:t>𝑂</m:t>
                              </m:r>
                              <m:r>
                                <a:rPr lang="en-US" altLang="zh-CN" sz="900" kern="0">
                                  <a:effectLst/>
                                  <a:latin typeface="Cambria Math" panose="02040503050406030204" pitchFamily="18" charset="0"/>
                                </a:rPr>
                                <m:t>(</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m:t>
                              </m:r>
                            </m:oMath>
                          </a14:m>
                          <a:r>
                            <a:rPr lang="en-US" sz="900" kern="0">
                              <a:effectLst/>
                            </a:rPr>
                            <a:t> with early termination</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zh-CN" altLang="en-US" sz="900" kern="0">
                                    <a:effectLst/>
                                    <a:latin typeface="Cambria Math" panose="02040503050406030204" pitchFamily="18" charset="0"/>
                                  </a:rPr>
                                  <m:t>𝑂</m:t>
                                </m:r>
                                <m:r>
                                  <a:rPr lang="en-US" altLang="zh-CN" sz="900" kern="0">
                                    <a:effectLst/>
                                    <a:latin typeface="Cambria Math" panose="02040503050406030204" pitchFamily="18" charset="0"/>
                                  </a:rPr>
                                  <m:t>(</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²)</m:t>
                                </m:r>
                              </m:oMath>
                            </m:oMathPara>
                          </a14:m>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zh-CN" altLang="en-US" sz="900" kern="0">
                                    <a:effectLst/>
                                    <a:latin typeface="Cambria Math" panose="02040503050406030204" pitchFamily="18" charset="0"/>
                                  </a:rPr>
                                  <m:t>𝑂</m:t>
                                </m:r>
                                <m:r>
                                  <a:rPr lang="en-US" altLang="zh-CN" sz="900" kern="0">
                                    <a:effectLst/>
                                    <a:latin typeface="Cambria Math" panose="02040503050406030204" pitchFamily="18" charset="0"/>
                                  </a:rPr>
                                  <m:t>(</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²)</m:t>
                                </m:r>
                              </m:oMath>
                            </m:oMathPara>
                          </a14:m>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zh-CN" altLang="en-US" sz="900" kern="0">
                                    <a:effectLst/>
                                    <a:latin typeface="Cambria Math" panose="02040503050406030204" pitchFamily="18" charset="0"/>
                                  </a:rPr>
                                  <m:t>𝑂</m:t>
                                </m:r>
                                <m:r>
                                  <a:rPr lang="en-US" altLang="zh-CN" sz="900" kern="0">
                                    <a:effectLst/>
                                    <a:latin typeface="Cambria Math" panose="02040503050406030204" pitchFamily="18" charset="0"/>
                                  </a:rPr>
                                  <m:t>(1)</m:t>
                                </m:r>
                              </m:oMath>
                            </m:oMathPara>
                          </a14:m>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3545041822"/>
                      </a:ext>
                    </a:extLst>
                  </a:tr>
                  <a:tr h="604949">
                    <a:tc>
                      <a:txBody>
                        <a:bodyPr/>
                        <a:lstStyle/>
                        <a:p>
                          <a:pPr algn="ctr">
                            <a:lnSpc>
                              <a:spcPct val="115000"/>
                            </a:lnSpc>
                            <a:spcAft>
                              <a:spcPts val="800"/>
                            </a:spcAft>
                            <a:buNone/>
                          </a:pPr>
                          <a:r>
                            <a:rPr lang="en-US" sz="900" kern="0">
                              <a:effectLst/>
                            </a:rPr>
                            <a:t>Insertion Sort</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zh-CN" altLang="en-US" sz="900" kern="0">
                                    <a:effectLst/>
                                    <a:latin typeface="Cambria Math" panose="02040503050406030204" pitchFamily="18" charset="0"/>
                                  </a:rPr>
                                  <m:t>𝑂</m:t>
                                </m:r>
                                <m:r>
                                  <a:rPr lang="en-US" altLang="zh-CN" sz="900" kern="0">
                                    <a:effectLst/>
                                    <a:latin typeface="Cambria Math" panose="02040503050406030204" pitchFamily="18" charset="0"/>
                                  </a:rPr>
                                  <m:t>(</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m:t>
                                </m:r>
                              </m:oMath>
                            </m:oMathPara>
                          </a14:m>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zh-CN" altLang="en-US" sz="900" kern="0">
                                    <a:effectLst/>
                                    <a:latin typeface="Cambria Math" panose="02040503050406030204" pitchFamily="18" charset="0"/>
                                  </a:rPr>
                                  <m:t>𝑂</m:t>
                                </m:r>
                                <m:r>
                                  <a:rPr lang="en-US" altLang="zh-CN" sz="900" kern="0">
                                    <a:effectLst/>
                                    <a:latin typeface="Cambria Math" panose="02040503050406030204" pitchFamily="18" charset="0"/>
                                  </a:rPr>
                                  <m:t>(</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²)</m:t>
                                </m:r>
                              </m:oMath>
                            </m:oMathPara>
                          </a14:m>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zh-CN" altLang="en-US" sz="900" kern="0">
                                    <a:effectLst/>
                                    <a:latin typeface="Cambria Math" panose="02040503050406030204" pitchFamily="18" charset="0"/>
                                  </a:rPr>
                                  <m:t>𝑂</m:t>
                                </m:r>
                                <m:r>
                                  <a:rPr lang="en-US" altLang="zh-CN" sz="900" kern="0">
                                    <a:effectLst/>
                                    <a:latin typeface="Cambria Math" panose="02040503050406030204" pitchFamily="18" charset="0"/>
                                  </a:rPr>
                                  <m:t>(</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²)</m:t>
                                </m:r>
                              </m:oMath>
                            </m:oMathPara>
                          </a14:m>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zh-CN" altLang="en-US" sz="900" kern="0">
                                    <a:effectLst/>
                                    <a:latin typeface="Cambria Math" panose="02040503050406030204" pitchFamily="18" charset="0"/>
                                  </a:rPr>
                                  <m:t>𝑂</m:t>
                                </m:r>
                                <m:r>
                                  <a:rPr lang="en-US" altLang="zh-CN" sz="900" kern="0">
                                    <a:effectLst/>
                                    <a:latin typeface="Cambria Math" panose="02040503050406030204" pitchFamily="18" charset="0"/>
                                  </a:rPr>
                                  <m:t>(1)</m:t>
                                </m:r>
                              </m:oMath>
                            </m:oMathPara>
                          </a14:m>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1029882829"/>
                      </a:ext>
                    </a:extLst>
                  </a:tr>
                  <a:tr h="954085">
                    <a:tc>
                      <a:txBody>
                        <a:bodyPr/>
                        <a:lstStyle/>
                        <a:p>
                          <a:pPr algn="ctr">
                            <a:lnSpc>
                              <a:spcPct val="115000"/>
                            </a:lnSpc>
                            <a:spcAft>
                              <a:spcPts val="800"/>
                            </a:spcAft>
                            <a:buNone/>
                          </a:pPr>
                          <a:r>
                            <a:rPr lang="en-US" sz="900" kern="0">
                              <a:effectLst/>
                            </a:rPr>
                            <a:t>Quick Sort</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zh-CN" altLang="en-US" sz="900" kern="0">
                                    <a:effectLst/>
                                    <a:latin typeface="Cambria Math" panose="02040503050406030204" pitchFamily="18" charset="0"/>
                                  </a:rPr>
                                  <m:t>𝑂</m:t>
                                </m:r>
                                <m:r>
                                  <a:rPr lang="en-US" altLang="zh-CN" sz="900" kern="0">
                                    <a:effectLst/>
                                    <a:latin typeface="Cambria Math" panose="02040503050406030204" pitchFamily="18" charset="0"/>
                                  </a:rPr>
                                  <m:t>(</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 </m:t>
                                </m:r>
                                <m:r>
                                  <a:rPr lang="en-US" altLang="zh-CN" sz="900" kern="0">
                                    <a:effectLst/>
                                    <a:latin typeface="Cambria Math" panose="02040503050406030204" pitchFamily="18" charset="0"/>
                                  </a:rPr>
                                  <m:t>𝑙𝑜𝑔</m:t>
                                </m:r>
                                <m:r>
                                  <a:rPr lang="en-US" altLang="zh-CN" sz="900" kern="0">
                                    <a:effectLst/>
                                    <a:latin typeface="Cambria Math" panose="02040503050406030204" pitchFamily="18" charset="0"/>
                                  </a:rPr>
                                  <m:t> </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m:t>
                                </m:r>
                              </m:oMath>
                            </m:oMathPara>
                          </a14:m>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zh-CN" altLang="en-US" sz="900" kern="0">
                                    <a:effectLst/>
                                    <a:latin typeface="Cambria Math" panose="02040503050406030204" pitchFamily="18" charset="0"/>
                                  </a:rPr>
                                  <m:t>𝑂</m:t>
                                </m:r>
                                <m:r>
                                  <a:rPr lang="en-US" altLang="zh-CN" sz="900" kern="0">
                                    <a:effectLst/>
                                    <a:latin typeface="Cambria Math" panose="02040503050406030204" pitchFamily="18" charset="0"/>
                                  </a:rPr>
                                  <m:t>(</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 </m:t>
                                </m:r>
                                <m:r>
                                  <a:rPr lang="en-US" altLang="zh-CN" sz="900" kern="0">
                                    <a:effectLst/>
                                    <a:latin typeface="Cambria Math" panose="02040503050406030204" pitchFamily="18" charset="0"/>
                                  </a:rPr>
                                  <m:t>𝑙𝑜𝑔</m:t>
                                </m:r>
                                <m:r>
                                  <a:rPr lang="en-US" altLang="zh-CN" sz="900" kern="0">
                                    <a:effectLst/>
                                    <a:latin typeface="Cambria Math" panose="02040503050406030204" pitchFamily="18" charset="0"/>
                                  </a:rPr>
                                  <m:t> </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m:t>
                                </m:r>
                              </m:oMath>
                            </m:oMathPara>
                          </a14:m>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zh-CN" altLang="en-US" sz="900" kern="0">
                                    <a:effectLst/>
                                    <a:latin typeface="Cambria Math" panose="02040503050406030204" pitchFamily="18" charset="0"/>
                                  </a:rPr>
                                  <m:t>𝑂</m:t>
                                </m:r>
                                <m:r>
                                  <a:rPr lang="en-US" altLang="zh-CN" sz="900" kern="0">
                                    <a:effectLst/>
                                    <a:latin typeface="Cambria Math" panose="02040503050406030204" pitchFamily="18" charset="0"/>
                                  </a:rPr>
                                  <m:t>(</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²)</m:t>
                                </m:r>
                              </m:oMath>
                            </m:oMathPara>
                          </a14:m>
                          <a:endParaRPr lang="zh-CN" sz="11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zh-CN" altLang="en-US" sz="900" kern="0">
                                    <a:effectLst/>
                                    <a:latin typeface="Cambria Math" panose="02040503050406030204" pitchFamily="18" charset="0"/>
                                  </a:rPr>
                                  <m:t>𝑂</m:t>
                                </m:r>
                                <m:r>
                                  <a:rPr lang="en-US" altLang="zh-CN" sz="900" kern="0">
                                    <a:effectLst/>
                                    <a:latin typeface="Cambria Math" panose="02040503050406030204" pitchFamily="18" charset="0"/>
                                  </a:rPr>
                                  <m:t>(</m:t>
                                </m:r>
                                <m:r>
                                  <a:rPr lang="en-US" altLang="zh-CN" sz="900" kern="0">
                                    <a:effectLst/>
                                    <a:latin typeface="Cambria Math" panose="02040503050406030204" pitchFamily="18" charset="0"/>
                                  </a:rPr>
                                  <m:t>𝑙𝑜𝑔</m:t>
                                </m:r>
                                <m:r>
                                  <a:rPr lang="en-US" altLang="zh-CN" sz="900" kern="0">
                                    <a:effectLst/>
                                    <a:latin typeface="Cambria Math" panose="02040503050406030204" pitchFamily="18" charset="0"/>
                                  </a:rPr>
                                  <m:t> </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m:t>
                                </m:r>
                              </m:oMath>
                            </m:oMathPara>
                          </a14:m>
                          <a:endParaRPr lang="zh-CN" sz="1100" kern="100" dirty="0">
                            <a:effectLst/>
                          </a:endParaRPr>
                        </a:p>
                        <a:p>
                          <a:pPr indent="57150" algn="ctr">
                            <a:lnSpc>
                              <a:spcPct val="115000"/>
                            </a:lnSpc>
                            <a:spcAft>
                              <a:spcPts val="800"/>
                            </a:spcAft>
                            <a:buNone/>
                          </a:pPr>
                          <a:r>
                            <a:rPr lang="en-US" sz="900" kern="0" dirty="0">
                              <a:effectLst/>
                            </a:rPr>
                            <a:t>average</a:t>
                          </a:r>
                          <a:endParaRPr lang="zh-CN" sz="11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848920877"/>
                      </a:ext>
                    </a:extLst>
                  </a:tr>
                  <a:tr h="604949">
                    <a:tc>
                      <a:txBody>
                        <a:bodyPr/>
                        <a:lstStyle/>
                        <a:p>
                          <a:pPr algn="ctr">
                            <a:lnSpc>
                              <a:spcPct val="115000"/>
                            </a:lnSpc>
                            <a:spcAft>
                              <a:spcPts val="800"/>
                            </a:spcAft>
                            <a:buNone/>
                          </a:pPr>
                          <a:r>
                            <a:rPr lang="en-US" sz="900" kern="0">
                              <a:effectLst/>
                            </a:rPr>
                            <a:t>Merge Sort</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zh-CN" altLang="en-US" sz="900" kern="0">
                                    <a:effectLst/>
                                    <a:latin typeface="Cambria Math" panose="02040503050406030204" pitchFamily="18" charset="0"/>
                                  </a:rPr>
                                  <m:t>𝑂</m:t>
                                </m:r>
                                <m:r>
                                  <a:rPr lang="en-US" altLang="zh-CN" sz="900" kern="0">
                                    <a:effectLst/>
                                    <a:latin typeface="Cambria Math" panose="02040503050406030204" pitchFamily="18" charset="0"/>
                                  </a:rPr>
                                  <m:t>(</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 </m:t>
                                </m:r>
                                <m:r>
                                  <a:rPr lang="en-US" altLang="zh-CN" sz="900" kern="0">
                                    <a:effectLst/>
                                    <a:latin typeface="Cambria Math" panose="02040503050406030204" pitchFamily="18" charset="0"/>
                                  </a:rPr>
                                  <m:t>𝑙𝑜𝑔</m:t>
                                </m:r>
                                <m:r>
                                  <a:rPr lang="en-US" altLang="zh-CN" sz="900" kern="0">
                                    <a:effectLst/>
                                    <a:latin typeface="Cambria Math" panose="02040503050406030204" pitchFamily="18" charset="0"/>
                                  </a:rPr>
                                  <m:t> </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m:t>
                                </m:r>
                              </m:oMath>
                            </m:oMathPara>
                          </a14:m>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zh-CN" altLang="en-US" sz="900" kern="0">
                                    <a:effectLst/>
                                    <a:latin typeface="Cambria Math" panose="02040503050406030204" pitchFamily="18" charset="0"/>
                                  </a:rPr>
                                  <m:t>𝑂</m:t>
                                </m:r>
                                <m:r>
                                  <a:rPr lang="en-US" altLang="zh-CN" sz="900" kern="0">
                                    <a:effectLst/>
                                    <a:latin typeface="Cambria Math" panose="02040503050406030204" pitchFamily="18" charset="0"/>
                                  </a:rPr>
                                  <m:t>(</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 </m:t>
                                </m:r>
                                <m:r>
                                  <a:rPr lang="en-US" altLang="zh-CN" sz="900" kern="0">
                                    <a:effectLst/>
                                    <a:latin typeface="Cambria Math" panose="02040503050406030204" pitchFamily="18" charset="0"/>
                                  </a:rPr>
                                  <m:t>𝑙𝑜𝑔</m:t>
                                </m:r>
                                <m:r>
                                  <a:rPr lang="en-US" altLang="zh-CN" sz="900" kern="0">
                                    <a:effectLst/>
                                    <a:latin typeface="Cambria Math" panose="02040503050406030204" pitchFamily="18" charset="0"/>
                                  </a:rPr>
                                  <m:t> </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m:t>
                                </m:r>
                              </m:oMath>
                            </m:oMathPara>
                          </a14:m>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zh-CN" altLang="en-US" sz="900" kern="0">
                                    <a:effectLst/>
                                    <a:latin typeface="Cambria Math" panose="02040503050406030204" pitchFamily="18" charset="0"/>
                                  </a:rPr>
                                  <m:t>𝑂</m:t>
                                </m:r>
                                <m:r>
                                  <a:rPr lang="en-US" altLang="zh-CN" sz="900" kern="0">
                                    <a:effectLst/>
                                    <a:latin typeface="Cambria Math" panose="02040503050406030204" pitchFamily="18" charset="0"/>
                                  </a:rPr>
                                  <m:t>(</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 </m:t>
                                </m:r>
                                <m:r>
                                  <a:rPr lang="en-US" altLang="zh-CN" sz="900" kern="0">
                                    <a:effectLst/>
                                    <a:latin typeface="Cambria Math" panose="02040503050406030204" pitchFamily="18" charset="0"/>
                                  </a:rPr>
                                  <m:t>𝑙𝑜𝑔</m:t>
                                </m:r>
                                <m:r>
                                  <a:rPr lang="en-US" altLang="zh-CN" sz="900" kern="0">
                                    <a:effectLst/>
                                    <a:latin typeface="Cambria Math" panose="02040503050406030204" pitchFamily="18" charset="0"/>
                                  </a:rPr>
                                  <m:t> </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m:t>
                                </m:r>
                              </m:oMath>
                            </m:oMathPara>
                          </a14:m>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zh-CN" altLang="en-US" sz="900" kern="0">
                                    <a:effectLst/>
                                    <a:latin typeface="Cambria Math" panose="02040503050406030204" pitchFamily="18" charset="0"/>
                                  </a:rPr>
                                  <m:t>𝑂</m:t>
                                </m:r>
                                <m:r>
                                  <a:rPr lang="en-US" altLang="zh-CN" sz="900" kern="0">
                                    <a:effectLst/>
                                    <a:latin typeface="Cambria Math" panose="02040503050406030204" pitchFamily="18" charset="0"/>
                                  </a:rPr>
                                  <m:t>(</m:t>
                                </m:r>
                                <m:r>
                                  <a:rPr lang="en-US" altLang="zh-CN" sz="900" kern="0">
                                    <a:effectLst/>
                                    <a:latin typeface="Cambria Math" panose="02040503050406030204" pitchFamily="18" charset="0"/>
                                  </a:rPr>
                                  <m:t>𝑛</m:t>
                                </m:r>
                                <m:r>
                                  <a:rPr lang="en-US" altLang="zh-CN" sz="900" kern="0">
                                    <a:effectLst/>
                                    <a:latin typeface="Cambria Math" panose="02040503050406030204" pitchFamily="18" charset="0"/>
                                  </a:rPr>
                                  <m:t>)</m:t>
                                </m:r>
                              </m:oMath>
                            </m:oMathPara>
                          </a14:m>
                          <a:endParaRPr lang="zh-CN" sz="11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2523748132"/>
                      </a:ext>
                    </a:extLst>
                  </a:tr>
                </a:tbl>
              </a:graphicData>
            </a:graphic>
          </p:graphicFrame>
        </mc:Choice>
        <mc:Fallback xmlns="">
          <p:graphicFrame>
            <p:nvGraphicFramePr>
              <p:cNvPr id="9" name="表格 8">
                <a:extLst>
                  <a:ext uri="{FF2B5EF4-FFF2-40B4-BE49-F238E27FC236}">
                    <a16:creationId xmlns:a16="http://schemas.microsoft.com/office/drawing/2014/main" id="{FB1B418B-718C-BF70-AC69-C1308155CE39}"/>
                  </a:ext>
                </a:extLst>
              </p:cNvPr>
              <p:cNvGraphicFramePr>
                <a:graphicFrameLocks noGrp="1"/>
              </p:cNvGraphicFramePr>
              <p:nvPr>
                <p:extLst>
                  <p:ext uri="{D42A27DB-BD31-4B8C-83A1-F6EECF244321}">
                    <p14:modId xmlns:p14="http://schemas.microsoft.com/office/powerpoint/2010/main" val="2114608918"/>
                  </p:ext>
                </p:extLst>
              </p:nvPr>
            </p:nvGraphicFramePr>
            <p:xfrm>
              <a:off x="685800" y="1888250"/>
              <a:ext cx="10115549" cy="3598147"/>
            </p:xfrm>
            <a:graphic>
              <a:graphicData uri="http://schemas.openxmlformats.org/drawingml/2006/table">
                <a:tbl>
                  <a:tblPr>
                    <a:tableStyleId>{5C22544A-7EE6-4342-B048-85BDC9FD1C3A}</a:tableStyleId>
                  </a:tblPr>
                  <a:tblGrid>
                    <a:gridCol w="2001171">
                      <a:extLst>
                        <a:ext uri="{9D8B030D-6E8A-4147-A177-3AD203B41FA5}">
                          <a16:colId xmlns:a16="http://schemas.microsoft.com/office/drawing/2014/main" val="3153229955"/>
                        </a:ext>
                      </a:extLst>
                    </a:gridCol>
                    <a:gridCol w="2311454">
                      <a:extLst>
                        <a:ext uri="{9D8B030D-6E8A-4147-A177-3AD203B41FA5}">
                          <a16:colId xmlns:a16="http://schemas.microsoft.com/office/drawing/2014/main" val="2119620451"/>
                        </a:ext>
                      </a:extLst>
                    </a:gridCol>
                    <a:gridCol w="1933785">
                      <a:extLst>
                        <a:ext uri="{9D8B030D-6E8A-4147-A177-3AD203B41FA5}">
                          <a16:colId xmlns:a16="http://schemas.microsoft.com/office/drawing/2014/main" val="2482315656"/>
                        </a:ext>
                      </a:extLst>
                    </a:gridCol>
                    <a:gridCol w="1935354">
                      <a:extLst>
                        <a:ext uri="{9D8B030D-6E8A-4147-A177-3AD203B41FA5}">
                          <a16:colId xmlns:a16="http://schemas.microsoft.com/office/drawing/2014/main" val="815525445"/>
                        </a:ext>
                      </a:extLst>
                    </a:gridCol>
                    <a:gridCol w="1933785">
                      <a:extLst>
                        <a:ext uri="{9D8B030D-6E8A-4147-A177-3AD203B41FA5}">
                          <a16:colId xmlns:a16="http://schemas.microsoft.com/office/drawing/2014/main" val="2474322812"/>
                        </a:ext>
                      </a:extLst>
                    </a:gridCol>
                  </a:tblGrid>
                  <a:tr h="717082">
                    <a:tc>
                      <a:txBody>
                        <a:bodyPr/>
                        <a:lstStyle/>
                        <a:p>
                          <a:pPr algn="ctr">
                            <a:lnSpc>
                              <a:spcPct val="115000"/>
                            </a:lnSpc>
                            <a:spcAft>
                              <a:spcPts val="800"/>
                            </a:spcAft>
                            <a:buNone/>
                          </a:pPr>
                          <a:r>
                            <a:rPr lang="en-US" sz="900" kern="0">
                              <a:effectLst/>
                            </a:rPr>
                            <a:t>Algorithm</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r>
                            <a:rPr lang="en-US" sz="900" kern="0">
                              <a:effectLst/>
                            </a:rPr>
                            <a:t>Best Time Complexity</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r>
                            <a:rPr lang="en-US" sz="900" kern="0">
                              <a:effectLst/>
                            </a:rPr>
                            <a:t>Average Time Complexity</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r>
                            <a:rPr lang="en-US" sz="900" kern="0">
                              <a:effectLst/>
                            </a:rPr>
                            <a:t>Worst Time Complexity</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lnSpc>
                              <a:spcPct val="115000"/>
                            </a:lnSpc>
                            <a:spcAft>
                              <a:spcPts val="800"/>
                            </a:spcAft>
                            <a:buNone/>
                          </a:pPr>
                          <a:r>
                            <a:rPr lang="en-US" sz="900" kern="0">
                              <a:effectLst/>
                            </a:rPr>
                            <a:t>Extra Space Complexity</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714319791"/>
                      </a:ext>
                    </a:extLst>
                  </a:tr>
                  <a:tr h="717082">
                    <a:tc>
                      <a:txBody>
                        <a:bodyPr/>
                        <a:lstStyle/>
                        <a:p>
                          <a:pPr algn="ctr">
                            <a:lnSpc>
                              <a:spcPct val="115000"/>
                            </a:lnSpc>
                            <a:spcAft>
                              <a:spcPts val="800"/>
                            </a:spcAft>
                            <a:buNone/>
                          </a:pPr>
                          <a:r>
                            <a:rPr lang="en-US" sz="900" kern="0">
                              <a:effectLst/>
                            </a:rPr>
                            <a:t>Bubble Sort</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endParaRPr lang="zh-CN"/>
                        </a:p>
                      </a:txBody>
                      <a:tcPr marL="68580" marR="68580" marT="0" marB="0" anchor="ctr">
                        <a:blipFill>
                          <a:blip r:embed="rId5"/>
                          <a:stretch>
                            <a:fillRect l="-87363" t="-103571" r="-251648" b="-308929"/>
                          </a:stretch>
                        </a:blipFill>
                      </a:tcPr>
                    </a:tc>
                    <a:tc>
                      <a:txBody>
                        <a:bodyPr/>
                        <a:lstStyle/>
                        <a:p>
                          <a:endParaRPr lang="zh-CN"/>
                        </a:p>
                      </a:txBody>
                      <a:tcPr marL="68580" marR="68580" marT="0" marB="0" anchor="ctr">
                        <a:blipFill>
                          <a:blip r:embed="rId5"/>
                          <a:stretch>
                            <a:fillRect l="-224342" t="-103571" r="-201316" b="-308929"/>
                          </a:stretch>
                        </a:blipFill>
                      </a:tcPr>
                    </a:tc>
                    <a:tc>
                      <a:txBody>
                        <a:bodyPr/>
                        <a:lstStyle/>
                        <a:p>
                          <a:endParaRPr lang="zh-CN"/>
                        </a:p>
                      </a:txBody>
                      <a:tcPr marL="68580" marR="68580" marT="0" marB="0" anchor="ctr">
                        <a:blipFill>
                          <a:blip r:embed="rId5"/>
                          <a:stretch>
                            <a:fillRect l="-322222" t="-103571" r="-100000" b="-308929"/>
                          </a:stretch>
                        </a:blipFill>
                      </a:tcPr>
                    </a:tc>
                    <a:tc>
                      <a:txBody>
                        <a:bodyPr/>
                        <a:lstStyle/>
                        <a:p>
                          <a:endParaRPr lang="zh-CN"/>
                        </a:p>
                      </a:txBody>
                      <a:tcPr marL="68580" marR="68580" marT="0" marB="0" anchor="ctr">
                        <a:blipFill>
                          <a:blip r:embed="rId5"/>
                          <a:stretch>
                            <a:fillRect l="-425000" t="-103571" r="-658" b="-308929"/>
                          </a:stretch>
                        </a:blipFill>
                      </a:tcPr>
                    </a:tc>
                    <a:extLst>
                      <a:ext uri="{0D108BD9-81ED-4DB2-BD59-A6C34878D82A}">
                        <a16:rowId xmlns:a16="http://schemas.microsoft.com/office/drawing/2014/main" val="3545041822"/>
                      </a:ext>
                    </a:extLst>
                  </a:tr>
                  <a:tr h="604949">
                    <a:tc>
                      <a:txBody>
                        <a:bodyPr/>
                        <a:lstStyle/>
                        <a:p>
                          <a:pPr algn="ctr">
                            <a:lnSpc>
                              <a:spcPct val="115000"/>
                            </a:lnSpc>
                            <a:spcAft>
                              <a:spcPts val="800"/>
                            </a:spcAft>
                            <a:buNone/>
                          </a:pPr>
                          <a:r>
                            <a:rPr lang="en-US" sz="900" kern="0">
                              <a:effectLst/>
                            </a:rPr>
                            <a:t>Insertion Sort</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endParaRPr lang="zh-CN"/>
                        </a:p>
                      </a:txBody>
                      <a:tcPr marL="68580" marR="68580" marT="0" marB="0" anchor="ctr">
                        <a:blipFill>
                          <a:blip r:embed="rId5"/>
                          <a:stretch>
                            <a:fillRect l="-87363" t="-237500" r="-251648" b="-260417"/>
                          </a:stretch>
                        </a:blipFill>
                      </a:tcPr>
                    </a:tc>
                    <a:tc>
                      <a:txBody>
                        <a:bodyPr/>
                        <a:lstStyle/>
                        <a:p>
                          <a:endParaRPr lang="zh-CN"/>
                        </a:p>
                      </a:txBody>
                      <a:tcPr marL="68580" marR="68580" marT="0" marB="0" anchor="ctr">
                        <a:blipFill>
                          <a:blip r:embed="rId5"/>
                          <a:stretch>
                            <a:fillRect l="-224342" t="-237500" r="-201316" b="-260417"/>
                          </a:stretch>
                        </a:blipFill>
                      </a:tcPr>
                    </a:tc>
                    <a:tc>
                      <a:txBody>
                        <a:bodyPr/>
                        <a:lstStyle/>
                        <a:p>
                          <a:endParaRPr lang="zh-CN"/>
                        </a:p>
                      </a:txBody>
                      <a:tcPr marL="68580" marR="68580" marT="0" marB="0" anchor="ctr">
                        <a:blipFill>
                          <a:blip r:embed="rId5"/>
                          <a:stretch>
                            <a:fillRect l="-322222" t="-237500" r="-100000" b="-260417"/>
                          </a:stretch>
                        </a:blipFill>
                      </a:tcPr>
                    </a:tc>
                    <a:tc>
                      <a:txBody>
                        <a:bodyPr/>
                        <a:lstStyle/>
                        <a:p>
                          <a:endParaRPr lang="zh-CN"/>
                        </a:p>
                      </a:txBody>
                      <a:tcPr marL="68580" marR="68580" marT="0" marB="0" anchor="ctr">
                        <a:blipFill>
                          <a:blip r:embed="rId5"/>
                          <a:stretch>
                            <a:fillRect l="-425000" t="-237500" r="-658" b="-260417"/>
                          </a:stretch>
                        </a:blipFill>
                      </a:tcPr>
                    </a:tc>
                    <a:extLst>
                      <a:ext uri="{0D108BD9-81ED-4DB2-BD59-A6C34878D82A}">
                        <a16:rowId xmlns:a16="http://schemas.microsoft.com/office/drawing/2014/main" val="1029882829"/>
                      </a:ext>
                    </a:extLst>
                  </a:tr>
                  <a:tr h="954085">
                    <a:tc>
                      <a:txBody>
                        <a:bodyPr/>
                        <a:lstStyle/>
                        <a:p>
                          <a:pPr algn="ctr">
                            <a:lnSpc>
                              <a:spcPct val="115000"/>
                            </a:lnSpc>
                            <a:spcAft>
                              <a:spcPts val="800"/>
                            </a:spcAft>
                            <a:buNone/>
                          </a:pPr>
                          <a:r>
                            <a:rPr lang="en-US" sz="900" kern="0">
                              <a:effectLst/>
                            </a:rPr>
                            <a:t>Quick Sort</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endParaRPr lang="zh-CN"/>
                        </a:p>
                      </a:txBody>
                      <a:tcPr marL="68580" marR="68580" marT="0" marB="0" anchor="ctr">
                        <a:blipFill>
                          <a:blip r:embed="rId5"/>
                          <a:stretch>
                            <a:fillRect l="-87363" t="-216000" r="-251648" b="-66667"/>
                          </a:stretch>
                        </a:blipFill>
                      </a:tcPr>
                    </a:tc>
                    <a:tc>
                      <a:txBody>
                        <a:bodyPr/>
                        <a:lstStyle/>
                        <a:p>
                          <a:endParaRPr lang="zh-CN"/>
                        </a:p>
                      </a:txBody>
                      <a:tcPr marL="68580" marR="68580" marT="0" marB="0" anchor="ctr">
                        <a:blipFill>
                          <a:blip r:embed="rId5"/>
                          <a:stretch>
                            <a:fillRect l="-224342" t="-216000" r="-201316" b="-66667"/>
                          </a:stretch>
                        </a:blipFill>
                      </a:tcPr>
                    </a:tc>
                    <a:tc>
                      <a:txBody>
                        <a:bodyPr/>
                        <a:lstStyle/>
                        <a:p>
                          <a:endParaRPr lang="zh-CN"/>
                        </a:p>
                      </a:txBody>
                      <a:tcPr marL="68580" marR="68580" marT="0" marB="0" anchor="ctr">
                        <a:blipFill>
                          <a:blip r:embed="rId5"/>
                          <a:stretch>
                            <a:fillRect l="-322222" t="-216000" r="-100000" b="-66667"/>
                          </a:stretch>
                        </a:blipFill>
                      </a:tcPr>
                    </a:tc>
                    <a:tc>
                      <a:txBody>
                        <a:bodyPr/>
                        <a:lstStyle/>
                        <a:p>
                          <a:endParaRPr lang="zh-CN"/>
                        </a:p>
                      </a:txBody>
                      <a:tcPr marL="68580" marR="68580" marT="0" marB="0" anchor="ctr">
                        <a:blipFill>
                          <a:blip r:embed="rId5"/>
                          <a:stretch>
                            <a:fillRect l="-425000" t="-216000" r="-658" b="-66667"/>
                          </a:stretch>
                        </a:blipFill>
                      </a:tcPr>
                    </a:tc>
                    <a:extLst>
                      <a:ext uri="{0D108BD9-81ED-4DB2-BD59-A6C34878D82A}">
                        <a16:rowId xmlns:a16="http://schemas.microsoft.com/office/drawing/2014/main" val="848920877"/>
                      </a:ext>
                    </a:extLst>
                  </a:tr>
                  <a:tr h="604949">
                    <a:tc>
                      <a:txBody>
                        <a:bodyPr/>
                        <a:lstStyle/>
                        <a:p>
                          <a:pPr algn="ctr">
                            <a:lnSpc>
                              <a:spcPct val="115000"/>
                            </a:lnSpc>
                            <a:spcAft>
                              <a:spcPts val="800"/>
                            </a:spcAft>
                            <a:buNone/>
                          </a:pPr>
                          <a:r>
                            <a:rPr lang="en-US" sz="900" kern="0">
                              <a:effectLst/>
                            </a:rPr>
                            <a:t>Merge Sort</a:t>
                          </a:r>
                          <a:endParaRPr lang="zh-CN" sz="11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solidFill>
                          <a:schemeClr val="bg1">
                            <a:lumMod val="95000"/>
                          </a:schemeClr>
                        </a:solidFill>
                      </a:tcPr>
                    </a:tc>
                    <a:tc>
                      <a:txBody>
                        <a:bodyPr/>
                        <a:lstStyle/>
                        <a:p>
                          <a:endParaRPr lang="zh-CN"/>
                        </a:p>
                      </a:txBody>
                      <a:tcPr marL="68580" marR="68580" marT="0" marB="0" anchor="ctr">
                        <a:blipFill>
                          <a:blip r:embed="rId5"/>
                          <a:stretch>
                            <a:fillRect l="-87363" t="-493750" r="-251648" b="-4167"/>
                          </a:stretch>
                        </a:blipFill>
                      </a:tcPr>
                    </a:tc>
                    <a:tc>
                      <a:txBody>
                        <a:bodyPr/>
                        <a:lstStyle/>
                        <a:p>
                          <a:endParaRPr lang="zh-CN"/>
                        </a:p>
                      </a:txBody>
                      <a:tcPr marL="68580" marR="68580" marT="0" marB="0" anchor="ctr">
                        <a:blipFill>
                          <a:blip r:embed="rId5"/>
                          <a:stretch>
                            <a:fillRect l="-224342" t="-493750" r="-201316" b="-4167"/>
                          </a:stretch>
                        </a:blipFill>
                      </a:tcPr>
                    </a:tc>
                    <a:tc>
                      <a:txBody>
                        <a:bodyPr/>
                        <a:lstStyle/>
                        <a:p>
                          <a:endParaRPr lang="zh-CN"/>
                        </a:p>
                      </a:txBody>
                      <a:tcPr marL="68580" marR="68580" marT="0" marB="0" anchor="ctr">
                        <a:blipFill>
                          <a:blip r:embed="rId5"/>
                          <a:stretch>
                            <a:fillRect l="-322222" t="-493750" r="-100000" b="-4167"/>
                          </a:stretch>
                        </a:blipFill>
                      </a:tcPr>
                    </a:tc>
                    <a:tc>
                      <a:txBody>
                        <a:bodyPr/>
                        <a:lstStyle/>
                        <a:p>
                          <a:endParaRPr lang="zh-CN"/>
                        </a:p>
                      </a:txBody>
                      <a:tcPr marL="68580" marR="68580" marT="0" marB="0" anchor="ctr">
                        <a:blipFill>
                          <a:blip r:embed="rId5"/>
                          <a:stretch>
                            <a:fillRect l="-425000" t="-493750" r="-658" b="-4167"/>
                          </a:stretch>
                        </a:blipFill>
                      </a:tcPr>
                    </a:tc>
                    <a:extLst>
                      <a:ext uri="{0D108BD9-81ED-4DB2-BD59-A6C34878D82A}">
                        <a16:rowId xmlns:a16="http://schemas.microsoft.com/office/drawing/2014/main" val="2523748132"/>
                      </a:ext>
                    </a:extLst>
                  </a:tr>
                </a:tbl>
              </a:graphicData>
            </a:graphic>
          </p:graphicFrame>
        </mc:Fallback>
      </mc:AlternateContent>
    </p:spTree>
    <p:extLst>
      <p:ext uri="{BB962C8B-B14F-4D97-AF65-F5344CB8AC3E}">
        <p14:creationId xmlns:p14="http://schemas.microsoft.com/office/powerpoint/2010/main" val="4092505103"/>
      </p:ext>
    </p:extLst>
  </p:cSld>
  <p:clrMapOvr>
    <a:masterClrMapping/>
  </p:clrMapOvr>
  <mc:AlternateContent xmlns:mc="http://schemas.openxmlformats.org/markup-compatibility/2006" xmlns:p14="http://schemas.microsoft.com/office/powerpoint/2010/main">
    <mc:Choice Requires="p14">
      <p:transition spd="slow" p14:dur="2000" advTm="8798"/>
    </mc:Choice>
    <mc:Fallback xmlns="">
      <p:transition spd="slow" advTm="879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Task A · benchmark results</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12</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p:cNvSpPr/>
          <p:nvPr/>
        </p:nvSpPr>
        <p:spPr>
          <a:xfrm>
            <a:off x="8412480" y="6428232"/>
            <a:ext cx="33832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Runtime results and main findings</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p:cNvSpPr/>
          <p:nvPr/>
        </p:nvSpPr>
        <p:spPr>
          <a:xfrm>
            <a:off x="685800" y="960120"/>
            <a:ext cx="676656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Sorting performance depends on dataset characteristics.</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graphicFrame>
        <p:nvGraphicFramePr>
          <p:cNvPr id="7" name="Table 0"/>
          <p:cNvGraphicFramePr>
            <a:graphicFrameLocks noGrp="1"/>
          </p:cNvGraphicFramePr>
          <p:nvPr/>
        </p:nvGraphicFramePr>
        <p:xfrm>
          <a:off x="502920" y="1900618"/>
          <a:ext cx="6583680" cy="1901952"/>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457200">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Dataset</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Bubble (ms)</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Insertion (ms)</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Quick (ms)</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Merge (ms)</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Best</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0"/>
                  </a:ext>
                </a:extLst>
              </a:tr>
              <a:tr h="457200">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A</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0.048</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0.067</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1.636</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0.201</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Bubble</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457200">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B</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1.210</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0.550</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0.028</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0.104</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Quick</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2"/>
                  </a:ext>
                </a:extLst>
              </a:tr>
              <a:tr h="457200">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C</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0.224</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0.117</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0.280</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0.160</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lgn="ctr">
                        <a:buNone/>
                      </a:pPr>
                      <a:r>
                        <a:rPr lang="en-US" sz="1500" dirty="0">
                          <a:solidFill>
                            <a:srgbClr val="2A241B"/>
                          </a:solidFill>
                          <a:latin typeface="Aptos" pitchFamily="34" charset="0"/>
                          <a:ea typeface="Aptos" pitchFamily="34" charset="-122"/>
                          <a:cs typeface="Aptos" pitchFamily="34" charset="-120"/>
                        </a:rPr>
                        <a:t>Insertion</a:t>
                      </a:r>
                      <a:endParaRPr lang="en-US" sz="150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bl>
          </a:graphicData>
        </a:graphic>
      </p:graphicFrame>
      <p:pic>
        <p:nvPicPr>
          <p:cNvPr id="11" name="图片 10">
            <a:extLst>
              <a:ext uri="{FF2B5EF4-FFF2-40B4-BE49-F238E27FC236}">
                <a16:creationId xmlns:a16="http://schemas.microsoft.com/office/drawing/2014/main" id="{3295A613-1C70-6CA4-9273-4CCB60B842D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920" y="4163243"/>
            <a:ext cx="6583680" cy="2181607"/>
          </a:xfrm>
          <a:prstGeom prst="rect">
            <a:avLst/>
          </a:prstGeom>
          <a:noFill/>
          <a:ln>
            <a:noFill/>
          </a:ln>
        </p:spPr>
      </p:pic>
      <p:sp>
        <p:nvSpPr>
          <p:cNvPr id="13" name="文本框 12">
            <a:extLst>
              <a:ext uri="{FF2B5EF4-FFF2-40B4-BE49-F238E27FC236}">
                <a16:creationId xmlns:a16="http://schemas.microsoft.com/office/drawing/2014/main" id="{62FD3C49-2B03-42C7-1951-555A9826FD6B}"/>
              </a:ext>
            </a:extLst>
          </p:cNvPr>
          <p:cNvSpPr txBox="1"/>
          <p:nvPr/>
        </p:nvSpPr>
        <p:spPr>
          <a:xfrm>
            <a:off x="7844444" y="4495518"/>
            <a:ext cx="3951316"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The boxplots visually confirm the benchmark statistics: Bubble Sort and Insertion Sort perform well on nearly sorted data, Quick Sort performs best on random data, and </a:t>
            </a:r>
            <a:r>
              <a:rPr kumimoji="0" lang="en" altLang="zh-CN" sz="1400" b="0" i="0" u="none" strike="noStrike" kern="1200" cap="none" spc="0" normalizeH="0" baseline="0" noProof="0" dirty="0">
                <a:ln>
                  <a:noFill/>
                </a:ln>
                <a:solidFill>
                  <a:prstClr val="black"/>
                </a:solidFill>
                <a:effectLst/>
                <a:highlight>
                  <a:srgbClr val="FFFF00"/>
                </a:highlight>
                <a:uLnTx/>
                <a:uFillTx/>
                <a:latin typeface="Georgia"/>
                <a:ea typeface="等线" panose="02010600030101010101" pitchFamily="2" charset="-122"/>
                <a:cs typeface="+mn-cs"/>
              </a:rPr>
              <a:t>Merge Sort shows the most balanced</a:t>
            </a:r>
            <a:r>
              <a:rPr kumimoji="0" lang="e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overall distribution across datasets, although it is not always the fastest.</a:t>
            </a:r>
            <a:endParaRPr kumimoji="0" lang="zh-CN" altLang="en-US"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
        <p:nvSpPr>
          <p:cNvPr id="17" name="文本框 16">
            <a:extLst>
              <a:ext uri="{FF2B5EF4-FFF2-40B4-BE49-F238E27FC236}">
                <a16:creationId xmlns:a16="http://schemas.microsoft.com/office/drawing/2014/main" id="{4AE8718B-322C-E11D-5BB6-C28C45B1DDA3}"/>
              </a:ext>
            </a:extLst>
          </p:cNvPr>
          <p:cNvSpPr txBox="1"/>
          <p:nvPr/>
        </p:nvSpPr>
        <p:spPr>
          <a:xfrm>
            <a:off x="7829204" y="1701030"/>
            <a:ext cx="3966556" cy="24622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The benchmark data show that different datasets favor different algorithms. </a:t>
            </a:r>
            <a:r>
              <a:rPr kumimoji="0" lang="en" altLang="zh-CN" sz="1400" b="0" i="0" u="none" strike="noStrike" kern="1200" cap="none" spc="0" normalizeH="0" baseline="0" noProof="0" dirty="0">
                <a:ln>
                  <a:noFill/>
                </a:ln>
                <a:solidFill>
                  <a:prstClr val="black"/>
                </a:solidFill>
                <a:effectLst/>
                <a:highlight>
                  <a:srgbClr val="FFFF00"/>
                </a:highlight>
                <a:uLnTx/>
                <a:uFillTx/>
                <a:latin typeface="Georgia"/>
                <a:ea typeface="等线" panose="02010600030101010101" pitchFamily="2" charset="-122"/>
                <a:cs typeface="+mn-cs"/>
              </a:rPr>
              <a:t>Bubble Sort was the fastest on Dataset A</a:t>
            </a:r>
            <a:r>
              <a:rPr kumimoji="0" lang="e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0.048 </a:t>
            </a:r>
            <a:r>
              <a:rPr kumimoji="0" lang="en" altLang="zh-CN" sz="14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ms</a:t>
            </a:r>
            <a:r>
              <a:rPr kumimoji="0" lang="e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0" lang="en" altLang="zh-CN" sz="1400" b="0" i="0" u="none" strike="noStrike" kern="1200" cap="none" spc="0" normalizeH="0" baseline="0" noProof="0" dirty="0">
                <a:ln>
                  <a:noFill/>
                </a:ln>
                <a:solidFill>
                  <a:prstClr val="black"/>
                </a:solidFill>
                <a:effectLst/>
                <a:highlight>
                  <a:srgbClr val="FFFF00"/>
                </a:highlight>
                <a:uLnTx/>
                <a:uFillTx/>
                <a:latin typeface="Georgia"/>
                <a:ea typeface="等线" panose="02010600030101010101" pitchFamily="2" charset="-122"/>
                <a:cs typeface="+mn-cs"/>
              </a:rPr>
              <a:t>Quick Sort performed best on Dataset B</a:t>
            </a:r>
            <a:r>
              <a:rPr kumimoji="0" lang="e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0.028 </a:t>
            </a:r>
            <a:r>
              <a:rPr kumimoji="0" lang="en" altLang="zh-CN" sz="14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ms</a:t>
            </a:r>
            <a:r>
              <a:rPr kumimoji="0" lang="e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with the smallest standard deviation of 0.001 </a:t>
            </a:r>
            <a:r>
              <a:rPr kumimoji="0" lang="en" altLang="zh-CN" sz="14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ms</a:t>
            </a:r>
            <a:r>
              <a:rPr kumimoji="0" lang="e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and </a:t>
            </a:r>
            <a:r>
              <a:rPr kumimoji="0" lang="en" altLang="zh-CN" sz="1400" b="0" i="0" u="none" strike="noStrike" kern="1200" cap="none" spc="0" normalizeH="0" baseline="0" noProof="0" dirty="0">
                <a:ln>
                  <a:noFill/>
                </a:ln>
                <a:solidFill>
                  <a:prstClr val="black"/>
                </a:solidFill>
                <a:effectLst/>
                <a:highlight>
                  <a:srgbClr val="FFFF00"/>
                </a:highlight>
                <a:uLnTx/>
                <a:uFillTx/>
                <a:latin typeface="Georgia"/>
                <a:ea typeface="等线" panose="02010600030101010101" pitchFamily="2" charset="-122"/>
                <a:cs typeface="+mn-cs"/>
              </a:rPr>
              <a:t>Insertion Sort achieved the best result on Dataset C </a:t>
            </a:r>
            <a:r>
              <a:rPr kumimoji="0" lang="e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at 0.117 </a:t>
            </a:r>
            <a:r>
              <a:rPr kumimoji="0" lang="en" altLang="zh-CN" sz="14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ms.</a:t>
            </a:r>
            <a:r>
              <a:rPr kumimoji="0" lang="e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Although Merge Sort was not the fastest on any single dataset, its runtimes remained relatively stable across all three datasets, making it </a:t>
            </a:r>
            <a:r>
              <a:rPr kumimoji="0" lang="en" altLang="zh-CN" sz="1400" b="0" i="0" u="none" strike="noStrike" kern="1200" cap="none" spc="0" normalizeH="0" baseline="0" noProof="0" dirty="0">
                <a:ln>
                  <a:noFill/>
                </a:ln>
                <a:solidFill>
                  <a:prstClr val="black"/>
                </a:solidFill>
                <a:effectLst/>
                <a:highlight>
                  <a:srgbClr val="FFFF00"/>
                </a:highlight>
                <a:uLnTx/>
                <a:uFillTx/>
                <a:latin typeface="Georgia"/>
                <a:ea typeface="等线" panose="02010600030101010101" pitchFamily="2" charset="-122"/>
                <a:cs typeface="+mn-cs"/>
              </a:rPr>
              <a:t>the most consistent </a:t>
            </a:r>
            <a:r>
              <a:rPr kumimoji="0" lang="en" altLang="zh-CN"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overall algorithm.</a:t>
            </a:r>
            <a:endParaRPr kumimoji="0" lang="zh-CN" altLang="en-US" sz="14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advTm="41909"/>
    </mc:Choice>
    <mc:Fallback xmlns="">
      <p:transition spd="slow" advTm="41909"/>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03CBDE72-0904-8227-6161-62041A53B65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978AA20-3CDB-FDA9-6826-BE8E968254F4}"/>
              </a:ext>
            </a:extLst>
          </p:cNvPr>
          <p:cNvSpPr/>
          <p:nvPr/>
        </p:nvSpPr>
        <p:spPr>
          <a:xfrm>
            <a:off x="502920" y="256032"/>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Task A · benchmark results</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a:extLst>
              <a:ext uri="{FF2B5EF4-FFF2-40B4-BE49-F238E27FC236}">
                <a16:creationId xmlns:a16="http://schemas.microsoft.com/office/drawing/2014/main" id="{2E890A6B-AB3A-80AC-13EC-A6C9C1325505}"/>
              </a:ext>
            </a:extLst>
          </p:cNvPr>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13</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B21CFC4B-231D-E555-273E-6B46DA4D269B}"/>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a:extLst>
              <a:ext uri="{FF2B5EF4-FFF2-40B4-BE49-F238E27FC236}">
                <a16:creationId xmlns:a16="http://schemas.microsoft.com/office/drawing/2014/main" id="{9D7AEA77-4EAC-AB4B-AA4A-2F46A76B8DAB}"/>
              </a:ext>
            </a:extLst>
          </p:cNvPr>
          <p:cNvSpPr/>
          <p:nvPr/>
        </p:nvSpPr>
        <p:spPr>
          <a:xfrm>
            <a:off x="8412480" y="6428232"/>
            <a:ext cx="33832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Runtime results and main findings</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a:extLst>
              <a:ext uri="{FF2B5EF4-FFF2-40B4-BE49-F238E27FC236}">
                <a16:creationId xmlns:a16="http://schemas.microsoft.com/office/drawing/2014/main" id="{212F43ED-F226-9804-53C6-CB54944CFB50}"/>
              </a:ext>
            </a:extLst>
          </p:cNvPr>
          <p:cNvSpPr/>
          <p:nvPr/>
        </p:nvSpPr>
        <p:spPr>
          <a:xfrm>
            <a:off x="685800" y="960120"/>
            <a:ext cx="676656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Sorting performance depends on dataset characteristics</a:t>
            </a:r>
            <a:r>
              <a:rPr kumimoji="0" lang="zh-CN" altLang="en-US" sz="24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 </a:t>
            </a:r>
            <a:r>
              <a:rPr kumimoji="0" lang="en-US" altLang="zh-CN" sz="24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——swing</a:t>
            </a:r>
            <a:r>
              <a:rPr kumimoji="0" lang="zh-CN" altLang="en-US" sz="24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 </a:t>
            </a:r>
            <a:r>
              <a:rPr kumimoji="0" lang="en-US" altLang="zh-CN" sz="24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page</a:t>
            </a:r>
            <a:r>
              <a:rPr kumimoji="0" lang="en-US" sz="24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pic>
        <p:nvPicPr>
          <p:cNvPr id="14" name="图片 13">
            <a:extLst>
              <a:ext uri="{FF2B5EF4-FFF2-40B4-BE49-F238E27FC236}">
                <a16:creationId xmlns:a16="http://schemas.microsoft.com/office/drawing/2014/main" id="{9B0B53E1-0623-A906-75B4-C60479A86235}"/>
              </a:ext>
            </a:extLst>
          </p:cNvPr>
          <p:cNvPicPr>
            <a:picLocks noChangeAspect="1"/>
          </p:cNvPicPr>
          <p:nvPr/>
        </p:nvPicPr>
        <p:blipFill>
          <a:blip r:embed="rId3"/>
          <a:stretch>
            <a:fillRect/>
          </a:stretch>
        </p:blipFill>
        <p:spPr>
          <a:xfrm>
            <a:off x="685800" y="2362646"/>
            <a:ext cx="3490415" cy="2127380"/>
          </a:xfrm>
          <a:prstGeom prst="rect">
            <a:avLst/>
          </a:prstGeom>
        </p:spPr>
      </p:pic>
      <p:pic>
        <p:nvPicPr>
          <p:cNvPr id="16" name="图片 15">
            <a:extLst>
              <a:ext uri="{FF2B5EF4-FFF2-40B4-BE49-F238E27FC236}">
                <a16:creationId xmlns:a16="http://schemas.microsoft.com/office/drawing/2014/main" id="{114895CC-1D42-F505-966C-BDBF6300A0C6}"/>
              </a:ext>
            </a:extLst>
          </p:cNvPr>
          <p:cNvPicPr>
            <a:picLocks noChangeAspect="1"/>
          </p:cNvPicPr>
          <p:nvPr/>
        </p:nvPicPr>
        <p:blipFill>
          <a:blip r:embed="rId4"/>
          <a:stretch>
            <a:fillRect/>
          </a:stretch>
        </p:blipFill>
        <p:spPr>
          <a:xfrm>
            <a:off x="8015787" y="2362646"/>
            <a:ext cx="3490415" cy="2132707"/>
          </a:xfrm>
          <a:prstGeom prst="rect">
            <a:avLst/>
          </a:prstGeom>
        </p:spPr>
      </p:pic>
      <p:pic>
        <p:nvPicPr>
          <p:cNvPr id="19" name="图片 18">
            <a:extLst>
              <a:ext uri="{FF2B5EF4-FFF2-40B4-BE49-F238E27FC236}">
                <a16:creationId xmlns:a16="http://schemas.microsoft.com/office/drawing/2014/main" id="{8928251C-B631-693F-4509-9BE777764C2B}"/>
              </a:ext>
            </a:extLst>
          </p:cNvPr>
          <p:cNvPicPr>
            <a:picLocks noChangeAspect="1"/>
          </p:cNvPicPr>
          <p:nvPr/>
        </p:nvPicPr>
        <p:blipFill>
          <a:blip r:embed="rId5"/>
          <a:stretch>
            <a:fillRect/>
          </a:stretch>
        </p:blipFill>
        <p:spPr>
          <a:xfrm>
            <a:off x="4350793" y="2367973"/>
            <a:ext cx="3490414" cy="2127380"/>
          </a:xfrm>
          <a:prstGeom prst="rect">
            <a:avLst/>
          </a:prstGeom>
        </p:spPr>
      </p:pic>
      <p:sp>
        <p:nvSpPr>
          <p:cNvPr id="22" name="Shape 4">
            <a:extLst>
              <a:ext uri="{FF2B5EF4-FFF2-40B4-BE49-F238E27FC236}">
                <a16:creationId xmlns:a16="http://schemas.microsoft.com/office/drawing/2014/main" id="{E83495A3-6FF0-68E1-0C51-4FA080047BC1}"/>
              </a:ext>
            </a:extLst>
          </p:cNvPr>
          <p:cNvSpPr/>
          <p:nvPr/>
        </p:nvSpPr>
        <p:spPr>
          <a:xfrm>
            <a:off x="685796" y="4773327"/>
            <a:ext cx="3490414" cy="685801"/>
          </a:xfrm>
          <a:prstGeom prst="roundRect">
            <a:avLst>
              <a:gd name="adj" fmla="val 2162"/>
            </a:avLst>
          </a:prstGeom>
          <a:solidFill>
            <a:srgbClr val="FFFDF8"/>
          </a:solidFill>
          <a:ln w="12700">
            <a:solidFill>
              <a:srgbClr val="FFFDF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23" name="Shape 7">
            <a:extLst>
              <a:ext uri="{FF2B5EF4-FFF2-40B4-BE49-F238E27FC236}">
                <a16:creationId xmlns:a16="http://schemas.microsoft.com/office/drawing/2014/main" id="{99C86F44-14B3-588A-716D-239425E536A2}"/>
              </a:ext>
            </a:extLst>
          </p:cNvPr>
          <p:cNvSpPr/>
          <p:nvPr/>
        </p:nvSpPr>
        <p:spPr>
          <a:xfrm>
            <a:off x="4350794" y="4773327"/>
            <a:ext cx="3490413" cy="685800"/>
          </a:xfrm>
          <a:prstGeom prst="roundRect">
            <a:avLst>
              <a:gd name="adj" fmla="val 2162"/>
            </a:avLst>
          </a:prstGeom>
          <a:solidFill>
            <a:srgbClr val="E8C9B6"/>
          </a:solidFill>
          <a:ln w="12700">
            <a:solidFill>
              <a:srgbClr val="E8C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24" name="Shape 10">
            <a:extLst>
              <a:ext uri="{FF2B5EF4-FFF2-40B4-BE49-F238E27FC236}">
                <a16:creationId xmlns:a16="http://schemas.microsoft.com/office/drawing/2014/main" id="{C2156F5F-E463-C617-FCA8-609C1143B836}"/>
              </a:ext>
            </a:extLst>
          </p:cNvPr>
          <p:cNvSpPr/>
          <p:nvPr/>
        </p:nvSpPr>
        <p:spPr>
          <a:xfrm>
            <a:off x="8061508" y="4773327"/>
            <a:ext cx="3444694" cy="685802"/>
          </a:xfrm>
          <a:prstGeom prst="roundRect">
            <a:avLst>
              <a:gd name="adj" fmla="val 2353"/>
            </a:avLst>
          </a:prstGeom>
          <a:solidFill>
            <a:srgbClr val="D6DD63"/>
          </a:solidFill>
          <a:ln w="12700">
            <a:solidFill>
              <a:srgbClr val="D6DD6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Tree>
    <p:extLst>
      <p:ext uri="{BB962C8B-B14F-4D97-AF65-F5344CB8AC3E}">
        <p14:creationId xmlns:p14="http://schemas.microsoft.com/office/powerpoint/2010/main" val="1570356564"/>
      </p:ext>
    </p:extLst>
  </p:cSld>
  <p:clrMapOvr>
    <a:masterClrMapping/>
  </p:clrMapOvr>
  <mc:AlternateContent xmlns:mc="http://schemas.openxmlformats.org/markup-compatibility/2006" xmlns:p14="http://schemas.microsoft.com/office/powerpoint/2010/main">
    <mc:Choice Requires="p14">
      <p:transition spd="slow" p14:dur="2000" advTm="18598"/>
    </mc:Choice>
    <mc:Fallback xmlns="">
      <p:transition spd="slow" advTm="18598"/>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Task</a:t>
            </a:r>
            <a:r>
              <a:rPr kumimoji="0" lang="zh-CN" alt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 </a:t>
            </a:r>
            <a:r>
              <a:rPr kumimoji="0" lang="en-US" altLang="zh-CN"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A ·</a:t>
            </a:r>
            <a:r>
              <a:rPr kumimoji="0" lang="zh-CN" alt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 </a:t>
            </a:r>
            <a:r>
              <a:rPr kumimoji="0" lang="en-US" altLang="zh-CN"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 Results of Algorithm</a:t>
            </a: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  </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14</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p:cNvSpPr/>
          <p:nvPr/>
        </p:nvSpPr>
        <p:spPr>
          <a:xfrm>
            <a:off x="8412480" y="6428232"/>
            <a:ext cx="3383280" cy="256032"/>
          </a:xfrm>
          <a:prstGeom prst="rect">
            <a:avLst/>
          </a:prstGeom>
          <a:noFill/>
          <a:ln/>
        </p:spPr>
        <p:txBody>
          <a:bodyPr wrap="square" lIns="0" tIns="0" rIns="0" bIns="0" rtlCol="0" anchor="ctr"/>
          <a:lstStyle/>
          <a:p>
            <a:pPr algn="r"/>
            <a:r>
              <a:rPr lang="en" altLang="zh-CN" sz="1600" i="1" dirty="0">
                <a:solidFill>
                  <a:srgbClr val="5C5345"/>
                </a:solidFill>
                <a:ea typeface="Aptos"/>
                <a:cs typeface="Aptos"/>
              </a:rPr>
              <a:t>Top 10 selected locations</a:t>
            </a:r>
          </a:p>
        </p:txBody>
      </p:sp>
      <p:sp>
        <p:nvSpPr>
          <p:cNvPr id="6" name="Shape 4"/>
          <p:cNvSpPr/>
          <p:nvPr/>
        </p:nvSpPr>
        <p:spPr>
          <a:xfrm>
            <a:off x="731520" y="1600200"/>
            <a:ext cx="2462056" cy="4389120"/>
          </a:xfrm>
          <a:prstGeom prst="roundRect">
            <a:avLst>
              <a:gd name="adj" fmla="val 2162"/>
            </a:avLst>
          </a:prstGeom>
          <a:solidFill>
            <a:srgbClr val="FFFDF8"/>
          </a:solidFill>
          <a:ln w="12700">
            <a:solidFill>
              <a:srgbClr val="FFFDF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7" name="Text 5"/>
          <p:cNvSpPr/>
          <p:nvPr/>
        </p:nvSpPr>
        <p:spPr>
          <a:xfrm>
            <a:off x="896112" y="1746504"/>
            <a:ext cx="305409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Georgia"/>
                <a:ea typeface="+mn-ea"/>
                <a:cs typeface="+mn-cs"/>
              </a:rPr>
              <a:t>Dataset A</a:t>
            </a:r>
          </a:p>
        </p:txBody>
      </p:sp>
      <p:sp>
        <p:nvSpPr>
          <p:cNvPr id="8" name="Text 6"/>
          <p:cNvSpPr/>
          <p:nvPr/>
        </p:nvSpPr>
        <p:spPr>
          <a:xfrm>
            <a:off x="896112" y="2167128"/>
            <a:ext cx="3054096" cy="36758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prstClr val="black"/>
                </a:solidFill>
                <a:effectLst/>
                <a:uLnTx/>
                <a:uFillTx/>
                <a:latin typeface="Aptos"/>
                <a:ea typeface="+mn-ea"/>
                <a:cs typeface="+mn-cs"/>
              </a:rPr>
              <a:t>L0001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prstClr val="black"/>
                </a:solidFill>
                <a:effectLst/>
                <a:uLnTx/>
                <a:uFillTx/>
                <a:latin typeface="Aptos"/>
                <a:ea typeface="+mn-ea"/>
                <a:cs typeface="+mn-cs"/>
              </a:rPr>
              <a:t>L0002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prstClr val="black"/>
                </a:solidFill>
                <a:effectLst/>
                <a:uLnTx/>
                <a:uFillTx/>
                <a:latin typeface="Aptos"/>
                <a:ea typeface="+mn-ea"/>
                <a:cs typeface="+mn-cs"/>
              </a:rPr>
              <a:t>L0003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prstClr val="black"/>
                </a:solidFill>
                <a:effectLst/>
                <a:uLnTx/>
                <a:uFillTx/>
                <a:latin typeface="Aptos"/>
                <a:ea typeface="+mn-ea"/>
                <a:cs typeface="+mn-cs"/>
              </a:rPr>
              <a:t>L0004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prstClr val="black"/>
                </a:solidFill>
                <a:effectLst/>
                <a:uLnTx/>
                <a:uFillTx/>
                <a:latin typeface="Aptos"/>
                <a:ea typeface="+mn-ea"/>
                <a:cs typeface="+mn-cs"/>
              </a:rPr>
              <a:t>L0005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prstClr val="black"/>
                </a:solidFill>
                <a:effectLst/>
                <a:uLnTx/>
                <a:uFillTx/>
                <a:latin typeface="Aptos"/>
                <a:ea typeface="+mn-ea"/>
                <a:cs typeface="+mn-cs"/>
              </a:rPr>
              <a:t>L0006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prstClr val="black"/>
                </a:solidFill>
                <a:effectLst/>
                <a:uLnTx/>
                <a:uFillTx/>
                <a:latin typeface="Aptos"/>
                <a:ea typeface="+mn-ea"/>
                <a:cs typeface="+mn-cs"/>
              </a:rPr>
              <a:t>L0007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prstClr val="black"/>
                </a:solidFill>
                <a:effectLst/>
                <a:uLnTx/>
                <a:uFillTx/>
                <a:latin typeface="Aptos"/>
                <a:ea typeface="+mn-ea"/>
                <a:cs typeface="+mn-cs"/>
              </a:rPr>
              <a:t>L0008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prstClr val="black"/>
                </a:solidFill>
                <a:effectLst/>
                <a:uLnTx/>
                <a:uFillTx/>
                <a:latin typeface="Aptos"/>
                <a:ea typeface="+mn-ea"/>
                <a:cs typeface="+mn-cs"/>
              </a:rPr>
              <a:t>L0009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prstClr val="black"/>
                </a:solidFill>
                <a:effectLst/>
                <a:uLnTx/>
                <a:uFillTx/>
                <a:latin typeface="Aptos"/>
                <a:ea typeface="+mn-ea"/>
                <a:cs typeface="+mn-cs"/>
              </a:rPr>
              <a:t>L0010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3880624" y="1600200"/>
            <a:ext cx="2462056" cy="4389120"/>
          </a:xfrm>
          <a:prstGeom prst="roundRect">
            <a:avLst>
              <a:gd name="adj" fmla="val 2162"/>
            </a:avLst>
          </a:prstGeom>
          <a:solidFill>
            <a:srgbClr val="E8C9B6"/>
          </a:solidFill>
          <a:ln w="12700">
            <a:solidFill>
              <a:srgbClr val="E8C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10" name="Text 8"/>
          <p:cNvSpPr/>
          <p:nvPr/>
        </p:nvSpPr>
        <p:spPr>
          <a:xfrm>
            <a:off x="4045216" y="1746504"/>
            <a:ext cx="305409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Dataset</a:t>
            </a:r>
            <a:r>
              <a:rPr kumimoji="0" lang="zh-CN" altLang="en-US" sz="20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US" altLang="zh-CN" sz="20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B</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Shape 10"/>
          <p:cNvSpPr/>
          <p:nvPr/>
        </p:nvSpPr>
        <p:spPr>
          <a:xfrm>
            <a:off x="7029727" y="1600200"/>
            <a:ext cx="2944369" cy="4389120"/>
          </a:xfrm>
          <a:prstGeom prst="roundRect">
            <a:avLst>
              <a:gd name="adj" fmla="val 2353"/>
            </a:avLst>
          </a:prstGeom>
          <a:solidFill>
            <a:srgbClr val="D6DD63"/>
          </a:solidFill>
          <a:ln w="12700">
            <a:solidFill>
              <a:srgbClr val="D6DD6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3" name="Text 11"/>
          <p:cNvSpPr/>
          <p:nvPr/>
        </p:nvSpPr>
        <p:spPr>
          <a:xfrm>
            <a:off x="7194320" y="1746504"/>
            <a:ext cx="277977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Georgia"/>
                <a:ea typeface="+mn-ea"/>
                <a:cs typeface="+mn-cs"/>
              </a:rPr>
              <a:t>Dataset C</a:t>
            </a:r>
          </a:p>
        </p:txBody>
      </p:sp>
      <p:sp>
        <p:nvSpPr>
          <p:cNvPr id="16" name="文本框 15">
            <a:extLst>
              <a:ext uri="{FF2B5EF4-FFF2-40B4-BE49-F238E27FC236}">
                <a16:creationId xmlns:a16="http://schemas.microsoft.com/office/drawing/2014/main" id="{EF3BBBE3-19A6-3456-9B55-77894A7A11EB}"/>
              </a:ext>
            </a:extLst>
          </p:cNvPr>
          <p:cNvSpPr txBox="1"/>
          <p:nvPr/>
        </p:nvSpPr>
        <p:spPr>
          <a:xfrm>
            <a:off x="381000" y="649886"/>
            <a:ext cx="609600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Top 10 Selected Locations</a:t>
            </a:r>
          </a:p>
        </p:txBody>
      </p:sp>
      <p:sp>
        <p:nvSpPr>
          <p:cNvPr id="18" name="文本框 17">
            <a:extLst>
              <a:ext uri="{FF2B5EF4-FFF2-40B4-BE49-F238E27FC236}">
                <a16:creationId xmlns:a16="http://schemas.microsoft.com/office/drawing/2014/main" id="{51903BBF-3C59-1EDC-55B4-5413CD18BEE8}"/>
              </a:ext>
            </a:extLst>
          </p:cNvPr>
          <p:cNvSpPr txBox="1"/>
          <p:nvPr/>
        </p:nvSpPr>
        <p:spPr>
          <a:xfrm>
            <a:off x="3963751" y="2130552"/>
            <a:ext cx="1459992" cy="247760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L0101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L0102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L0103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L0104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L0105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L0106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L0107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L0108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L0109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L0110</a:t>
            </a:r>
          </a:p>
        </p:txBody>
      </p:sp>
      <p:sp>
        <p:nvSpPr>
          <p:cNvPr id="20" name="文本框 19">
            <a:extLst>
              <a:ext uri="{FF2B5EF4-FFF2-40B4-BE49-F238E27FC236}">
                <a16:creationId xmlns:a16="http://schemas.microsoft.com/office/drawing/2014/main" id="{661E29EC-5B68-25C5-005D-67CEC05D294E}"/>
              </a:ext>
            </a:extLst>
          </p:cNvPr>
          <p:cNvSpPr txBox="1"/>
          <p:nvPr/>
        </p:nvSpPr>
        <p:spPr>
          <a:xfrm>
            <a:off x="7187808" y="2113649"/>
            <a:ext cx="902208" cy="247760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L0201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L0202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L0203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L0204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L0205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L0206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L0207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L0208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L0209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L0210</a:t>
            </a:r>
          </a:p>
        </p:txBody>
      </p:sp>
    </p:spTree>
  </p:cSld>
  <p:clrMapOvr>
    <a:masterClrMapping/>
  </p:clrMapOvr>
  <mc:AlternateContent xmlns:mc="http://schemas.openxmlformats.org/markup-compatibility/2006" xmlns:p14="http://schemas.microsoft.com/office/powerpoint/2010/main">
    <mc:Choice Requires="p14">
      <p:transition spd="slow" p14:dur="2000" advTm="14131"/>
    </mc:Choice>
    <mc:Fallback xmlns="">
      <p:transition spd="slow" advTm="1413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3768D1DA-1CBE-FCE1-9EFC-DA461364326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3ADC77C-CE6E-455A-C596-F39B5F790A92}"/>
              </a:ext>
            </a:extLst>
          </p:cNvPr>
          <p:cNvSpPr/>
          <p:nvPr/>
        </p:nvSpPr>
        <p:spPr>
          <a:xfrm>
            <a:off x="502920" y="256032"/>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Task</a:t>
            </a:r>
            <a:r>
              <a:rPr kumimoji="0" lang="zh-CN" alt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 </a:t>
            </a:r>
            <a:r>
              <a:rPr kumimoji="0" lang="en-US" altLang="zh-CN"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B ·</a:t>
            </a:r>
            <a:r>
              <a:rPr kumimoji="0" lang="zh-CN" alt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 </a:t>
            </a:r>
            <a:r>
              <a:rPr kumimoji="0" lang="en-US" altLang="zh-CN"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Graph Algorithm</a:t>
            </a:r>
            <a:r>
              <a:rPr kumimoji="0" lang="zh-CN" alt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 </a:t>
            </a:r>
            <a:r>
              <a:rPr kumimoji="0" lang="en-US" altLang="zh-CN"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Design</a:t>
            </a: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  </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a:extLst>
              <a:ext uri="{FF2B5EF4-FFF2-40B4-BE49-F238E27FC236}">
                <a16:creationId xmlns:a16="http://schemas.microsoft.com/office/drawing/2014/main" id="{327BA1DD-D2EC-A376-C977-7E6BC467547F}"/>
              </a:ext>
            </a:extLst>
          </p:cNvPr>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15</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406EF5E0-F565-3898-0C4F-E93F16767600}"/>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a:extLst>
              <a:ext uri="{FF2B5EF4-FFF2-40B4-BE49-F238E27FC236}">
                <a16:creationId xmlns:a16="http://schemas.microsoft.com/office/drawing/2014/main" id="{2877C7E3-CB8D-C6A7-6DE7-2F3425D8144A}"/>
              </a:ext>
            </a:extLst>
          </p:cNvPr>
          <p:cNvSpPr/>
          <p:nvPr/>
        </p:nvSpPr>
        <p:spPr>
          <a:xfrm>
            <a:off x="8412480" y="6428232"/>
            <a:ext cx="3383280" cy="256032"/>
          </a:xfrm>
          <a:prstGeom prst="rect">
            <a:avLst/>
          </a:prstGeom>
          <a:noFill/>
          <a:ln/>
        </p:spPr>
        <p:txBody>
          <a:bodyPr wrap="square" lIns="0" tIns="0" rIns="0" bIns="0" rtlCol="0" anchor="ctr"/>
          <a:lstStyle/>
          <a:p>
            <a:pPr algn="r"/>
            <a:r>
              <a:rPr lang="en" altLang="zh-CN" sz="1600" i="1" dirty="0">
                <a:solidFill>
                  <a:srgbClr val="5C5345"/>
                </a:solidFill>
                <a:ea typeface="Aptos"/>
                <a:cs typeface="Aptos"/>
              </a:rPr>
              <a:t>Graph model</a:t>
            </a:r>
          </a:p>
        </p:txBody>
      </p:sp>
      <p:sp>
        <p:nvSpPr>
          <p:cNvPr id="6" name="Shape 4">
            <a:extLst>
              <a:ext uri="{FF2B5EF4-FFF2-40B4-BE49-F238E27FC236}">
                <a16:creationId xmlns:a16="http://schemas.microsoft.com/office/drawing/2014/main" id="{4BB47770-FEFA-C93D-0DE4-9FED50939C98}"/>
              </a:ext>
            </a:extLst>
          </p:cNvPr>
          <p:cNvSpPr/>
          <p:nvPr/>
        </p:nvSpPr>
        <p:spPr>
          <a:xfrm>
            <a:off x="327326" y="1600200"/>
            <a:ext cx="4913906" cy="4389120"/>
          </a:xfrm>
          <a:prstGeom prst="roundRect">
            <a:avLst>
              <a:gd name="adj" fmla="val 2162"/>
            </a:avLst>
          </a:prstGeom>
          <a:solidFill>
            <a:srgbClr val="FFFDF8"/>
          </a:solidFill>
          <a:ln w="12700">
            <a:solidFill>
              <a:srgbClr val="FFFDF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7" name="Text 5">
            <a:extLst>
              <a:ext uri="{FF2B5EF4-FFF2-40B4-BE49-F238E27FC236}">
                <a16:creationId xmlns:a16="http://schemas.microsoft.com/office/drawing/2014/main" id="{E9A61435-F30C-DD20-81B1-F1F0FFF94C01}"/>
              </a:ext>
            </a:extLst>
          </p:cNvPr>
          <p:cNvSpPr/>
          <p:nvPr/>
        </p:nvSpPr>
        <p:spPr>
          <a:xfrm>
            <a:off x="462706" y="2149561"/>
            <a:ext cx="4272236" cy="3383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Weighted Graph Representation</a:t>
            </a:r>
            <a:endPar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 altLang="zh-CN" sz="20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endParaRPr kumimoji="0" lang="en-US" sz="2000" b="0" i="0" u="none" strike="noStrike" kern="1200" cap="none" spc="0" normalizeH="0" baseline="0" noProof="0" dirty="0">
              <a:ln>
                <a:noFill/>
              </a:ln>
              <a:solidFill>
                <a:prstClr val="black"/>
              </a:solidFill>
              <a:effectLst/>
              <a:uLnTx/>
              <a:uFillTx/>
              <a:latin typeface="Georgia"/>
              <a:ea typeface="+mn-ea"/>
              <a:cs typeface="+mn-cs"/>
            </a:endParaRPr>
          </a:p>
        </p:txBody>
      </p:sp>
      <p:sp>
        <p:nvSpPr>
          <p:cNvPr id="8" name="Text 6">
            <a:extLst>
              <a:ext uri="{FF2B5EF4-FFF2-40B4-BE49-F238E27FC236}">
                <a16:creationId xmlns:a16="http://schemas.microsoft.com/office/drawing/2014/main" id="{2631AE01-21A8-5C27-8624-7E6A6ADF9B95}"/>
              </a:ext>
            </a:extLst>
          </p:cNvPr>
          <p:cNvSpPr/>
          <p:nvPr/>
        </p:nvSpPr>
        <p:spPr>
          <a:xfrm>
            <a:off x="491918" y="2326152"/>
            <a:ext cx="4563784" cy="337796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The location network is represented as a </a:t>
            </a:r>
            <a:r>
              <a:rPr kumimoji="0" lang="en"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weighted graph</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Each inspection location is modeled as a </a:t>
            </a:r>
            <a:r>
              <a:rPr kumimoji="0" lang="en"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vertex</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Each path between two locations is modeled as an </a:t>
            </a:r>
            <a:r>
              <a:rPr kumimoji="0" lang="en"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edge</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The edge weight represents the </a:t>
            </a:r>
            <a:r>
              <a:rPr kumimoji="0" lang="en"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distance or cost</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between connected locations.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The target locations used in Task B are selected from the </a:t>
            </a:r>
            <a:r>
              <a:rPr kumimoji="0" lang="en"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Top 10 results of Task A</a:t>
            </a:r>
            <a:endPar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12" name="Shape 10">
            <a:extLst>
              <a:ext uri="{FF2B5EF4-FFF2-40B4-BE49-F238E27FC236}">
                <a16:creationId xmlns:a16="http://schemas.microsoft.com/office/drawing/2014/main" id="{9156DED0-1AA0-1F5E-DDBC-C082B961FBAD}"/>
              </a:ext>
            </a:extLst>
          </p:cNvPr>
          <p:cNvSpPr/>
          <p:nvPr/>
        </p:nvSpPr>
        <p:spPr>
          <a:xfrm>
            <a:off x="5532483" y="177975"/>
            <a:ext cx="2926080" cy="3301317"/>
          </a:xfrm>
          <a:prstGeom prst="roundRect">
            <a:avLst>
              <a:gd name="adj" fmla="val 2353"/>
            </a:avLst>
          </a:prstGeom>
          <a:solidFill>
            <a:srgbClr val="D6DD63"/>
          </a:solidFill>
          <a:ln w="12700">
            <a:solidFill>
              <a:srgbClr val="D6DD6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public class Edge {</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private final Vertex from;</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private final Vertex to;</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private final int weight;</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public Edge(Vertex from, Vertex to, int weight) {</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 altLang="zh-CN" sz="9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this.from</a:t>
            </a: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 from;</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 altLang="zh-CN" sz="9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this.to</a:t>
            </a: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 to;</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 altLang="zh-CN" sz="9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this.weight</a:t>
            </a: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 weight;</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public Vertex </a:t>
            </a:r>
            <a:r>
              <a:rPr kumimoji="0" lang="en" altLang="zh-CN" sz="9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getFrom</a:t>
            </a: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return from;</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public Vertex </a:t>
            </a:r>
            <a:r>
              <a:rPr kumimoji="0" lang="en" altLang="zh-CN" sz="9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getTo</a:t>
            </a: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return to;</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public int </a:t>
            </a:r>
            <a:r>
              <a:rPr kumimoji="0" lang="en" altLang="zh-CN" sz="9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getWeight</a:t>
            </a: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return weight;</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b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r>
              <a:rPr kumimoji="0" lang="en" altLang="zh-CN" sz="9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16" name="文本框 15">
            <a:extLst>
              <a:ext uri="{FF2B5EF4-FFF2-40B4-BE49-F238E27FC236}">
                <a16:creationId xmlns:a16="http://schemas.microsoft.com/office/drawing/2014/main" id="{0A797C14-6628-71CC-22B9-B4AD3A4D391A}"/>
              </a:ext>
            </a:extLst>
          </p:cNvPr>
          <p:cNvSpPr txBox="1"/>
          <p:nvPr/>
        </p:nvSpPr>
        <p:spPr>
          <a:xfrm>
            <a:off x="362244" y="772888"/>
            <a:ext cx="374105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Graph Model</a:t>
            </a:r>
          </a:p>
        </p:txBody>
      </p:sp>
      <p:pic>
        <p:nvPicPr>
          <p:cNvPr id="14" name="图片 13">
            <a:extLst>
              <a:ext uri="{FF2B5EF4-FFF2-40B4-BE49-F238E27FC236}">
                <a16:creationId xmlns:a16="http://schemas.microsoft.com/office/drawing/2014/main" id="{95A74DB5-3879-4EC4-5872-38EC2FC1DB55}"/>
              </a:ext>
            </a:extLst>
          </p:cNvPr>
          <p:cNvPicPr>
            <a:picLocks noChangeAspect="1"/>
          </p:cNvPicPr>
          <p:nvPr/>
        </p:nvPicPr>
        <p:blipFill>
          <a:blip r:embed="rId3"/>
          <a:stretch>
            <a:fillRect/>
          </a:stretch>
        </p:blipFill>
        <p:spPr>
          <a:xfrm>
            <a:off x="8701075" y="2047461"/>
            <a:ext cx="3377552" cy="1609200"/>
          </a:xfrm>
          <a:prstGeom prst="rect">
            <a:avLst/>
          </a:prstGeom>
        </p:spPr>
      </p:pic>
      <p:cxnSp>
        <p:nvCxnSpPr>
          <p:cNvPr id="19" name="直线箭头连接符 18">
            <a:extLst>
              <a:ext uri="{FF2B5EF4-FFF2-40B4-BE49-F238E27FC236}">
                <a16:creationId xmlns:a16="http://schemas.microsoft.com/office/drawing/2014/main" id="{8DB95204-16CD-0B0A-84AF-C6D8DE787C56}"/>
              </a:ext>
            </a:extLst>
          </p:cNvPr>
          <p:cNvCxnSpPr>
            <a:cxnSpLocks/>
          </p:cNvCxnSpPr>
          <p:nvPr/>
        </p:nvCxnSpPr>
        <p:spPr>
          <a:xfrm flipH="1" flipV="1">
            <a:off x="8570346" y="1645170"/>
            <a:ext cx="208496" cy="227484"/>
          </a:xfrm>
          <a:prstGeom prst="straightConnector1">
            <a:avLst/>
          </a:prstGeom>
          <a:ln w="381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3" name="Shape 4">
            <a:extLst>
              <a:ext uri="{FF2B5EF4-FFF2-40B4-BE49-F238E27FC236}">
                <a16:creationId xmlns:a16="http://schemas.microsoft.com/office/drawing/2014/main" id="{D866A6F2-3372-F0F7-3756-FBCAB8B569C4}"/>
              </a:ext>
            </a:extLst>
          </p:cNvPr>
          <p:cNvSpPr/>
          <p:nvPr/>
        </p:nvSpPr>
        <p:spPr>
          <a:xfrm>
            <a:off x="5532482" y="3822508"/>
            <a:ext cx="6332192" cy="361093"/>
          </a:xfrm>
          <a:prstGeom prst="roundRect">
            <a:avLst>
              <a:gd name="adj" fmla="val 2807"/>
            </a:avLst>
          </a:prstGeom>
          <a:solidFill>
            <a:srgbClr val="E1A4C2"/>
          </a:solidFill>
          <a:ln w="12700">
            <a:solidFill>
              <a:srgbClr val="E1A4C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Graph: uses an adjacency list: Map&lt;Vertex, List&lt;Edge&gt;&gt;</a:t>
            </a:r>
          </a:p>
        </p:txBody>
      </p:sp>
      <p:sp>
        <p:nvSpPr>
          <p:cNvPr id="24" name="Shape 13">
            <a:extLst>
              <a:ext uri="{FF2B5EF4-FFF2-40B4-BE49-F238E27FC236}">
                <a16:creationId xmlns:a16="http://schemas.microsoft.com/office/drawing/2014/main" id="{A35C7BE1-6B30-A92A-D5CA-5C0B904E1BA9}"/>
              </a:ext>
            </a:extLst>
          </p:cNvPr>
          <p:cNvSpPr/>
          <p:nvPr/>
        </p:nvSpPr>
        <p:spPr>
          <a:xfrm>
            <a:off x="5532482" y="4342790"/>
            <a:ext cx="6332192" cy="1646530"/>
          </a:xfrm>
          <a:prstGeom prst="roundRect">
            <a:avLst>
              <a:gd name="adj" fmla="val 3810"/>
            </a:avLst>
          </a:prstGeom>
          <a:solidFill>
            <a:srgbClr val="B7C7A8"/>
          </a:solidFill>
          <a:ln w="12700">
            <a:solidFill>
              <a:srgbClr val="B7C7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28" name="Shape 10">
            <a:extLst>
              <a:ext uri="{FF2B5EF4-FFF2-40B4-BE49-F238E27FC236}">
                <a16:creationId xmlns:a16="http://schemas.microsoft.com/office/drawing/2014/main" id="{43C70374-D14A-ECD8-45EC-650FE9CF52F3}"/>
              </a:ext>
            </a:extLst>
          </p:cNvPr>
          <p:cNvSpPr/>
          <p:nvPr/>
        </p:nvSpPr>
        <p:spPr>
          <a:xfrm>
            <a:off x="9022443" y="592982"/>
            <a:ext cx="3061912" cy="1228558"/>
          </a:xfrm>
          <a:prstGeom prst="roundRect">
            <a:avLst>
              <a:gd name="adj" fmla="val 2807"/>
            </a:avLst>
          </a:prstGeom>
          <a:solidFill>
            <a:srgbClr val="E8C9B6"/>
          </a:solidFill>
          <a:ln w="12700">
            <a:solidFill>
              <a:srgbClr val="E8C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4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Vertex: stores the unique location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4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Overrides equals() and </a:t>
            </a:r>
            <a:r>
              <a:rPr kumimoji="0" lang="en" altLang="zh-CN" sz="14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hashCode</a:t>
            </a:r>
            <a:r>
              <a:rPr kumimoji="0" lang="en" altLang="zh-CN" sz="14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based on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4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Enables correct lookup and comparison in HashMap.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cxnSp>
        <p:nvCxnSpPr>
          <p:cNvPr id="33" name="直线箭头连接符 32">
            <a:extLst>
              <a:ext uri="{FF2B5EF4-FFF2-40B4-BE49-F238E27FC236}">
                <a16:creationId xmlns:a16="http://schemas.microsoft.com/office/drawing/2014/main" id="{6A71FE4C-163D-4CB8-9ACF-9580658CCC7D}"/>
              </a:ext>
            </a:extLst>
          </p:cNvPr>
          <p:cNvCxnSpPr>
            <a:cxnSpLocks/>
          </p:cNvCxnSpPr>
          <p:nvPr/>
        </p:nvCxnSpPr>
        <p:spPr>
          <a:xfrm flipH="1">
            <a:off x="8580164" y="1188364"/>
            <a:ext cx="288828" cy="0"/>
          </a:xfrm>
          <a:prstGeom prst="straightConnector1">
            <a:avLst/>
          </a:prstGeom>
          <a:ln w="381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7" name="Text 5">
            <a:extLst>
              <a:ext uri="{FF2B5EF4-FFF2-40B4-BE49-F238E27FC236}">
                <a16:creationId xmlns:a16="http://schemas.microsoft.com/office/drawing/2014/main" id="{AC640D98-F7A7-DD9C-3AE4-C05A921761F7}"/>
              </a:ext>
            </a:extLst>
          </p:cNvPr>
          <p:cNvSpPr/>
          <p:nvPr/>
        </p:nvSpPr>
        <p:spPr>
          <a:xfrm>
            <a:off x="5631948" y="4453349"/>
            <a:ext cx="4272236" cy="3383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000" b="1" i="0" u="none" strike="noStrike" kern="1200" cap="none" spc="0" normalizeH="0" baseline="0" noProof="0" dirty="0">
                <a:ln>
                  <a:noFill/>
                </a:ln>
                <a:solidFill>
                  <a:prstClr val="black"/>
                </a:solidFill>
                <a:effectLst/>
                <a:uLnTx/>
                <a:uFillTx/>
                <a:latin typeface="Georgia"/>
                <a:ea typeface="+mn-ea"/>
                <a:cs typeface="+mn-cs"/>
              </a:rPr>
              <a:t>Adjacency list Design</a:t>
            </a:r>
            <a:endParaRPr kumimoji="0" lang="en-US" sz="2000" b="0" i="0" u="none" strike="noStrike" kern="1200" cap="none" spc="0" normalizeH="0" baseline="0" noProof="0" dirty="0">
              <a:ln>
                <a:noFill/>
              </a:ln>
              <a:solidFill>
                <a:prstClr val="black"/>
              </a:solidFill>
              <a:effectLst/>
              <a:uLnTx/>
              <a:uFillTx/>
              <a:latin typeface="Georgia"/>
              <a:ea typeface="+mn-ea"/>
              <a:cs typeface="+mn-cs"/>
            </a:endParaRPr>
          </a:p>
        </p:txBody>
      </p:sp>
      <p:sp>
        <p:nvSpPr>
          <p:cNvPr id="38" name="Text 6">
            <a:extLst>
              <a:ext uri="{FF2B5EF4-FFF2-40B4-BE49-F238E27FC236}">
                <a16:creationId xmlns:a16="http://schemas.microsoft.com/office/drawing/2014/main" id="{D900ABC0-E901-3307-39C3-090A80031BD4}"/>
              </a:ext>
            </a:extLst>
          </p:cNvPr>
          <p:cNvSpPr/>
          <p:nvPr/>
        </p:nvSpPr>
        <p:spPr>
          <a:xfrm>
            <a:off x="5631948" y="4846371"/>
            <a:ext cx="6875362" cy="164653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6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The path network is a sparse graph.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6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An adjacency list only stores existing paths.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6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It saves memory compared with an adjacency matrix.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6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It allows Dijkstra’s algorithm to quickly access neighboring locations.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40" name="椭圆 39">
            <a:extLst>
              <a:ext uri="{FF2B5EF4-FFF2-40B4-BE49-F238E27FC236}">
                <a16:creationId xmlns:a16="http://schemas.microsoft.com/office/drawing/2014/main" id="{18306A9B-74E1-3D57-BE90-7B252C54F0F4}"/>
              </a:ext>
            </a:extLst>
          </p:cNvPr>
          <p:cNvSpPr/>
          <p:nvPr/>
        </p:nvSpPr>
        <p:spPr>
          <a:xfrm>
            <a:off x="10576434" y="4583104"/>
            <a:ext cx="190307" cy="190307"/>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endParaRPr>
          </a:p>
        </p:txBody>
      </p:sp>
      <p:sp>
        <p:nvSpPr>
          <p:cNvPr id="41" name="椭圆 40">
            <a:extLst>
              <a:ext uri="{FF2B5EF4-FFF2-40B4-BE49-F238E27FC236}">
                <a16:creationId xmlns:a16="http://schemas.microsoft.com/office/drawing/2014/main" id="{FA7B041D-D42F-0505-F727-F2BD0644B845}"/>
              </a:ext>
            </a:extLst>
          </p:cNvPr>
          <p:cNvSpPr/>
          <p:nvPr/>
        </p:nvSpPr>
        <p:spPr>
          <a:xfrm>
            <a:off x="11073693" y="4580139"/>
            <a:ext cx="190307" cy="190307"/>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endParaRPr>
          </a:p>
        </p:txBody>
      </p:sp>
      <p:sp>
        <p:nvSpPr>
          <p:cNvPr id="42" name="椭圆 41">
            <a:extLst>
              <a:ext uri="{FF2B5EF4-FFF2-40B4-BE49-F238E27FC236}">
                <a16:creationId xmlns:a16="http://schemas.microsoft.com/office/drawing/2014/main" id="{28A3A8C8-1E62-B6C6-8B53-FB700F78E925}"/>
              </a:ext>
            </a:extLst>
          </p:cNvPr>
          <p:cNvSpPr/>
          <p:nvPr/>
        </p:nvSpPr>
        <p:spPr>
          <a:xfrm>
            <a:off x="10583686" y="5170502"/>
            <a:ext cx="190307" cy="190307"/>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endParaRPr>
          </a:p>
        </p:txBody>
      </p:sp>
      <p:cxnSp>
        <p:nvCxnSpPr>
          <p:cNvPr id="44" name="直线连接符 43">
            <a:extLst>
              <a:ext uri="{FF2B5EF4-FFF2-40B4-BE49-F238E27FC236}">
                <a16:creationId xmlns:a16="http://schemas.microsoft.com/office/drawing/2014/main" id="{865A27E3-93F5-6202-B6A3-5DA8F7518C56}"/>
              </a:ext>
            </a:extLst>
          </p:cNvPr>
          <p:cNvCxnSpPr>
            <a:stCxn id="40" idx="4"/>
            <a:endCxn id="42" idx="0"/>
          </p:cNvCxnSpPr>
          <p:nvPr/>
        </p:nvCxnSpPr>
        <p:spPr>
          <a:xfrm>
            <a:off x="10671588" y="4773411"/>
            <a:ext cx="7252" cy="397091"/>
          </a:xfrm>
          <a:prstGeom prst="line">
            <a:avLst/>
          </a:prstGeom>
          <a:ln w="38100">
            <a:prstDash val="sysDash"/>
          </a:ln>
        </p:spPr>
        <p:style>
          <a:lnRef idx="1">
            <a:schemeClr val="accent2"/>
          </a:lnRef>
          <a:fillRef idx="0">
            <a:schemeClr val="accent2"/>
          </a:fillRef>
          <a:effectRef idx="0">
            <a:schemeClr val="accent2"/>
          </a:effectRef>
          <a:fontRef idx="minor">
            <a:schemeClr val="tx1"/>
          </a:fontRef>
        </p:style>
      </p:cxnSp>
      <p:cxnSp>
        <p:nvCxnSpPr>
          <p:cNvPr id="45" name="直线连接符 44">
            <a:extLst>
              <a:ext uri="{FF2B5EF4-FFF2-40B4-BE49-F238E27FC236}">
                <a16:creationId xmlns:a16="http://schemas.microsoft.com/office/drawing/2014/main" id="{097D9C17-0B50-8756-57AB-3EEE70F3B547}"/>
              </a:ext>
            </a:extLst>
          </p:cNvPr>
          <p:cNvCxnSpPr>
            <a:cxnSpLocks/>
            <a:stCxn id="40" idx="6"/>
            <a:endCxn id="41" idx="2"/>
          </p:cNvCxnSpPr>
          <p:nvPr/>
        </p:nvCxnSpPr>
        <p:spPr>
          <a:xfrm flipV="1">
            <a:off x="10766741" y="4675293"/>
            <a:ext cx="306952" cy="2965"/>
          </a:xfrm>
          <a:prstGeom prst="line">
            <a:avLst/>
          </a:prstGeom>
          <a:ln w="38100">
            <a:prstDash val="sysDash"/>
          </a:ln>
        </p:spPr>
        <p:style>
          <a:lnRef idx="1">
            <a:schemeClr val="accent2"/>
          </a:lnRef>
          <a:fillRef idx="0">
            <a:schemeClr val="accent2"/>
          </a:fillRef>
          <a:effectRef idx="0">
            <a:schemeClr val="accent2"/>
          </a:effectRef>
          <a:fontRef idx="minor">
            <a:schemeClr val="tx1"/>
          </a:fontRef>
        </p:style>
      </p:cxnSp>
      <p:sp>
        <p:nvSpPr>
          <p:cNvPr id="48" name="文本框 47">
            <a:extLst>
              <a:ext uri="{FF2B5EF4-FFF2-40B4-BE49-F238E27FC236}">
                <a16:creationId xmlns:a16="http://schemas.microsoft.com/office/drawing/2014/main" id="{FF735D43-AFD0-F507-1FFC-8607224D4251}"/>
              </a:ext>
            </a:extLst>
          </p:cNvPr>
          <p:cNvSpPr txBox="1"/>
          <p:nvPr/>
        </p:nvSpPr>
        <p:spPr>
          <a:xfrm>
            <a:off x="10775391" y="4371091"/>
            <a:ext cx="1816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4</a:t>
            </a:r>
            <a:endParaRPr kumimoji="1"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49" name="文本框 48">
            <a:extLst>
              <a:ext uri="{FF2B5EF4-FFF2-40B4-BE49-F238E27FC236}">
                <a16:creationId xmlns:a16="http://schemas.microsoft.com/office/drawing/2014/main" id="{2ADF3FFF-70CF-A75B-242D-88CE4936D123}"/>
              </a:ext>
            </a:extLst>
          </p:cNvPr>
          <p:cNvSpPr txBox="1"/>
          <p:nvPr/>
        </p:nvSpPr>
        <p:spPr>
          <a:xfrm>
            <a:off x="10424845" y="4787290"/>
            <a:ext cx="14726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7</a:t>
            </a:r>
            <a:endParaRPr kumimoji="1"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52" name="文本框 51">
            <a:extLst>
              <a:ext uri="{FF2B5EF4-FFF2-40B4-BE49-F238E27FC236}">
                <a16:creationId xmlns:a16="http://schemas.microsoft.com/office/drawing/2014/main" id="{5433285C-D01E-CD3E-8C5B-7A65099B1673}"/>
              </a:ext>
            </a:extLst>
          </p:cNvPr>
          <p:cNvSpPr txBox="1"/>
          <p:nvPr/>
        </p:nvSpPr>
        <p:spPr>
          <a:xfrm>
            <a:off x="11190338" y="4498051"/>
            <a:ext cx="458289"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L0002</a:t>
            </a:r>
            <a:endParaRPr kumimoji="1" lang="zh-CN" altLang="en-US" sz="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53" name="文本框 52">
            <a:extLst>
              <a:ext uri="{FF2B5EF4-FFF2-40B4-BE49-F238E27FC236}">
                <a16:creationId xmlns:a16="http://schemas.microsoft.com/office/drawing/2014/main" id="{6B4F14F1-459D-D382-D643-0FA2BDE78459}"/>
              </a:ext>
            </a:extLst>
          </p:cNvPr>
          <p:cNvSpPr txBox="1"/>
          <p:nvPr/>
        </p:nvSpPr>
        <p:spPr>
          <a:xfrm>
            <a:off x="10137630" y="4507732"/>
            <a:ext cx="458289"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L0001</a:t>
            </a:r>
            <a:endParaRPr kumimoji="1" lang="zh-CN" altLang="en-US" sz="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54" name="文本框 53">
            <a:extLst>
              <a:ext uri="{FF2B5EF4-FFF2-40B4-BE49-F238E27FC236}">
                <a16:creationId xmlns:a16="http://schemas.microsoft.com/office/drawing/2014/main" id="{AEB082DF-CACA-D0C6-1B56-D3FFA99B3BE1}"/>
              </a:ext>
            </a:extLst>
          </p:cNvPr>
          <p:cNvSpPr txBox="1"/>
          <p:nvPr/>
        </p:nvSpPr>
        <p:spPr>
          <a:xfrm>
            <a:off x="10728871" y="5195812"/>
            <a:ext cx="458289"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L0003</a:t>
            </a:r>
            <a:endParaRPr kumimoji="1" lang="zh-CN" altLang="en-US" sz="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Tree>
    <p:extLst>
      <p:ext uri="{BB962C8B-B14F-4D97-AF65-F5344CB8AC3E}">
        <p14:creationId xmlns:p14="http://schemas.microsoft.com/office/powerpoint/2010/main" val="1933826848"/>
      </p:ext>
    </p:extLst>
  </p:cSld>
  <p:clrMapOvr>
    <a:masterClrMapping/>
  </p:clrMapOvr>
  <mc:AlternateContent xmlns:mc="http://schemas.openxmlformats.org/markup-compatibility/2006" xmlns:p14="http://schemas.microsoft.com/office/powerpoint/2010/main">
    <mc:Choice Requires="p14">
      <p:transition spd="slow" p14:dur="2000" advTm="49479"/>
    </mc:Choice>
    <mc:Fallback xmlns="">
      <p:transition spd="slow" advTm="49479"/>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7DF5BA2F-1247-E1DF-5B6A-AFAD2EAF79B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3EF8805-5113-6362-DC01-79E8AA421772}"/>
              </a:ext>
            </a:extLst>
          </p:cNvPr>
          <p:cNvSpPr/>
          <p:nvPr/>
        </p:nvSpPr>
        <p:spPr>
          <a:xfrm>
            <a:off x="502920" y="256032"/>
            <a:ext cx="2926080" cy="274320"/>
          </a:xfrm>
          <a:prstGeom prst="rect">
            <a:avLst/>
          </a:prstGeom>
          <a:noFill/>
          <a:ln/>
        </p:spPr>
        <p:txBody>
          <a:bodyPr wrap="square" lIns="0" tIns="0" rIns="0" bIns="0" rtlCol="0" anchor="ctr"/>
          <a:lstStyle/>
          <a:p>
            <a:pPr lvl="0">
              <a:defRPr/>
            </a:pPr>
            <a:r>
              <a:rPr lang="en-US" altLang="zh-CN" sz="1600" dirty="0">
                <a:solidFill>
                  <a:srgbClr val="2A241B"/>
                </a:solidFill>
                <a:latin typeface="Aptos" pitchFamily="34" charset="0"/>
                <a:ea typeface="Aptos" pitchFamily="34" charset="-122"/>
                <a:cs typeface="Aptos" pitchFamily="34" charset="-120"/>
              </a:rPr>
              <a:t>Task</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B ·</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Graph Algorithm</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Design  </a:t>
            </a:r>
            <a:endParaRPr lang="en-US" altLang="zh-CN" sz="1600" dirty="0">
              <a:solidFill>
                <a:prstClr val="black"/>
              </a:solidFill>
            </a:endParaRPr>
          </a:p>
        </p:txBody>
      </p:sp>
      <p:sp>
        <p:nvSpPr>
          <p:cNvPr id="3" name="Text 1">
            <a:extLst>
              <a:ext uri="{FF2B5EF4-FFF2-40B4-BE49-F238E27FC236}">
                <a16:creationId xmlns:a16="http://schemas.microsoft.com/office/drawing/2014/main" id="{2229116A-BA39-1D51-0A6A-3103C144C5AA}"/>
              </a:ext>
            </a:extLst>
          </p:cNvPr>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16</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2DAADE88-FA3B-F354-DA9D-ED6A0DC56E44}"/>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a:extLst>
              <a:ext uri="{FF2B5EF4-FFF2-40B4-BE49-F238E27FC236}">
                <a16:creationId xmlns:a16="http://schemas.microsoft.com/office/drawing/2014/main" id="{0EE6D7C4-F2C5-E8F0-4CBF-ED5F5C2F48E1}"/>
              </a:ext>
            </a:extLst>
          </p:cNvPr>
          <p:cNvSpPr/>
          <p:nvPr/>
        </p:nvSpPr>
        <p:spPr>
          <a:xfrm>
            <a:off x="8412480" y="6428232"/>
            <a:ext cx="3383280" cy="256032"/>
          </a:xfrm>
          <a:prstGeom prst="rect">
            <a:avLst/>
          </a:prstGeom>
          <a:noFill/>
          <a:ln/>
        </p:spPr>
        <p:txBody>
          <a:bodyPr wrap="square" lIns="0" tIns="0" rIns="0" bIns="0" rtlCol="0" anchor="ctr"/>
          <a:lstStyle/>
          <a:p>
            <a:pPr algn="r">
              <a:defRPr/>
            </a:pPr>
            <a:r>
              <a:rPr lang="en" altLang="zh-CN" sz="1600" i="1" dirty="0">
                <a:solidFill>
                  <a:srgbClr val="5C5345"/>
                </a:solidFill>
                <a:ea typeface="Aptos"/>
                <a:cs typeface="Aptos"/>
              </a:rPr>
              <a:t>Dijkstra design</a:t>
            </a:r>
          </a:p>
        </p:txBody>
      </p:sp>
      <p:sp>
        <p:nvSpPr>
          <p:cNvPr id="8" name="Text 6">
            <a:extLst>
              <a:ext uri="{FF2B5EF4-FFF2-40B4-BE49-F238E27FC236}">
                <a16:creationId xmlns:a16="http://schemas.microsoft.com/office/drawing/2014/main" id="{33E616BC-5775-154A-DEEB-6E7266514568}"/>
              </a:ext>
            </a:extLst>
          </p:cNvPr>
          <p:cNvSpPr/>
          <p:nvPr/>
        </p:nvSpPr>
        <p:spPr>
          <a:xfrm>
            <a:off x="452409" y="1758912"/>
            <a:ext cx="4743936" cy="337796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16" name="文本框 15">
            <a:extLst>
              <a:ext uri="{FF2B5EF4-FFF2-40B4-BE49-F238E27FC236}">
                <a16:creationId xmlns:a16="http://schemas.microsoft.com/office/drawing/2014/main" id="{9E5054CE-B3FB-55E2-7629-012D8CD30A4C}"/>
              </a:ext>
            </a:extLst>
          </p:cNvPr>
          <p:cNvSpPr txBox="1"/>
          <p:nvPr/>
        </p:nvSpPr>
        <p:spPr>
          <a:xfrm>
            <a:off x="362244" y="772888"/>
            <a:ext cx="374105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Dijkstra Algorithm</a:t>
            </a:r>
          </a:p>
        </p:txBody>
      </p:sp>
      <p:sp>
        <p:nvSpPr>
          <p:cNvPr id="24" name="Shape 13">
            <a:extLst>
              <a:ext uri="{FF2B5EF4-FFF2-40B4-BE49-F238E27FC236}">
                <a16:creationId xmlns:a16="http://schemas.microsoft.com/office/drawing/2014/main" id="{0C658841-4CAF-013B-79A2-703DE26E0E92}"/>
              </a:ext>
            </a:extLst>
          </p:cNvPr>
          <p:cNvSpPr/>
          <p:nvPr/>
        </p:nvSpPr>
        <p:spPr>
          <a:xfrm>
            <a:off x="5759576" y="4060418"/>
            <a:ext cx="5807584" cy="2239123"/>
          </a:xfrm>
          <a:prstGeom prst="roundRect">
            <a:avLst>
              <a:gd name="adj" fmla="val 3810"/>
            </a:avLst>
          </a:prstGeom>
          <a:solidFill>
            <a:srgbClr val="B7C7A8"/>
          </a:solidFill>
          <a:ln w="12700">
            <a:solidFill>
              <a:srgbClr val="B7C7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9" name="Shape 10">
            <a:extLst>
              <a:ext uri="{FF2B5EF4-FFF2-40B4-BE49-F238E27FC236}">
                <a16:creationId xmlns:a16="http://schemas.microsoft.com/office/drawing/2014/main" id="{AEE62492-C2CC-A571-7B58-A605BFF6BA59}"/>
              </a:ext>
            </a:extLst>
          </p:cNvPr>
          <p:cNvSpPr/>
          <p:nvPr/>
        </p:nvSpPr>
        <p:spPr>
          <a:xfrm>
            <a:off x="335763" y="1466704"/>
            <a:ext cx="5165385" cy="4841499"/>
          </a:xfrm>
          <a:prstGeom prst="roundRect">
            <a:avLst>
              <a:gd name="adj" fmla="val 2353"/>
            </a:avLst>
          </a:prstGeom>
          <a:solidFill>
            <a:schemeClr val="accent1">
              <a:lumMod val="20000"/>
              <a:lumOff val="80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ptos"/>
              <a:ea typeface="等线" panose="02010600030101010101" pitchFamily="2" charset="-122"/>
              <a:cs typeface="+mn-cs"/>
            </a:endParaRPr>
          </a:p>
        </p:txBody>
      </p:sp>
      <p:sp>
        <p:nvSpPr>
          <p:cNvPr id="10" name="文本框 9">
            <a:extLst>
              <a:ext uri="{FF2B5EF4-FFF2-40B4-BE49-F238E27FC236}">
                <a16:creationId xmlns:a16="http://schemas.microsoft.com/office/drawing/2014/main" id="{40B59C65-4519-9FC9-435B-002215D2DD0A}"/>
              </a:ext>
            </a:extLst>
          </p:cNvPr>
          <p:cNvSpPr txBox="1"/>
          <p:nvPr/>
        </p:nvSpPr>
        <p:spPr>
          <a:xfrm>
            <a:off x="452409" y="2075259"/>
            <a:ext cx="4919274" cy="39703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 distances map records the current shortest known distance from the source to each vertex, while a </a:t>
            </a:r>
            <a:r>
              <a:rPr kumimoji="0" lang="en" altLang="zh-CN" sz="1800" b="1"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PriorityQueue</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ensures that the vertex with the smallest distance is processed first.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For each processed vertex, the algorithm checks its outgoing edges and calculates a candidate distance for each neighbor. If the candidate distance is shorter than the recorded value, the distance is updated and the current vertex is stored in </a:t>
            </a:r>
            <a:r>
              <a:rPr kumimoji="0" lang="en" altLang="zh-CN" sz="1800" b="1"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previousVertices</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After reaching the target, </a:t>
            </a:r>
            <a:r>
              <a:rPr kumimoji="0" lang="en" altLang="zh-CN" sz="1800" b="1"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previousVertices</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is used to reconstruct the final route from the target back to the source.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13" name="文本框 12">
            <a:extLst>
              <a:ext uri="{FF2B5EF4-FFF2-40B4-BE49-F238E27FC236}">
                <a16:creationId xmlns:a16="http://schemas.microsoft.com/office/drawing/2014/main" id="{FF830D23-1A37-E317-4D1F-6AB11961EED5}"/>
              </a:ext>
            </a:extLst>
          </p:cNvPr>
          <p:cNvSpPr txBox="1"/>
          <p:nvPr/>
        </p:nvSpPr>
        <p:spPr>
          <a:xfrm>
            <a:off x="5766738" y="4101725"/>
            <a:ext cx="625611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Complexity</a:t>
            </a:r>
            <a:r>
              <a:rPr kumimoji="0" lang="zh-CN" altLang="en-US" sz="18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0" lang="en-US" altLang="zh-CN" sz="18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Analysis</a:t>
            </a:r>
            <a:endParaRPr kumimoji="0" lang="en-US"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
        <p:nvSpPr>
          <p:cNvPr id="15" name="Text 6">
            <a:extLst>
              <a:ext uri="{FF2B5EF4-FFF2-40B4-BE49-F238E27FC236}">
                <a16:creationId xmlns:a16="http://schemas.microsoft.com/office/drawing/2014/main" id="{159A43B9-1008-32B3-8FB9-E6B700906F7D}"/>
              </a:ext>
            </a:extLst>
          </p:cNvPr>
          <p:cNvSpPr/>
          <p:nvPr/>
        </p:nvSpPr>
        <p:spPr>
          <a:xfrm>
            <a:off x="5894517" y="4562034"/>
            <a:ext cx="5807584" cy="164653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Current implementation uses </a:t>
            </a:r>
            <a:r>
              <a:rPr kumimoji="0" lang="en" altLang="zh-CN" sz="1800" b="0" i="1"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queue.remove</a:t>
            </a:r>
            <a:r>
              <a:rPr kumimoji="0" lang="en" altLang="zh-CN" sz="1800" b="0" i="1"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(neighbor)</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which may take O(V).</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Therefore, the time complexity is about </a:t>
            </a:r>
            <a:r>
              <a:rPr kumimoji="0" lang="en"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O(EV)</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Extra space: </a:t>
            </a:r>
            <a:r>
              <a:rPr kumimoji="0" lang="en"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O(V)</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for distances, </a:t>
            </a:r>
            <a:r>
              <a:rPr kumimoji="0" lang="en" altLang="zh-CN" sz="1800" b="0" i="1"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previousVertices</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and queue.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Graph storage: </a:t>
            </a:r>
            <a:r>
              <a:rPr kumimoji="0" lang="en"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O(V + E)</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using adjacency list.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17" name="文本框 16">
            <a:extLst>
              <a:ext uri="{FF2B5EF4-FFF2-40B4-BE49-F238E27FC236}">
                <a16:creationId xmlns:a16="http://schemas.microsoft.com/office/drawing/2014/main" id="{E3111191-F898-FA4C-BCDC-E31DDA31053C}"/>
              </a:ext>
            </a:extLst>
          </p:cNvPr>
          <p:cNvSpPr txBox="1"/>
          <p:nvPr/>
        </p:nvSpPr>
        <p:spPr>
          <a:xfrm>
            <a:off x="452409" y="1611693"/>
            <a:ext cx="625611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Design</a:t>
            </a:r>
          </a:p>
        </p:txBody>
      </p:sp>
      <p:sp>
        <p:nvSpPr>
          <p:cNvPr id="20" name="文本框 19">
            <a:extLst>
              <a:ext uri="{FF2B5EF4-FFF2-40B4-BE49-F238E27FC236}">
                <a16:creationId xmlns:a16="http://schemas.microsoft.com/office/drawing/2014/main" id="{2E74F343-6F58-818B-EB7A-357E3D9671AD}"/>
              </a:ext>
            </a:extLst>
          </p:cNvPr>
          <p:cNvSpPr txBox="1"/>
          <p:nvPr/>
        </p:nvSpPr>
        <p:spPr>
          <a:xfrm>
            <a:off x="6107722" y="648781"/>
            <a:ext cx="3996398" cy="329320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while (!queue.isEmpty())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zh-CN" altLang="en-US" sz="1300" b="0" i="0" u="none" strike="noStrike" kern="1200" cap="none" spc="0" normalizeH="0" baseline="0" noProof="0" dirty="0">
                <a:ln>
                  <a:noFill/>
                </a:ln>
                <a:solidFill>
                  <a:prstClr val="black"/>
                </a:solidFill>
                <a:effectLst/>
                <a:highlight>
                  <a:srgbClr val="FFFF00"/>
                </a:highlight>
                <a:uLnTx/>
                <a:uFillTx/>
                <a:latin typeface="Aptos"/>
                <a:ea typeface="等线" panose="02010600030101010101" pitchFamily="2" charset="-122"/>
                <a:cs typeface="+mn-cs"/>
              </a:rPr>
              <a:t> Vertex current = queue.poll();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for (Edge edge : graph.getEdgesFrom(current))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Vertex neighbor = edge.getTo();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int candidateDistance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distances.get(current) + edge.getWeight();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if (candidateDistance &lt; distances.get(neighbor))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zh-CN" altLang="en-US" sz="1300" b="0" i="0" u="none" strike="noStrike" kern="1200" cap="none" spc="0" normalizeH="0" baseline="0" noProof="0" dirty="0">
                <a:ln>
                  <a:noFill/>
                </a:ln>
                <a:solidFill>
                  <a:prstClr val="black"/>
                </a:solidFill>
                <a:effectLst/>
                <a:highlight>
                  <a:srgbClr val="FFFF00"/>
                </a:highlight>
                <a:uLnTx/>
                <a:uFillTx/>
                <a:latin typeface="Aptos"/>
                <a:ea typeface="等线" panose="02010600030101010101" pitchFamily="2" charset="-122"/>
                <a:cs typeface="+mn-cs"/>
              </a:rPr>
              <a:t>distances.put(neighbor, candidateDistance);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previousVertices.put(neighbor, current);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queue.remove(neighbor);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queue.offer(neighbor);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p>
        </p:txBody>
      </p:sp>
      <p:sp>
        <p:nvSpPr>
          <p:cNvPr id="25" name="Shape 10">
            <a:extLst>
              <a:ext uri="{FF2B5EF4-FFF2-40B4-BE49-F238E27FC236}">
                <a16:creationId xmlns:a16="http://schemas.microsoft.com/office/drawing/2014/main" id="{935CD222-3791-1742-E52B-8952075A80B2}"/>
              </a:ext>
            </a:extLst>
          </p:cNvPr>
          <p:cNvSpPr/>
          <p:nvPr/>
        </p:nvSpPr>
        <p:spPr>
          <a:xfrm>
            <a:off x="8940389" y="654753"/>
            <a:ext cx="2761712" cy="480874"/>
          </a:xfrm>
          <a:prstGeom prst="roundRect">
            <a:avLst>
              <a:gd name="adj" fmla="val 2353"/>
            </a:avLst>
          </a:prstGeom>
          <a:solidFill>
            <a:schemeClr val="bg2">
              <a:lumMod val="90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2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rPr>
              <a:t>Extract the vertex that is closest to the starting point at present.</a:t>
            </a:r>
            <a:endParaRPr kumimoji="0" lang="zh-CN" altLang="en-US" sz="12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endParaRPr>
          </a:p>
        </p:txBody>
      </p:sp>
      <p:sp>
        <p:nvSpPr>
          <p:cNvPr id="30" name="Shape 10">
            <a:extLst>
              <a:ext uri="{FF2B5EF4-FFF2-40B4-BE49-F238E27FC236}">
                <a16:creationId xmlns:a16="http://schemas.microsoft.com/office/drawing/2014/main" id="{E2B02AF8-8FE1-475C-073F-3FAD1164ABC3}"/>
              </a:ext>
            </a:extLst>
          </p:cNvPr>
          <p:cNvSpPr/>
          <p:nvPr/>
        </p:nvSpPr>
        <p:spPr>
          <a:xfrm>
            <a:off x="9928695" y="2487527"/>
            <a:ext cx="2179846" cy="480874"/>
          </a:xfrm>
          <a:prstGeom prst="roundRect">
            <a:avLst>
              <a:gd name="adj" fmla="val 2353"/>
            </a:avLst>
          </a:prstGeom>
          <a:solidFill>
            <a:schemeClr val="bg2">
              <a:lumMod val="90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rPr>
              <a:t>Update the shortest distance of its neighboring nodes</a:t>
            </a:r>
          </a:p>
        </p:txBody>
      </p:sp>
    </p:spTree>
    <p:extLst>
      <p:ext uri="{BB962C8B-B14F-4D97-AF65-F5344CB8AC3E}">
        <p14:creationId xmlns:p14="http://schemas.microsoft.com/office/powerpoint/2010/main" val="1614954384"/>
      </p:ext>
    </p:extLst>
  </p:cSld>
  <p:clrMapOvr>
    <a:masterClrMapping/>
  </p:clrMapOvr>
  <mc:AlternateContent xmlns:mc="http://schemas.openxmlformats.org/markup-compatibility/2006" xmlns:p14="http://schemas.microsoft.com/office/powerpoint/2010/main">
    <mc:Choice Requires="p14">
      <p:transition spd="slow" p14:dur="2000" advTm="66808"/>
    </mc:Choice>
    <mc:Fallback xmlns="">
      <p:transition spd="slow" advTm="66808"/>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3BDE0020-FBC1-D30D-594F-256F89A0D15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A9758B6-3A4F-2B6E-B257-E23C8DC57581}"/>
              </a:ext>
            </a:extLst>
          </p:cNvPr>
          <p:cNvSpPr/>
          <p:nvPr/>
        </p:nvSpPr>
        <p:spPr>
          <a:xfrm>
            <a:off x="502920" y="256032"/>
            <a:ext cx="2926080" cy="274320"/>
          </a:xfrm>
          <a:prstGeom prst="rect">
            <a:avLst/>
          </a:prstGeom>
          <a:noFill/>
          <a:ln/>
        </p:spPr>
        <p:txBody>
          <a:bodyPr wrap="square" lIns="0" tIns="0" rIns="0" bIns="0" rtlCol="0" anchor="ctr"/>
          <a:lstStyle/>
          <a:p>
            <a:pPr lvl="0">
              <a:defRPr/>
            </a:pPr>
            <a:r>
              <a:rPr lang="en-US" altLang="zh-CN" sz="1600" dirty="0">
                <a:solidFill>
                  <a:srgbClr val="2A241B"/>
                </a:solidFill>
                <a:latin typeface="Aptos" pitchFamily="34" charset="0"/>
                <a:ea typeface="Aptos" pitchFamily="34" charset="-122"/>
                <a:cs typeface="Aptos" pitchFamily="34" charset="-120"/>
              </a:rPr>
              <a:t>Task</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B ·</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Graph Algorithm</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Design  </a:t>
            </a:r>
            <a:endParaRPr lang="en-US" altLang="zh-CN" sz="1600" dirty="0">
              <a:solidFill>
                <a:prstClr val="black"/>
              </a:solidFill>
            </a:endParaRPr>
          </a:p>
        </p:txBody>
      </p:sp>
      <p:sp>
        <p:nvSpPr>
          <p:cNvPr id="3" name="Text 1">
            <a:extLst>
              <a:ext uri="{FF2B5EF4-FFF2-40B4-BE49-F238E27FC236}">
                <a16:creationId xmlns:a16="http://schemas.microsoft.com/office/drawing/2014/main" id="{EAC0ECCD-3AB2-5F46-64A4-03DECBF938D7}"/>
              </a:ext>
            </a:extLst>
          </p:cNvPr>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17</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39D4C892-4957-E117-2849-CB1B32BFAC39}"/>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6">
            <a:extLst>
              <a:ext uri="{FF2B5EF4-FFF2-40B4-BE49-F238E27FC236}">
                <a16:creationId xmlns:a16="http://schemas.microsoft.com/office/drawing/2014/main" id="{5AA2EC47-C44A-3DE8-B1B0-2C358108786A}"/>
              </a:ext>
            </a:extLst>
          </p:cNvPr>
          <p:cNvSpPr/>
          <p:nvPr/>
        </p:nvSpPr>
        <p:spPr>
          <a:xfrm>
            <a:off x="452409" y="1758912"/>
            <a:ext cx="4743936" cy="337796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16" name="文本框 15">
            <a:extLst>
              <a:ext uri="{FF2B5EF4-FFF2-40B4-BE49-F238E27FC236}">
                <a16:creationId xmlns:a16="http://schemas.microsoft.com/office/drawing/2014/main" id="{67D0BB76-E675-9981-4F2E-C6CED873B219}"/>
              </a:ext>
            </a:extLst>
          </p:cNvPr>
          <p:cNvSpPr txBox="1"/>
          <p:nvPr/>
        </p:nvSpPr>
        <p:spPr>
          <a:xfrm>
            <a:off x="362244" y="772888"/>
            <a:ext cx="5397332"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Bellman-Ford Algorithm</a:t>
            </a:r>
          </a:p>
        </p:txBody>
      </p:sp>
      <p:sp>
        <p:nvSpPr>
          <p:cNvPr id="24" name="Shape 13">
            <a:extLst>
              <a:ext uri="{FF2B5EF4-FFF2-40B4-BE49-F238E27FC236}">
                <a16:creationId xmlns:a16="http://schemas.microsoft.com/office/drawing/2014/main" id="{A25BB9E2-EADF-1522-B167-C1F468C63AE1}"/>
              </a:ext>
            </a:extLst>
          </p:cNvPr>
          <p:cNvSpPr/>
          <p:nvPr/>
        </p:nvSpPr>
        <p:spPr>
          <a:xfrm>
            <a:off x="9169372" y="5122314"/>
            <a:ext cx="2853482" cy="1185889"/>
          </a:xfrm>
          <a:prstGeom prst="roundRect">
            <a:avLst>
              <a:gd name="adj" fmla="val 3810"/>
            </a:avLst>
          </a:prstGeom>
          <a:solidFill>
            <a:srgbClr val="B7C7A8"/>
          </a:solidFill>
          <a:ln w="12700">
            <a:solidFill>
              <a:srgbClr val="B7C7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9" name="Shape 10">
            <a:extLst>
              <a:ext uri="{FF2B5EF4-FFF2-40B4-BE49-F238E27FC236}">
                <a16:creationId xmlns:a16="http://schemas.microsoft.com/office/drawing/2014/main" id="{F6BED0E3-E5AC-0774-0920-DE28E6DBA421}"/>
              </a:ext>
            </a:extLst>
          </p:cNvPr>
          <p:cNvSpPr/>
          <p:nvPr/>
        </p:nvSpPr>
        <p:spPr>
          <a:xfrm>
            <a:off x="335763" y="1466704"/>
            <a:ext cx="5165385" cy="4841499"/>
          </a:xfrm>
          <a:prstGeom prst="roundRect">
            <a:avLst>
              <a:gd name="adj" fmla="val 2353"/>
            </a:avLst>
          </a:prstGeom>
          <a:solidFill>
            <a:schemeClr val="accent4">
              <a:lumMod val="40000"/>
              <a:lumOff val="60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ptos"/>
              <a:ea typeface="等线" panose="02010600030101010101" pitchFamily="2" charset="-122"/>
              <a:cs typeface="+mn-cs"/>
            </a:endParaRPr>
          </a:p>
        </p:txBody>
      </p:sp>
      <p:sp>
        <p:nvSpPr>
          <p:cNvPr id="10" name="文本框 9">
            <a:extLst>
              <a:ext uri="{FF2B5EF4-FFF2-40B4-BE49-F238E27FC236}">
                <a16:creationId xmlns:a16="http://schemas.microsoft.com/office/drawing/2014/main" id="{24F20AAC-64CB-32C0-5E72-E729CB62DBC7}"/>
              </a:ext>
            </a:extLst>
          </p:cNvPr>
          <p:cNvSpPr txBox="1"/>
          <p:nvPr/>
        </p:nvSpPr>
        <p:spPr>
          <a:xfrm>
            <a:off x="451842" y="2097143"/>
            <a:ext cx="4919274" cy="45243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Similar to Dijkstra, it uses a distances map to record the current shortest known distance from the source vertex, and </a:t>
            </a:r>
            <a:r>
              <a:rPr kumimoji="0" lang="en" altLang="zh-CN" sz="1800" b="1"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previousVertices</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to rebuild the final path. However, Bellman-Ford does not use a priority queue. Instead, it repeatedly checks all edges in the graph and relaxes them for up to V - 1 passes, where V is the number of vertices.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During each pass, the algorithm calculates a candidate distance for every reachable neighbor. If the candidate distance is smaller than the recorded distance, the distance is updated and the current vertex is stored as the previous vertex.</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endParaRPr kumimoji="1"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13" name="文本框 12">
            <a:extLst>
              <a:ext uri="{FF2B5EF4-FFF2-40B4-BE49-F238E27FC236}">
                <a16:creationId xmlns:a16="http://schemas.microsoft.com/office/drawing/2014/main" id="{CD54686A-8788-0191-25AE-077151D636C4}"/>
              </a:ext>
            </a:extLst>
          </p:cNvPr>
          <p:cNvSpPr txBox="1"/>
          <p:nvPr/>
        </p:nvSpPr>
        <p:spPr>
          <a:xfrm>
            <a:off x="9150018" y="5188456"/>
            <a:ext cx="264574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Complexity</a:t>
            </a:r>
            <a:r>
              <a:rPr kumimoji="0" lang="zh-CN" altLang="en-US" sz="18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0" lang="en-US" altLang="zh-CN" sz="18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Analysis</a:t>
            </a:r>
            <a:endParaRPr kumimoji="0" lang="en-US"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
        <p:nvSpPr>
          <p:cNvPr id="15" name="Text 6">
            <a:extLst>
              <a:ext uri="{FF2B5EF4-FFF2-40B4-BE49-F238E27FC236}">
                <a16:creationId xmlns:a16="http://schemas.microsoft.com/office/drawing/2014/main" id="{1FFFC312-7D1E-C757-E29D-4DA562BEA842}"/>
              </a:ext>
            </a:extLst>
          </p:cNvPr>
          <p:cNvSpPr/>
          <p:nvPr/>
        </p:nvSpPr>
        <p:spPr>
          <a:xfrm>
            <a:off x="9304313" y="5623930"/>
            <a:ext cx="2517963" cy="684273"/>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Time complexity: </a:t>
            </a:r>
            <a:r>
              <a:rPr kumimoji="0" lang="en"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O(VE)</a:t>
            </a:r>
            <a:endPar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Space complexity: </a:t>
            </a:r>
            <a:r>
              <a:rPr kumimoji="0" lang="en"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O(V)</a:t>
            </a:r>
            <a:endPar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17" name="文本框 16">
            <a:extLst>
              <a:ext uri="{FF2B5EF4-FFF2-40B4-BE49-F238E27FC236}">
                <a16:creationId xmlns:a16="http://schemas.microsoft.com/office/drawing/2014/main" id="{13F325A6-487D-0184-4C84-6C315B5E7799}"/>
              </a:ext>
            </a:extLst>
          </p:cNvPr>
          <p:cNvSpPr txBox="1"/>
          <p:nvPr/>
        </p:nvSpPr>
        <p:spPr>
          <a:xfrm>
            <a:off x="452409" y="1611693"/>
            <a:ext cx="625611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Design</a:t>
            </a:r>
          </a:p>
        </p:txBody>
      </p:sp>
      <p:sp>
        <p:nvSpPr>
          <p:cNvPr id="20" name="文本框 19">
            <a:extLst>
              <a:ext uri="{FF2B5EF4-FFF2-40B4-BE49-F238E27FC236}">
                <a16:creationId xmlns:a16="http://schemas.microsoft.com/office/drawing/2014/main" id="{FCFBB9A4-86ED-79AD-C88F-D59FE7B66E76}"/>
              </a:ext>
            </a:extLst>
          </p:cNvPr>
          <p:cNvSpPr txBox="1"/>
          <p:nvPr/>
        </p:nvSpPr>
        <p:spPr>
          <a:xfrm>
            <a:off x="6096000" y="772888"/>
            <a:ext cx="4256487" cy="549381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for (int pass = 0; pass &lt; </a:t>
            </a:r>
            <a:r>
              <a:rPr kumimoji="0" lang="en" altLang="zh-CN" sz="13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vertexCount</a:t>
            </a: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- 1; pass++)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 altLang="zh-CN" sz="13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boolean</a:t>
            </a: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updated = false;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for (Vertex current : </a:t>
            </a:r>
            <a:r>
              <a:rPr kumimoji="0" lang="en" altLang="zh-CN" sz="13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graph.getVertices</a:t>
            </a: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int </a:t>
            </a:r>
            <a:r>
              <a:rPr kumimoji="0" lang="en" altLang="zh-CN" sz="13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currentDistance</a:t>
            </a: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 </a:t>
            </a:r>
            <a:r>
              <a:rPr kumimoji="0" lang="en" altLang="zh-CN" sz="13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distances.get</a:t>
            </a: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(current);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if (</a:t>
            </a:r>
            <a:r>
              <a:rPr kumimoji="0" lang="en" altLang="zh-CN" sz="13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currentDistance</a:t>
            </a: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 </a:t>
            </a:r>
            <a:r>
              <a:rPr kumimoji="0" lang="en" altLang="zh-CN" sz="13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Integer.MAX_VALUE</a:t>
            </a: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continue;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for (Edge edge : </a:t>
            </a:r>
            <a:r>
              <a:rPr kumimoji="0" lang="en" altLang="zh-CN" sz="13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graph.getEdgesFrom</a:t>
            </a: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(current))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Vertex neighbor = </a:t>
            </a:r>
            <a:r>
              <a:rPr kumimoji="0" lang="en" altLang="zh-CN" sz="13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edge.getTo</a:t>
            </a: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 altLang="zh-CN" sz="1300" b="0" i="0" u="none" strike="noStrike" kern="1200" cap="none" spc="0" normalizeH="0" baseline="0" noProof="0" dirty="0">
                <a:ln>
                  <a:noFill/>
                </a:ln>
                <a:solidFill>
                  <a:prstClr val="black"/>
                </a:solidFill>
                <a:effectLst/>
                <a:highlight>
                  <a:srgbClr val="FFFF00"/>
                </a:highlight>
                <a:uLnTx/>
                <a:uFillTx/>
                <a:latin typeface="Aptos"/>
                <a:ea typeface="等线" panose="02010600030101010101" pitchFamily="2" charset="-122"/>
                <a:cs typeface="+mn-cs"/>
              </a:rPr>
              <a:t>int </a:t>
            </a:r>
            <a:r>
              <a:rPr kumimoji="0" lang="en" altLang="zh-CN" sz="1300" b="0" i="0" u="none" strike="noStrike" kern="1200" cap="none" spc="0" normalizeH="0" baseline="0" noProof="0" dirty="0" err="1">
                <a:ln>
                  <a:noFill/>
                </a:ln>
                <a:solidFill>
                  <a:prstClr val="black"/>
                </a:solidFill>
                <a:effectLst/>
                <a:highlight>
                  <a:srgbClr val="FFFF00"/>
                </a:highlight>
                <a:uLnTx/>
                <a:uFillTx/>
                <a:latin typeface="Aptos"/>
                <a:ea typeface="等线" panose="02010600030101010101" pitchFamily="2" charset="-122"/>
                <a:cs typeface="+mn-cs"/>
              </a:rPr>
              <a:t>candidateDistance</a:t>
            </a:r>
            <a:r>
              <a:rPr kumimoji="0" lang="en" altLang="zh-CN" sz="1300" b="0" i="0" u="none" strike="noStrike" kern="1200" cap="none" spc="0" normalizeH="0" baseline="0" noProof="0" dirty="0">
                <a:ln>
                  <a:noFill/>
                </a:ln>
                <a:solidFill>
                  <a:prstClr val="black"/>
                </a:solidFill>
                <a:effectLst/>
                <a:highlight>
                  <a:srgbClr val="FFFF00"/>
                </a:highligh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 altLang="zh-CN" sz="1300" b="0" i="0" u="none" strike="noStrike" kern="1200" cap="none" spc="0" normalizeH="0" baseline="0" noProof="0" dirty="0" err="1">
                <a:ln>
                  <a:noFill/>
                </a:ln>
                <a:solidFill>
                  <a:prstClr val="black"/>
                </a:solidFill>
                <a:effectLst/>
                <a:highlight>
                  <a:srgbClr val="FFFF00"/>
                </a:highlight>
                <a:uLnTx/>
                <a:uFillTx/>
                <a:latin typeface="Aptos"/>
                <a:ea typeface="等线" panose="02010600030101010101" pitchFamily="2" charset="-122"/>
                <a:cs typeface="+mn-cs"/>
              </a:rPr>
              <a:t>currentDistance</a:t>
            </a:r>
            <a:r>
              <a:rPr kumimoji="0" lang="en" altLang="zh-CN" sz="1300" b="0" i="0" u="none" strike="noStrike" kern="1200" cap="none" spc="0" normalizeH="0" baseline="0" noProof="0" dirty="0">
                <a:ln>
                  <a:noFill/>
                </a:ln>
                <a:solidFill>
                  <a:prstClr val="black"/>
                </a:solidFill>
                <a:effectLst/>
                <a:highlight>
                  <a:srgbClr val="FFFF00"/>
                </a:highlight>
                <a:uLnTx/>
                <a:uFillTx/>
                <a:latin typeface="Aptos"/>
                <a:ea typeface="等线" panose="02010600030101010101" pitchFamily="2" charset="-122"/>
                <a:cs typeface="+mn-cs"/>
              </a:rPr>
              <a:t> + </a:t>
            </a:r>
            <a:r>
              <a:rPr kumimoji="0" lang="en" altLang="zh-CN" sz="1300" b="0" i="0" u="none" strike="noStrike" kern="1200" cap="none" spc="0" normalizeH="0" baseline="0" noProof="0" dirty="0" err="1">
                <a:ln>
                  <a:noFill/>
                </a:ln>
                <a:solidFill>
                  <a:prstClr val="black"/>
                </a:solidFill>
                <a:effectLst/>
                <a:highlight>
                  <a:srgbClr val="FFFF00"/>
                </a:highlight>
                <a:uLnTx/>
                <a:uFillTx/>
                <a:latin typeface="Aptos"/>
                <a:ea typeface="等线" panose="02010600030101010101" pitchFamily="2" charset="-122"/>
                <a:cs typeface="+mn-cs"/>
              </a:rPr>
              <a:t>edge.getWeight</a:t>
            </a:r>
            <a:r>
              <a:rPr kumimoji="0" lang="en" altLang="zh-CN" sz="1300" b="0" i="0" u="none" strike="noStrike" kern="1200" cap="none" spc="0" normalizeH="0" baseline="0" noProof="0" dirty="0">
                <a:ln>
                  <a:noFill/>
                </a:ln>
                <a:solidFill>
                  <a:prstClr val="black"/>
                </a:solidFill>
                <a:effectLst/>
                <a:highlight>
                  <a:srgbClr val="FFFF00"/>
                </a:highlight>
                <a:uLnTx/>
                <a:uFillTx/>
                <a:latin typeface="Aptos"/>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if (</a:t>
            </a:r>
            <a:r>
              <a:rPr kumimoji="0" lang="en" altLang="zh-CN" sz="13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candidateDistance</a:t>
            </a: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&lt; </a:t>
            </a:r>
            <a:r>
              <a:rPr kumimoji="0" lang="en" altLang="zh-CN" sz="13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distances.get</a:t>
            </a: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(neighbor))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 altLang="zh-CN" sz="13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distances.put</a:t>
            </a: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(neighbor, </a:t>
            </a:r>
            <a:r>
              <a:rPr kumimoji="0" lang="en" altLang="zh-CN" sz="13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candidateDistance</a:t>
            </a: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 altLang="zh-CN" sz="13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previousVertices.put</a:t>
            </a: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(neighbor, current);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updated = true;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if (!updated)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break;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endParaRPr kumimoji="0" lang="zh-CN" altLang="en-US" sz="13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6" name="Shape 10">
            <a:extLst>
              <a:ext uri="{FF2B5EF4-FFF2-40B4-BE49-F238E27FC236}">
                <a16:creationId xmlns:a16="http://schemas.microsoft.com/office/drawing/2014/main" id="{591FE7D9-3673-B351-6E69-ED8423D4A522}"/>
              </a:ext>
            </a:extLst>
          </p:cNvPr>
          <p:cNvSpPr/>
          <p:nvPr/>
        </p:nvSpPr>
        <p:spPr>
          <a:xfrm>
            <a:off x="3688687" y="530352"/>
            <a:ext cx="1928079" cy="284075"/>
          </a:xfrm>
          <a:prstGeom prst="roundRect">
            <a:avLst>
              <a:gd name="adj" fmla="val 2353"/>
            </a:avLst>
          </a:prstGeom>
          <a:solidFill>
            <a:schemeClr val="bg2">
              <a:lumMod val="90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rPr>
              <a:t>EXTRA</a:t>
            </a:r>
            <a:r>
              <a:rPr kumimoji="0" lang="zh-CN" altLang="en-US" sz="12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rPr>
              <a:t> </a:t>
            </a:r>
            <a:r>
              <a:rPr kumimoji="0" lang="en-US" altLang="zh-CN" sz="12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rPr>
              <a:t>IMPLEMENTATION</a:t>
            </a:r>
            <a:endParaRPr kumimoji="0" lang="zh-CN" altLang="en-US" sz="12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endParaRPr>
          </a:p>
        </p:txBody>
      </p:sp>
      <p:sp>
        <p:nvSpPr>
          <p:cNvPr id="11" name="Text 3">
            <a:extLst>
              <a:ext uri="{FF2B5EF4-FFF2-40B4-BE49-F238E27FC236}">
                <a16:creationId xmlns:a16="http://schemas.microsoft.com/office/drawing/2014/main" id="{F907C7D6-C372-6F74-0847-E7ED67610C0C}"/>
              </a:ext>
            </a:extLst>
          </p:cNvPr>
          <p:cNvSpPr>
            <a:spLocks noGrp="1"/>
          </p:cNvSpPr>
          <p:nvPr/>
        </p:nvSpPr>
        <p:spPr>
          <a:xfrm>
            <a:off x="8412480" y="6428232"/>
            <a:ext cx="3383280" cy="256032"/>
          </a:xfrm>
          <a:prstGeom prst="rect">
            <a:avLst/>
          </a:prstGeom>
          <a:noFill/>
        </p:spPr>
        <p:txBody>
          <a:bodyPr wrap="square" lIns="0" tIns="0" rIns="0" bIns="0" anchor="ctr"/>
          <a:lstStyle/>
          <a:p>
            <a:pPr marL="0" indent="0" algn="r">
              <a:lnSpc>
                <a:spcPct val="100000"/>
              </a:lnSpc>
              <a:spcBef>
                <a:spcPts val="0"/>
              </a:spcBef>
              <a:spcAft>
                <a:spcPts val="0"/>
              </a:spcAft>
              <a:buNone/>
            </a:pPr>
            <a:r>
              <a:rPr sz="1600" b="0" i="1" u="none" cap="none" dirty="0">
                <a:ln>
                  <a:noFill/>
                </a:ln>
                <a:solidFill>
                  <a:srgbClr val="5C5345"/>
                </a:solidFill>
                <a:latin typeface="Aptos"/>
                <a:ea typeface="Aptos"/>
                <a:cs typeface="Aptos"/>
              </a:rPr>
              <a:t>Bellman-Ford design</a:t>
            </a:r>
          </a:p>
        </p:txBody>
      </p:sp>
    </p:spTree>
    <p:extLst>
      <p:ext uri="{BB962C8B-B14F-4D97-AF65-F5344CB8AC3E}">
        <p14:creationId xmlns:p14="http://schemas.microsoft.com/office/powerpoint/2010/main" val="1537922358"/>
      </p:ext>
    </p:extLst>
  </p:cSld>
  <p:clrMapOvr>
    <a:masterClrMapping/>
  </p:clrMapOvr>
  <mc:AlternateContent xmlns:mc="http://schemas.openxmlformats.org/markup-compatibility/2006" xmlns:p14="http://schemas.microsoft.com/office/powerpoint/2010/main">
    <mc:Choice Requires="p14">
      <p:transition spd="slow" p14:dur="2000" advTm="39305"/>
    </mc:Choice>
    <mc:Fallback xmlns="">
      <p:transition spd="slow" advTm="39305"/>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4F9D4B63-C37D-F010-37CF-14D447F87EC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889CDEE-4644-1321-90CF-FB1A7CB79262}"/>
              </a:ext>
            </a:extLst>
          </p:cNvPr>
          <p:cNvSpPr/>
          <p:nvPr/>
        </p:nvSpPr>
        <p:spPr>
          <a:xfrm>
            <a:off x="502920" y="256032"/>
            <a:ext cx="2926080" cy="274320"/>
          </a:xfrm>
          <a:prstGeom prst="rect">
            <a:avLst/>
          </a:prstGeom>
          <a:noFill/>
          <a:ln/>
        </p:spPr>
        <p:txBody>
          <a:bodyPr wrap="square" lIns="0" tIns="0" rIns="0" bIns="0" rtlCol="0" anchor="ctr"/>
          <a:lstStyle/>
          <a:p>
            <a:pPr lvl="0">
              <a:defRPr/>
            </a:pPr>
            <a:r>
              <a:rPr lang="en-US" altLang="zh-CN" sz="1600" dirty="0">
                <a:solidFill>
                  <a:srgbClr val="2A241B"/>
                </a:solidFill>
                <a:latin typeface="Aptos" pitchFamily="34" charset="0"/>
                <a:ea typeface="Aptos" pitchFamily="34" charset="-122"/>
                <a:cs typeface="Aptos" pitchFamily="34" charset="-120"/>
              </a:rPr>
              <a:t>Task</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B ·</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Graph Algorithm</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Design  </a:t>
            </a:r>
            <a:endParaRPr lang="en-US" altLang="zh-CN" sz="1600" dirty="0">
              <a:solidFill>
                <a:prstClr val="black"/>
              </a:solidFill>
            </a:endParaRPr>
          </a:p>
        </p:txBody>
      </p:sp>
      <p:sp>
        <p:nvSpPr>
          <p:cNvPr id="3" name="Text 1">
            <a:extLst>
              <a:ext uri="{FF2B5EF4-FFF2-40B4-BE49-F238E27FC236}">
                <a16:creationId xmlns:a16="http://schemas.microsoft.com/office/drawing/2014/main" id="{3624BB50-C73A-A330-82C0-FC324D454C19}"/>
              </a:ext>
            </a:extLst>
          </p:cNvPr>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18</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83A1D815-8073-7D59-1401-FEA5451D7670}"/>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a:extLst>
              <a:ext uri="{FF2B5EF4-FFF2-40B4-BE49-F238E27FC236}">
                <a16:creationId xmlns:a16="http://schemas.microsoft.com/office/drawing/2014/main" id="{F36001B6-EEC1-EAD5-F34E-B4DE05CFEF66}"/>
              </a:ext>
            </a:extLst>
          </p:cNvPr>
          <p:cNvSpPr/>
          <p:nvPr/>
        </p:nvSpPr>
        <p:spPr>
          <a:xfrm>
            <a:off x="8412480" y="6428232"/>
            <a:ext cx="3383280" cy="256032"/>
          </a:xfrm>
          <a:prstGeom prst="rect">
            <a:avLst/>
          </a:prstGeom>
          <a:noFill/>
          <a:ln/>
        </p:spPr>
        <p:txBody>
          <a:bodyPr wrap="square" lIns="0" tIns="0" rIns="0" bIns="0" rtlCol="0" anchor="ctr"/>
          <a:lstStyle/>
          <a:p>
            <a:pPr algn="r">
              <a:defRPr/>
            </a:pPr>
            <a:r>
              <a:rPr lang="en" altLang="zh-CN" sz="1600" i="1" dirty="0">
                <a:solidFill>
                  <a:srgbClr val="5C5345"/>
                </a:solidFill>
                <a:ea typeface="Aptos"/>
                <a:cs typeface="Aptos"/>
              </a:rPr>
              <a:t>Floyd-</a:t>
            </a:r>
            <a:r>
              <a:rPr lang="en" altLang="zh-CN" sz="1600" i="1" dirty="0" err="1">
                <a:solidFill>
                  <a:srgbClr val="5C5345"/>
                </a:solidFill>
                <a:ea typeface="Aptos"/>
                <a:cs typeface="Aptos"/>
              </a:rPr>
              <a:t>Warshall</a:t>
            </a:r>
            <a:r>
              <a:rPr lang="en" altLang="zh-CN" sz="1600" i="1" dirty="0">
                <a:solidFill>
                  <a:srgbClr val="5C5345"/>
                </a:solidFill>
                <a:ea typeface="Aptos"/>
                <a:cs typeface="Aptos"/>
              </a:rPr>
              <a:t> design</a:t>
            </a:r>
          </a:p>
        </p:txBody>
      </p:sp>
      <p:sp>
        <p:nvSpPr>
          <p:cNvPr id="8" name="Text 6">
            <a:extLst>
              <a:ext uri="{FF2B5EF4-FFF2-40B4-BE49-F238E27FC236}">
                <a16:creationId xmlns:a16="http://schemas.microsoft.com/office/drawing/2014/main" id="{898B7D13-042D-6127-D1DC-3A54A89903D9}"/>
              </a:ext>
            </a:extLst>
          </p:cNvPr>
          <p:cNvSpPr/>
          <p:nvPr/>
        </p:nvSpPr>
        <p:spPr>
          <a:xfrm>
            <a:off x="452409" y="1758912"/>
            <a:ext cx="4743936" cy="337796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16" name="文本框 15">
            <a:extLst>
              <a:ext uri="{FF2B5EF4-FFF2-40B4-BE49-F238E27FC236}">
                <a16:creationId xmlns:a16="http://schemas.microsoft.com/office/drawing/2014/main" id="{78BEA5CF-F06E-FD2B-790F-B167D2238CC1}"/>
              </a:ext>
            </a:extLst>
          </p:cNvPr>
          <p:cNvSpPr txBox="1"/>
          <p:nvPr/>
        </p:nvSpPr>
        <p:spPr>
          <a:xfrm>
            <a:off x="362244" y="772888"/>
            <a:ext cx="5397332"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Floyd-</a:t>
            </a:r>
            <a:r>
              <a:rPr kumimoji="0" lang="en" altLang="zh-CN" sz="32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Warshall</a:t>
            </a:r>
            <a:r>
              <a:rPr kumimoji="0"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Algorithm</a:t>
            </a:r>
          </a:p>
        </p:txBody>
      </p:sp>
      <p:sp>
        <p:nvSpPr>
          <p:cNvPr id="24" name="Shape 13">
            <a:extLst>
              <a:ext uri="{FF2B5EF4-FFF2-40B4-BE49-F238E27FC236}">
                <a16:creationId xmlns:a16="http://schemas.microsoft.com/office/drawing/2014/main" id="{1AFAAC7C-9744-4830-44F1-B7EC9168BAC7}"/>
              </a:ext>
            </a:extLst>
          </p:cNvPr>
          <p:cNvSpPr/>
          <p:nvPr/>
        </p:nvSpPr>
        <p:spPr>
          <a:xfrm>
            <a:off x="5985888" y="4744691"/>
            <a:ext cx="4680466" cy="1563512"/>
          </a:xfrm>
          <a:prstGeom prst="roundRect">
            <a:avLst>
              <a:gd name="adj" fmla="val 3810"/>
            </a:avLst>
          </a:prstGeom>
          <a:solidFill>
            <a:srgbClr val="B7C7A8"/>
          </a:solidFill>
          <a:ln w="12700">
            <a:solidFill>
              <a:srgbClr val="B7C7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9" name="Shape 10">
            <a:extLst>
              <a:ext uri="{FF2B5EF4-FFF2-40B4-BE49-F238E27FC236}">
                <a16:creationId xmlns:a16="http://schemas.microsoft.com/office/drawing/2014/main" id="{88F85974-717E-25DE-E2F9-D8100EC38642}"/>
              </a:ext>
            </a:extLst>
          </p:cNvPr>
          <p:cNvSpPr/>
          <p:nvPr/>
        </p:nvSpPr>
        <p:spPr>
          <a:xfrm>
            <a:off x="335763" y="1466704"/>
            <a:ext cx="5165385" cy="4841499"/>
          </a:xfrm>
          <a:prstGeom prst="roundRect">
            <a:avLst>
              <a:gd name="adj" fmla="val 2353"/>
            </a:avLst>
          </a:prstGeom>
          <a:solidFill>
            <a:schemeClr val="accent2">
              <a:lumMod val="40000"/>
              <a:lumOff val="60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ptos"/>
              <a:ea typeface="等线" panose="02010600030101010101" pitchFamily="2" charset="-122"/>
              <a:cs typeface="+mn-cs"/>
            </a:endParaRPr>
          </a:p>
        </p:txBody>
      </p:sp>
      <p:sp>
        <p:nvSpPr>
          <p:cNvPr id="10" name="文本框 9">
            <a:extLst>
              <a:ext uri="{FF2B5EF4-FFF2-40B4-BE49-F238E27FC236}">
                <a16:creationId xmlns:a16="http://schemas.microsoft.com/office/drawing/2014/main" id="{64B7DB07-B3A6-70BA-E17E-52A3CCF8E6CF}"/>
              </a:ext>
            </a:extLst>
          </p:cNvPr>
          <p:cNvSpPr txBox="1"/>
          <p:nvPr/>
        </p:nvSpPr>
        <p:spPr>
          <a:xfrm>
            <a:off x="452409" y="1981025"/>
            <a:ext cx="4919274" cy="50783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Unlike Dijkstra and Bellman-Ford, which mainly calculate the shortest path from one source vertex to one target vertex, Floyd-</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Warshall</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calculates the shortest paths between all pairs of vertices.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The main idea of Floyd-</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Warshall</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is to check whether a path from one vertex to another can become shorter by passing through an intermediate vertex. For every possible intermediate vertex via, the algorithm compares the current distance from from to to with the candidate distance from -&gt; via -&gt; to. If the candidate distance is smaller, the distance matrix and path reconstruction matrix are updated.</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b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br>
            <a:endParaRPr kumimoji="1"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13" name="文本框 12">
            <a:extLst>
              <a:ext uri="{FF2B5EF4-FFF2-40B4-BE49-F238E27FC236}">
                <a16:creationId xmlns:a16="http://schemas.microsoft.com/office/drawing/2014/main" id="{934EEE63-22C1-540E-7123-CD0ABE16DF42}"/>
              </a:ext>
            </a:extLst>
          </p:cNvPr>
          <p:cNvSpPr txBox="1"/>
          <p:nvPr/>
        </p:nvSpPr>
        <p:spPr>
          <a:xfrm>
            <a:off x="6115353" y="4943047"/>
            <a:ext cx="521478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Complexity</a:t>
            </a:r>
            <a:r>
              <a:rPr kumimoji="0" lang="zh-CN" altLang="en-US" sz="18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0" lang="en-US" altLang="zh-CN" sz="18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Analysis</a:t>
            </a:r>
            <a:endParaRPr kumimoji="0" lang="en-US" altLang="zh-CN" sz="18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
        <p:nvSpPr>
          <p:cNvPr id="15" name="Text 6">
            <a:extLst>
              <a:ext uri="{FF2B5EF4-FFF2-40B4-BE49-F238E27FC236}">
                <a16:creationId xmlns:a16="http://schemas.microsoft.com/office/drawing/2014/main" id="{7CDDC443-0389-5869-CA1A-C6FA5D9877BB}"/>
              </a:ext>
            </a:extLst>
          </p:cNvPr>
          <p:cNvSpPr/>
          <p:nvPr/>
        </p:nvSpPr>
        <p:spPr>
          <a:xfrm>
            <a:off x="6115353" y="5510735"/>
            <a:ext cx="4962926" cy="62355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Time complexity: </a:t>
            </a:r>
            <a:r>
              <a:rPr kumimoji="0" lang="en"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O(V³)</a:t>
            </a:r>
            <a:endPar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Extra space complexity: </a:t>
            </a:r>
            <a:r>
              <a:rPr kumimoji="0" lang="en" altLang="zh-CN" sz="1800" b="1"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O(V²)</a:t>
            </a:r>
            <a:endPar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17" name="文本框 16">
            <a:extLst>
              <a:ext uri="{FF2B5EF4-FFF2-40B4-BE49-F238E27FC236}">
                <a16:creationId xmlns:a16="http://schemas.microsoft.com/office/drawing/2014/main" id="{5F8250D7-26EC-4E1F-16B3-74E7A30D7252}"/>
              </a:ext>
            </a:extLst>
          </p:cNvPr>
          <p:cNvSpPr txBox="1"/>
          <p:nvPr/>
        </p:nvSpPr>
        <p:spPr>
          <a:xfrm>
            <a:off x="452409" y="1611693"/>
            <a:ext cx="625611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Design</a:t>
            </a:r>
          </a:p>
        </p:txBody>
      </p:sp>
      <p:sp>
        <p:nvSpPr>
          <p:cNvPr id="20" name="文本框 19">
            <a:extLst>
              <a:ext uri="{FF2B5EF4-FFF2-40B4-BE49-F238E27FC236}">
                <a16:creationId xmlns:a16="http://schemas.microsoft.com/office/drawing/2014/main" id="{DFB373F7-F18D-7A44-4F93-D62DE25B8E74}"/>
              </a:ext>
            </a:extLst>
          </p:cNvPr>
          <p:cNvSpPr txBox="1"/>
          <p:nvPr/>
        </p:nvSpPr>
        <p:spPr>
          <a:xfrm>
            <a:off x="5985888" y="1466704"/>
            <a:ext cx="4514964" cy="30931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for (int via = 0; via &lt; </a:t>
            </a:r>
            <a:r>
              <a:rPr kumimoji="0" lang="en" altLang="zh-CN" sz="15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vertexCount</a:t>
            </a: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via++)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for (int from = 0; from &lt; </a:t>
            </a:r>
            <a:r>
              <a:rPr kumimoji="0" lang="en" altLang="zh-CN" sz="15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vertexCount</a:t>
            </a: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from++)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for (int to = 0; to &lt; </a:t>
            </a:r>
            <a:r>
              <a:rPr kumimoji="0" lang="en" altLang="zh-CN" sz="15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vertexCount</a:t>
            </a: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to++)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double </a:t>
            </a:r>
            <a:r>
              <a:rPr kumimoji="0" lang="en" altLang="zh-CN" sz="15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candidateDistance</a:t>
            </a: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distances[from][via] + distances[via][to];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if (</a:t>
            </a:r>
            <a:r>
              <a:rPr kumimoji="0" lang="en" altLang="zh-CN" sz="15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candidateDistance</a:t>
            </a: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&lt; distances[from][to])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distances[from][to] = </a:t>
            </a:r>
            <a:r>
              <a:rPr kumimoji="0" lang="en" altLang="zh-CN" sz="15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candidateDistance</a:t>
            </a: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next[from][to] = next[from][via];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endParaRPr kumimoji="0" lang="zh-CN" altLang="en-US" sz="15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6" name="Shape 10">
            <a:extLst>
              <a:ext uri="{FF2B5EF4-FFF2-40B4-BE49-F238E27FC236}">
                <a16:creationId xmlns:a16="http://schemas.microsoft.com/office/drawing/2014/main" id="{9CF8681E-D733-0721-2CC5-4E40A1FE6AE0}"/>
              </a:ext>
            </a:extLst>
          </p:cNvPr>
          <p:cNvSpPr/>
          <p:nvPr/>
        </p:nvSpPr>
        <p:spPr>
          <a:xfrm>
            <a:off x="3688687" y="530352"/>
            <a:ext cx="1928079" cy="284075"/>
          </a:xfrm>
          <a:prstGeom prst="roundRect">
            <a:avLst>
              <a:gd name="adj" fmla="val 2353"/>
            </a:avLst>
          </a:prstGeom>
          <a:solidFill>
            <a:schemeClr val="bg2">
              <a:lumMod val="90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rPr>
              <a:t>EXTRA</a:t>
            </a:r>
            <a:r>
              <a:rPr kumimoji="0" lang="zh-CN" altLang="en-US" sz="12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rPr>
              <a:t> </a:t>
            </a:r>
            <a:r>
              <a:rPr kumimoji="0" lang="en-US" altLang="zh-CN" sz="12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rPr>
              <a:t>IMPLEMENTATION</a:t>
            </a:r>
            <a:endParaRPr kumimoji="0" lang="zh-CN" altLang="en-US" sz="12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endParaRPr>
          </a:p>
        </p:txBody>
      </p:sp>
    </p:spTree>
    <p:extLst>
      <p:ext uri="{BB962C8B-B14F-4D97-AF65-F5344CB8AC3E}">
        <p14:creationId xmlns:p14="http://schemas.microsoft.com/office/powerpoint/2010/main" val="976151444"/>
      </p:ext>
    </p:extLst>
  </p:cSld>
  <p:clrMapOvr>
    <a:masterClrMapping/>
  </p:clrMapOvr>
  <mc:AlternateContent xmlns:mc="http://schemas.openxmlformats.org/markup-compatibility/2006" xmlns:p14="http://schemas.microsoft.com/office/powerpoint/2010/main">
    <mc:Choice Requires="p14">
      <p:transition spd="slow" p14:dur="2000" advTm="42671"/>
    </mc:Choice>
    <mc:Fallback xmlns="">
      <p:transition spd="slow" advTm="42671"/>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C5DBF46F-C488-A87C-6650-AD3D56AA5E2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163F8F4-D5D4-E6BF-6653-DB5B099388A2}"/>
              </a:ext>
            </a:extLst>
          </p:cNvPr>
          <p:cNvSpPr/>
          <p:nvPr/>
        </p:nvSpPr>
        <p:spPr>
          <a:xfrm>
            <a:off x="502920" y="256032"/>
            <a:ext cx="2926080" cy="274320"/>
          </a:xfrm>
          <a:prstGeom prst="rect">
            <a:avLst/>
          </a:prstGeom>
          <a:noFill/>
          <a:ln/>
        </p:spPr>
        <p:txBody>
          <a:bodyPr wrap="square" lIns="0" tIns="0" rIns="0" bIns="0" rtlCol="0" anchor="ctr"/>
          <a:lstStyle/>
          <a:p>
            <a:pPr lvl="0">
              <a:defRPr/>
            </a:pPr>
            <a:r>
              <a:rPr lang="en-US" altLang="zh-CN" sz="1600" dirty="0">
                <a:solidFill>
                  <a:srgbClr val="2A241B"/>
                </a:solidFill>
                <a:latin typeface="Aptos" pitchFamily="34" charset="0"/>
                <a:ea typeface="Aptos" pitchFamily="34" charset="-122"/>
                <a:cs typeface="Aptos" pitchFamily="34" charset="-120"/>
              </a:rPr>
              <a:t>Task</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B ·</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Graph Algorithm</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Design  </a:t>
            </a:r>
            <a:endParaRPr lang="en-US" altLang="zh-CN" sz="1600" dirty="0">
              <a:solidFill>
                <a:prstClr val="black"/>
              </a:solidFill>
            </a:endParaRPr>
          </a:p>
        </p:txBody>
      </p:sp>
      <p:sp>
        <p:nvSpPr>
          <p:cNvPr id="3" name="Text 1">
            <a:extLst>
              <a:ext uri="{FF2B5EF4-FFF2-40B4-BE49-F238E27FC236}">
                <a16:creationId xmlns:a16="http://schemas.microsoft.com/office/drawing/2014/main" id="{407DF49B-8875-2A28-8B7C-516B0A653B19}"/>
              </a:ext>
            </a:extLst>
          </p:cNvPr>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19</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4AC4ECB6-B0EC-141F-53AF-D91508781455}"/>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文本框 15">
            <a:extLst>
              <a:ext uri="{FF2B5EF4-FFF2-40B4-BE49-F238E27FC236}">
                <a16:creationId xmlns:a16="http://schemas.microsoft.com/office/drawing/2014/main" id="{FB8BD7D2-B327-B277-F69C-E8DFEF6170BF}"/>
              </a:ext>
            </a:extLst>
          </p:cNvPr>
          <p:cNvSpPr txBox="1"/>
          <p:nvPr/>
        </p:nvSpPr>
        <p:spPr>
          <a:xfrm>
            <a:off x="362244" y="772888"/>
            <a:ext cx="374105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Result Cases</a:t>
            </a:r>
          </a:p>
        </p:txBody>
      </p:sp>
      <p:graphicFrame>
        <p:nvGraphicFramePr>
          <p:cNvPr id="9" name="Table 0">
            <a:extLst>
              <a:ext uri="{FF2B5EF4-FFF2-40B4-BE49-F238E27FC236}">
                <a16:creationId xmlns:a16="http://schemas.microsoft.com/office/drawing/2014/main" id="{7EB34A47-ED56-265C-843B-A9E67411BCEF}"/>
              </a:ext>
            </a:extLst>
          </p:cNvPr>
          <p:cNvGraphicFramePr>
            <a:graphicFrameLocks noGrp="1"/>
          </p:cNvGraphicFramePr>
          <p:nvPr/>
        </p:nvGraphicFramePr>
        <p:xfrm>
          <a:off x="502920" y="1535441"/>
          <a:ext cx="4846320" cy="1920240"/>
        </p:xfrm>
        <a:graphic>
          <a:graphicData uri="http://schemas.openxmlformats.org/drawingml/2006/table">
            <a:tbl>
              <a:tblPr/>
              <a:tblGrid>
                <a:gridCol w="242316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tblGrid>
              <a:tr h="384048">
                <a:tc>
                  <a:txBody>
                    <a:bodyPr/>
                    <a:lstStyle/>
                    <a:p>
                      <a:pPr marL="0" indent="0">
                        <a:buNone/>
                      </a:pPr>
                      <a:r>
                        <a:rPr lang="en-US" sz="1550" dirty="0">
                          <a:solidFill>
                            <a:srgbClr val="2A241B"/>
                          </a:solidFill>
                          <a:latin typeface="Aptos" pitchFamily="34" charset="0"/>
                          <a:ea typeface="Aptos" pitchFamily="34" charset="-122"/>
                          <a:cs typeface="Aptos" pitchFamily="34" charset="-120"/>
                        </a:rPr>
                        <a:t>Case</a:t>
                      </a:r>
                      <a:endParaRPr lang="en-US" sz="155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buNone/>
                      </a:pPr>
                      <a:r>
                        <a:rPr lang="en-US" sz="1550" dirty="0">
                          <a:solidFill>
                            <a:srgbClr val="2A241B"/>
                          </a:solidFill>
                          <a:latin typeface="Aptos" pitchFamily="34" charset="0"/>
                          <a:ea typeface="Aptos" pitchFamily="34" charset="-122"/>
                          <a:cs typeface="Aptos" pitchFamily="34" charset="-120"/>
                        </a:rPr>
                        <a:t>Definition</a:t>
                      </a:r>
                      <a:endParaRPr lang="en-US" sz="155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0"/>
                  </a:ext>
                </a:extLst>
              </a:tr>
              <a:tr h="384048">
                <a:tc>
                  <a:txBody>
                    <a:bodyPr/>
                    <a:lstStyle/>
                    <a:p>
                      <a:pPr marL="0" indent="0">
                        <a:buNone/>
                      </a:pPr>
                      <a:r>
                        <a:rPr lang="en-US" sz="1550" dirty="0">
                          <a:solidFill>
                            <a:srgbClr val="2A241B"/>
                          </a:solidFill>
                          <a:latin typeface="Aptos" pitchFamily="34" charset="0"/>
                          <a:ea typeface="Aptos" pitchFamily="34" charset="-122"/>
                          <a:cs typeface="Aptos" pitchFamily="34" charset="-120"/>
                        </a:rPr>
                        <a:t>1</a:t>
                      </a:r>
                      <a:endParaRPr lang="en-US" sz="155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buNone/>
                      </a:pPr>
                      <a:r>
                        <a:rPr lang="en-US" sz="1550" dirty="0">
                          <a:solidFill>
                            <a:srgbClr val="2A241B"/>
                          </a:solidFill>
                          <a:latin typeface="Aptos" pitchFamily="34" charset="0"/>
                          <a:ea typeface="Aptos" pitchFamily="34" charset="-122"/>
                          <a:cs typeface="Aptos" pitchFamily="34" charset="-120"/>
                        </a:rPr>
                        <a:t>A1 to A1</a:t>
                      </a:r>
                      <a:endParaRPr lang="en-US" sz="155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84048">
                <a:tc>
                  <a:txBody>
                    <a:bodyPr/>
                    <a:lstStyle/>
                    <a:p>
                      <a:pPr marL="0" indent="0">
                        <a:buNone/>
                      </a:pPr>
                      <a:r>
                        <a:rPr lang="en-US" sz="1550" dirty="0">
                          <a:solidFill>
                            <a:srgbClr val="2A241B"/>
                          </a:solidFill>
                          <a:latin typeface="Aptos" pitchFamily="34" charset="0"/>
                          <a:ea typeface="Aptos" pitchFamily="34" charset="-122"/>
                          <a:cs typeface="Aptos" pitchFamily="34" charset="-120"/>
                        </a:rPr>
                        <a:t>2</a:t>
                      </a:r>
                      <a:endParaRPr lang="en-US" sz="155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buNone/>
                      </a:pPr>
                      <a:r>
                        <a:rPr lang="en-US" sz="1550" dirty="0">
                          <a:solidFill>
                            <a:srgbClr val="2A241B"/>
                          </a:solidFill>
                          <a:latin typeface="Aptos" pitchFamily="34" charset="0"/>
                          <a:ea typeface="Aptos" pitchFamily="34" charset="-122"/>
                          <a:cs typeface="Aptos" pitchFamily="34" charset="-120"/>
                        </a:rPr>
                        <a:t>A1 to A10</a:t>
                      </a:r>
                      <a:endParaRPr lang="en-US" sz="155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2"/>
                  </a:ext>
                </a:extLst>
              </a:tr>
              <a:tr h="384048">
                <a:tc>
                  <a:txBody>
                    <a:bodyPr/>
                    <a:lstStyle/>
                    <a:p>
                      <a:pPr marL="0" indent="0">
                        <a:buNone/>
                      </a:pPr>
                      <a:r>
                        <a:rPr lang="en-US" sz="1550" dirty="0">
                          <a:solidFill>
                            <a:srgbClr val="2A241B"/>
                          </a:solidFill>
                          <a:latin typeface="Aptos" pitchFamily="34" charset="0"/>
                          <a:ea typeface="Aptos" pitchFamily="34" charset="-122"/>
                          <a:cs typeface="Aptos" pitchFamily="34" charset="-120"/>
                        </a:rPr>
                        <a:t>3</a:t>
                      </a:r>
                      <a:endParaRPr lang="en-US" sz="155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buNone/>
                      </a:pPr>
                      <a:r>
                        <a:rPr lang="en-US" sz="1550" dirty="0">
                          <a:solidFill>
                            <a:srgbClr val="2A241B"/>
                          </a:solidFill>
                          <a:latin typeface="Aptos" pitchFamily="34" charset="0"/>
                          <a:ea typeface="Aptos" pitchFamily="34" charset="-122"/>
                          <a:cs typeface="Aptos" pitchFamily="34" charset="-120"/>
                        </a:rPr>
                        <a:t>A1 to B1 via B5</a:t>
                      </a:r>
                      <a:endParaRPr lang="en-US" sz="155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384048">
                <a:tc>
                  <a:txBody>
                    <a:bodyPr/>
                    <a:lstStyle/>
                    <a:p>
                      <a:pPr marL="0" indent="0">
                        <a:buNone/>
                      </a:pPr>
                      <a:r>
                        <a:rPr lang="en-US" sz="1550" dirty="0">
                          <a:solidFill>
                            <a:srgbClr val="2A241B"/>
                          </a:solidFill>
                          <a:latin typeface="Aptos" pitchFamily="34" charset="0"/>
                          <a:ea typeface="Aptos" pitchFamily="34" charset="-122"/>
                          <a:cs typeface="Aptos" pitchFamily="34" charset="-120"/>
                        </a:rPr>
                        <a:t>4</a:t>
                      </a:r>
                      <a:endParaRPr lang="en-US" sz="155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buNone/>
                      </a:pPr>
                      <a:r>
                        <a:rPr lang="en-US" sz="1550" dirty="0">
                          <a:solidFill>
                            <a:srgbClr val="2A241B"/>
                          </a:solidFill>
                          <a:latin typeface="Aptos" pitchFamily="34" charset="0"/>
                          <a:ea typeface="Aptos" pitchFamily="34" charset="-122"/>
                          <a:cs typeface="Aptos" pitchFamily="34" charset="-120"/>
                        </a:rPr>
                        <a:t>A1 to C1 via B5 and C5</a:t>
                      </a:r>
                      <a:endParaRPr lang="en-US" sz="1550" dirty="0">
                        <a:latin typeface="Aptos"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4"/>
                  </a:ext>
                </a:extLst>
              </a:tr>
            </a:tbl>
          </a:graphicData>
        </a:graphic>
      </p:graphicFrame>
      <p:pic>
        <p:nvPicPr>
          <p:cNvPr id="11" name="图片 10" descr="图形用户界面, 应用程序&#10;&#10;AI 生成的内容可能不正确。">
            <a:extLst>
              <a:ext uri="{FF2B5EF4-FFF2-40B4-BE49-F238E27FC236}">
                <a16:creationId xmlns:a16="http://schemas.microsoft.com/office/drawing/2014/main" id="{D7404D0F-080A-6180-E72C-2B52E1B20767}"/>
              </a:ext>
            </a:extLst>
          </p:cNvPr>
          <p:cNvPicPr>
            <a:picLocks noChangeAspect="1"/>
          </p:cNvPicPr>
          <p:nvPr/>
        </p:nvPicPr>
        <p:blipFill>
          <a:blip r:embed="rId3"/>
          <a:stretch>
            <a:fillRect/>
          </a:stretch>
        </p:blipFill>
        <p:spPr>
          <a:xfrm>
            <a:off x="6146405" y="908277"/>
            <a:ext cx="3377411" cy="2309865"/>
          </a:xfrm>
          <a:prstGeom prst="rect">
            <a:avLst/>
          </a:prstGeom>
        </p:spPr>
      </p:pic>
      <p:pic>
        <p:nvPicPr>
          <p:cNvPr id="15" name="图片 14" descr="日程表&#10;&#10;AI 生成的内容可能不正确。">
            <a:extLst>
              <a:ext uri="{FF2B5EF4-FFF2-40B4-BE49-F238E27FC236}">
                <a16:creationId xmlns:a16="http://schemas.microsoft.com/office/drawing/2014/main" id="{1F50A626-4C8F-B36B-E144-77414169AF27}"/>
              </a:ext>
            </a:extLst>
          </p:cNvPr>
          <p:cNvPicPr>
            <a:picLocks noChangeAspect="1"/>
          </p:cNvPicPr>
          <p:nvPr/>
        </p:nvPicPr>
        <p:blipFill>
          <a:blip r:embed="rId4"/>
          <a:stretch>
            <a:fillRect/>
          </a:stretch>
        </p:blipFill>
        <p:spPr>
          <a:xfrm>
            <a:off x="502920" y="3775247"/>
            <a:ext cx="3377411" cy="2309865"/>
          </a:xfrm>
          <a:prstGeom prst="rect">
            <a:avLst/>
          </a:prstGeom>
        </p:spPr>
      </p:pic>
      <p:pic>
        <p:nvPicPr>
          <p:cNvPr id="18" name="图片 17" descr="日程表&#10;&#10;AI 生成的内容可能不正确。">
            <a:extLst>
              <a:ext uri="{FF2B5EF4-FFF2-40B4-BE49-F238E27FC236}">
                <a16:creationId xmlns:a16="http://schemas.microsoft.com/office/drawing/2014/main" id="{73CF61C6-F260-3E87-E538-B6DCED0E87C4}"/>
              </a:ext>
            </a:extLst>
          </p:cNvPr>
          <p:cNvPicPr>
            <a:picLocks noChangeAspect="1"/>
          </p:cNvPicPr>
          <p:nvPr/>
        </p:nvPicPr>
        <p:blipFill>
          <a:blip r:embed="rId5"/>
          <a:stretch>
            <a:fillRect/>
          </a:stretch>
        </p:blipFill>
        <p:spPr>
          <a:xfrm>
            <a:off x="4457700" y="4167626"/>
            <a:ext cx="3377411" cy="2309865"/>
          </a:xfrm>
          <a:prstGeom prst="rect">
            <a:avLst/>
          </a:prstGeom>
        </p:spPr>
      </p:pic>
      <p:pic>
        <p:nvPicPr>
          <p:cNvPr id="21" name="图片 20" descr="日程表&#10;&#10;AI 生成的内容可能不正确。">
            <a:extLst>
              <a:ext uri="{FF2B5EF4-FFF2-40B4-BE49-F238E27FC236}">
                <a16:creationId xmlns:a16="http://schemas.microsoft.com/office/drawing/2014/main" id="{5D21B542-A01E-F805-BDC2-C05C6DE4D7A8}"/>
              </a:ext>
            </a:extLst>
          </p:cNvPr>
          <p:cNvPicPr>
            <a:picLocks noChangeAspect="1"/>
          </p:cNvPicPr>
          <p:nvPr/>
        </p:nvPicPr>
        <p:blipFill>
          <a:blip r:embed="rId6"/>
          <a:stretch>
            <a:fillRect/>
          </a:stretch>
        </p:blipFill>
        <p:spPr>
          <a:xfrm>
            <a:off x="8596134" y="3275873"/>
            <a:ext cx="3377411" cy="2309865"/>
          </a:xfrm>
          <a:prstGeom prst="rect">
            <a:avLst/>
          </a:prstGeom>
        </p:spPr>
      </p:pic>
      <p:sp>
        <p:nvSpPr>
          <p:cNvPr id="22" name="Shape 10">
            <a:extLst>
              <a:ext uri="{FF2B5EF4-FFF2-40B4-BE49-F238E27FC236}">
                <a16:creationId xmlns:a16="http://schemas.microsoft.com/office/drawing/2014/main" id="{D57226D7-5919-6DA1-BC5E-AEA811F77DC4}"/>
              </a:ext>
            </a:extLst>
          </p:cNvPr>
          <p:cNvSpPr/>
          <p:nvPr/>
        </p:nvSpPr>
        <p:spPr>
          <a:xfrm>
            <a:off x="8412480" y="1806445"/>
            <a:ext cx="3561065" cy="657904"/>
          </a:xfrm>
          <a:prstGeom prst="roundRect">
            <a:avLst>
              <a:gd name="adj" fmla="val 2353"/>
            </a:avLst>
          </a:prstGeom>
          <a:solidFill>
            <a:schemeClr val="bg2">
              <a:lumMod val="90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rPr>
              <a:t>Checks whether the system correctly handles source = target.</a:t>
            </a:r>
            <a:endParaRPr kumimoji="0" lang="zh-CN" altLang="en-US" sz="12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endParaRPr>
          </a:p>
        </p:txBody>
      </p:sp>
      <p:sp>
        <p:nvSpPr>
          <p:cNvPr id="25" name="Shape 10">
            <a:extLst>
              <a:ext uri="{FF2B5EF4-FFF2-40B4-BE49-F238E27FC236}">
                <a16:creationId xmlns:a16="http://schemas.microsoft.com/office/drawing/2014/main" id="{972760C0-D820-8611-E79A-9213BC3A33D1}"/>
              </a:ext>
            </a:extLst>
          </p:cNvPr>
          <p:cNvSpPr/>
          <p:nvPr/>
        </p:nvSpPr>
        <p:spPr>
          <a:xfrm>
            <a:off x="832498" y="5007870"/>
            <a:ext cx="3561065" cy="657904"/>
          </a:xfrm>
          <a:prstGeom prst="roundRect">
            <a:avLst>
              <a:gd name="adj" fmla="val 2353"/>
            </a:avLst>
          </a:prstGeom>
          <a:solidFill>
            <a:schemeClr val="bg2">
              <a:lumMod val="90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rPr>
              <a:t>Calculates a normal shortest path between two selected locations.</a:t>
            </a:r>
            <a:endParaRPr kumimoji="0" lang="zh-CN" altLang="en-US" sz="12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endParaRPr>
          </a:p>
        </p:txBody>
      </p:sp>
      <p:sp>
        <p:nvSpPr>
          <p:cNvPr id="26" name="Shape 10">
            <a:extLst>
              <a:ext uri="{FF2B5EF4-FFF2-40B4-BE49-F238E27FC236}">
                <a16:creationId xmlns:a16="http://schemas.microsoft.com/office/drawing/2014/main" id="{F2D2272B-A377-4334-05DE-C05B12E07CF8}"/>
              </a:ext>
            </a:extLst>
          </p:cNvPr>
          <p:cNvSpPr/>
          <p:nvPr/>
        </p:nvSpPr>
        <p:spPr>
          <a:xfrm>
            <a:off x="4750606" y="3573871"/>
            <a:ext cx="3661874" cy="657904"/>
          </a:xfrm>
          <a:prstGeom prst="roundRect">
            <a:avLst>
              <a:gd name="adj" fmla="val 2353"/>
            </a:avLst>
          </a:prstGeom>
          <a:solidFill>
            <a:schemeClr val="bg2">
              <a:lumMod val="90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rPr>
              <a:t>Requires one intermediate stop, so the route is split into two segments</a:t>
            </a:r>
            <a:endParaRPr kumimoji="0" lang="zh-CN" altLang="en-US" sz="12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endParaRPr>
          </a:p>
        </p:txBody>
      </p:sp>
      <p:sp>
        <p:nvSpPr>
          <p:cNvPr id="27" name="Shape 10">
            <a:extLst>
              <a:ext uri="{FF2B5EF4-FFF2-40B4-BE49-F238E27FC236}">
                <a16:creationId xmlns:a16="http://schemas.microsoft.com/office/drawing/2014/main" id="{6A426EAB-65DD-62FF-4B81-97678468DAF1}"/>
              </a:ext>
            </a:extLst>
          </p:cNvPr>
          <p:cNvSpPr/>
          <p:nvPr/>
        </p:nvSpPr>
        <p:spPr>
          <a:xfrm>
            <a:off x="8447281" y="5726025"/>
            <a:ext cx="3526264" cy="958239"/>
          </a:xfrm>
          <a:prstGeom prst="roundRect">
            <a:avLst>
              <a:gd name="adj" fmla="val 2353"/>
            </a:avLst>
          </a:prstGeom>
          <a:solidFill>
            <a:schemeClr val="bg2">
              <a:lumMod val="90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rPr>
              <a:t>Requires multiple stops, showing that the system can combine several shortest-path results.</a:t>
            </a:r>
            <a:endParaRPr kumimoji="0" lang="zh-CN" altLang="en-US" sz="1200" b="0" i="0" u="none" strike="noStrike" kern="1200" cap="none" spc="0" normalizeH="0" baseline="0" noProof="0" dirty="0">
              <a:ln>
                <a:noFill/>
              </a:ln>
              <a:solidFill>
                <a:prstClr val="white"/>
              </a:solidFill>
              <a:effectLst/>
              <a:uLnTx/>
              <a:uFillTx/>
              <a:latin typeface="Aptos"/>
              <a:ea typeface="等线" panose="02010600030101010101" pitchFamily="2" charset="-122"/>
              <a:cs typeface="+mn-cs"/>
            </a:endParaRPr>
          </a:p>
        </p:txBody>
      </p:sp>
    </p:spTree>
    <p:extLst>
      <p:ext uri="{BB962C8B-B14F-4D97-AF65-F5344CB8AC3E}">
        <p14:creationId xmlns:p14="http://schemas.microsoft.com/office/powerpoint/2010/main" val="2197565246"/>
      </p:ext>
    </p:extLst>
  </p:cSld>
  <p:clrMapOvr>
    <a:masterClrMapping/>
  </p:clrMapOvr>
  <mc:AlternateContent xmlns:mc="http://schemas.openxmlformats.org/markup-compatibility/2006" xmlns:p14="http://schemas.microsoft.com/office/powerpoint/2010/main">
    <mc:Choice Requires="p14">
      <p:transition spd="slow" p14:dur="2000" advTm="35736"/>
    </mc:Choice>
    <mc:Fallback xmlns="">
      <p:transition spd="slow" advTm="35736"/>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p:cNvGrpSpPr/>
        <p:nvPr/>
      </p:nvGrpSpPr>
      <p:grpSpPr>
        <a:xfrm>
          <a:off x="0" y="0"/>
          <a:ext cx="0" cy="0"/>
          <a:chOff x="0" y="0"/>
          <a:chExt cx="0" cy="0"/>
        </a:xfrm>
      </p:grpSpPr>
      <p:sp>
        <p:nvSpPr>
          <p:cNvPr id="19" name="Shape 10">
            <a:extLst>
              <a:ext uri="{FF2B5EF4-FFF2-40B4-BE49-F238E27FC236}">
                <a16:creationId xmlns:a16="http://schemas.microsoft.com/office/drawing/2014/main" id="{DA5164D9-CA50-3D80-CE89-FB88ECC6A2AD}"/>
              </a:ext>
            </a:extLst>
          </p:cNvPr>
          <p:cNvSpPr/>
          <p:nvPr/>
        </p:nvSpPr>
        <p:spPr>
          <a:xfrm>
            <a:off x="5969726" y="940526"/>
            <a:ext cx="5979272" cy="1297608"/>
          </a:xfrm>
          <a:prstGeom prst="roundRect">
            <a:avLst>
              <a:gd name="adj" fmla="val 2353"/>
            </a:avLst>
          </a:prstGeom>
          <a:solidFill>
            <a:schemeClr val="accent2">
              <a:lumMod val="40000"/>
              <a:lumOff val="60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ptos"/>
              <a:ea typeface="等线" panose="02010600030101010101" pitchFamily="2" charset="-122"/>
              <a:cs typeface="+mn-cs"/>
            </a:endParaRPr>
          </a:p>
        </p:txBody>
      </p:sp>
      <p:sp>
        <p:nvSpPr>
          <p:cNvPr id="2" name="Text 0"/>
          <p:cNvSpPr/>
          <p:nvPr/>
        </p:nvSpPr>
        <p:spPr>
          <a:xfrm>
            <a:off x="502920" y="256032"/>
            <a:ext cx="2926080" cy="274320"/>
          </a:xfrm>
          <a:prstGeom prst="rect">
            <a:avLst/>
          </a:prstGeom>
          <a:noFill/>
          <a:ln/>
        </p:spPr>
        <p:txBody>
          <a:bodyPr wrap="square" lIns="0" tIns="0" rIns="0" bIns="0" rtlCol="0" anchor="ctr"/>
          <a:lstStyle/>
          <a:p>
            <a:pPr lvl="0">
              <a:defRPr/>
            </a:pPr>
            <a:r>
              <a:rPr lang="en-US" altLang="zh-CN" sz="1600" dirty="0">
                <a:solidFill>
                  <a:srgbClr val="2A241B"/>
                </a:solidFill>
                <a:latin typeface="Aptos" pitchFamily="34" charset="0"/>
                <a:ea typeface="Aptos" pitchFamily="34" charset="-122"/>
                <a:cs typeface="Aptos" pitchFamily="34" charset="-120"/>
              </a:rPr>
              <a:t>Task</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B ·</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Graph Algorithm</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Design  </a:t>
            </a:r>
            <a:endParaRPr lang="en-US" altLang="zh-CN" sz="1600" dirty="0">
              <a:solidFill>
                <a:prstClr val="black"/>
              </a:solidFill>
            </a:endParaRPr>
          </a:p>
        </p:txBody>
      </p:sp>
      <p:sp>
        <p:nvSpPr>
          <p:cNvPr id="3" name="Text 1"/>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sz="1600" i="1" dirty="0">
                <a:solidFill>
                  <a:srgbClr val="5C5345"/>
                </a:solidFill>
                <a:latin typeface="Georgia" pitchFamily="34" charset="0"/>
              </a:rPr>
              <a:t>20</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p:cNvSpPr/>
          <p:nvPr/>
        </p:nvSpPr>
        <p:spPr>
          <a:xfrm>
            <a:off x="8412480" y="6428232"/>
            <a:ext cx="3383280" cy="256032"/>
          </a:xfrm>
          <a:prstGeom prst="rect">
            <a:avLst/>
          </a:prstGeom>
          <a:noFill/>
          <a:ln/>
        </p:spPr>
        <p:txBody>
          <a:bodyPr wrap="square" lIns="0" tIns="0" rIns="0" bIns="0" rtlCol="0" anchor="ctr"/>
          <a:lstStyle/>
          <a:p>
            <a:pPr algn="r">
              <a:defRPr/>
            </a:pPr>
            <a:r>
              <a:rPr lang="en" altLang="zh-CN" sz="1600" i="1" dirty="0">
                <a:solidFill>
                  <a:srgbClr val="5C5345"/>
                </a:solidFill>
                <a:ea typeface="Aptos"/>
                <a:cs typeface="Aptos"/>
              </a:rPr>
              <a:t>Algorithm comparison and selection</a:t>
            </a:r>
          </a:p>
        </p:txBody>
      </p:sp>
      <p:sp>
        <p:nvSpPr>
          <p:cNvPr id="12" name="文本框 11">
            <a:extLst>
              <a:ext uri="{FF2B5EF4-FFF2-40B4-BE49-F238E27FC236}">
                <a16:creationId xmlns:a16="http://schemas.microsoft.com/office/drawing/2014/main" id="{7EDD434D-FBED-B327-CA49-26E5ADA47817}"/>
              </a:ext>
            </a:extLst>
          </p:cNvPr>
          <p:cNvSpPr txBox="1"/>
          <p:nvPr/>
        </p:nvSpPr>
        <p:spPr>
          <a:xfrm>
            <a:off x="362244" y="772888"/>
            <a:ext cx="4666956"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Algorithm Comparison</a:t>
            </a:r>
          </a:p>
        </p:txBody>
      </p:sp>
      <p:pic>
        <p:nvPicPr>
          <p:cNvPr id="13" name="图片 12">
            <a:extLst>
              <a:ext uri="{FF2B5EF4-FFF2-40B4-BE49-F238E27FC236}">
                <a16:creationId xmlns:a16="http://schemas.microsoft.com/office/drawing/2014/main" id="{891F33C0-E544-5578-A759-0060BB3B8D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002" y="1600199"/>
            <a:ext cx="5486400" cy="2743200"/>
          </a:xfrm>
          <a:prstGeom prst="rect">
            <a:avLst/>
          </a:prstGeom>
        </p:spPr>
      </p:pic>
      <p:sp>
        <p:nvSpPr>
          <p:cNvPr id="14" name="Shape 13">
            <a:extLst>
              <a:ext uri="{FF2B5EF4-FFF2-40B4-BE49-F238E27FC236}">
                <a16:creationId xmlns:a16="http://schemas.microsoft.com/office/drawing/2014/main" id="{7555789C-EE23-C043-F68B-C4BA5FD150D6}"/>
              </a:ext>
            </a:extLst>
          </p:cNvPr>
          <p:cNvSpPr/>
          <p:nvPr/>
        </p:nvSpPr>
        <p:spPr>
          <a:xfrm>
            <a:off x="229939" y="4716565"/>
            <a:ext cx="5726724" cy="1302129"/>
          </a:xfrm>
          <a:prstGeom prst="roundRect">
            <a:avLst>
              <a:gd name="adj" fmla="val 3810"/>
            </a:avLst>
          </a:prstGeom>
          <a:solidFill>
            <a:srgbClr val="B7C7A8"/>
          </a:solidFill>
          <a:ln w="12700">
            <a:solidFill>
              <a:srgbClr val="B7C7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16" name="文本框 15">
            <a:extLst>
              <a:ext uri="{FF2B5EF4-FFF2-40B4-BE49-F238E27FC236}">
                <a16:creationId xmlns:a16="http://schemas.microsoft.com/office/drawing/2014/main" id="{DAB21B91-E664-1099-B532-AB2952E81A23}"/>
              </a:ext>
            </a:extLst>
          </p:cNvPr>
          <p:cNvSpPr txBox="1"/>
          <p:nvPr/>
        </p:nvSpPr>
        <p:spPr>
          <a:xfrm>
            <a:off x="303543" y="4802308"/>
            <a:ext cx="5248171" cy="1191801"/>
          </a:xfrm>
          <a:prstGeom prst="rect">
            <a:avLst/>
          </a:prstGeom>
          <a:noFill/>
        </p:spPr>
        <p:txBody>
          <a:bodyPr wrap="square">
            <a:spAutoFit/>
          </a:bodyPr>
          <a:lstStyle/>
          <a:p>
            <a:pPr marL="0" marR="0" lvl="0" indent="0" algn="l" defTabSz="914400" rtl="0" eaLnBrk="1" fontAlgn="auto" latinLnBrk="0" hangingPunct="1">
              <a:lnSpc>
                <a:spcPts val="165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The runtime comparison shows clear performance differences among the three path algorithms. </a:t>
            </a:r>
          </a:p>
          <a:p>
            <a:pPr marL="0" marR="0" lvl="0" indent="0" algn="l" defTabSz="914400" rtl="0" eaLnBrk="1" fontAlgn="auto" latinLnBrk="0" hangingPunct="1">
              <a:lnSpc>
                <a:spcPts val="165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In Case 1, all algorithms finish very quickly because the source and target are the same, so almost no graph traversal is required. </a:t>
            </a:r>
          </a:p>
        </p:txBody>
      </p:sp>
      <p:sp>
        <p:nvSpPr>
          <p:cNvPr id="18" name="文本框 17">
            <a:extLst>
              <a:ext uri="{FF2B5EF4-FFF2-40B4-BE49-F238E27FC236}">
                <a16:creationId xmlns:a16="http://schemas.microsoft.com/office/drawing/2014/main" id="{41600782-51DF-623E-1123-87E7E94902E9}"/>
              </a:ext>
            </a:extLst>
          </p:cNvPr>
          <p:cNvSpPr txBox="1"/>
          <p:nvPr/>
        </p:nvSpPr>
        <p:spPr>
          <a:xfrm>
            <a:off x="5969726" y="1046333"/>
            <a:ext cx="6100354" cy="1191801"/>
          </a:xfrm>
          <a:prstGeom prst="rect">
            <a:avLst/>
          </a:prstGeom>
          <a:noFill/>
        </p:spPr>
        <p:txBody>
          <a:bodyPr wrap="square">
            <a:spAutoFit/>
          </a:bodyPr>
          <a:lstStyle/>
          <a:p>
            <a:pPr marL="0" marR="0" lvl="0" indent="0" algn="l" defTabSz="914400" rtl="0" eaLnBrk="1" fontAlgn="auto" latinLnBrk="0" hangingPunct="1">
              <a:lnSpc>
                <a:spcPts val="1650"/>
              </a:lnSpc>
              <a:spcBef>
                <a:spcPts val="0"/>
              </a:spcBef>
              <a:spcAft>
                <a:spcPts val="0"/>
              </a:spcAft>
              <a:buClrTx/>
              <a:buSzTx/>
              <a:buFontTx/>
              <a:buNone/>
              <a:tabLst/>
              <a:defRPr/>
            </a:pP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However, from Case 2 to Case 4, Floyd-</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Warshall</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becomes much slower than the other two algorithms. This is because Floyd-</a:t>
            </a:r>
            <a:r>
              <a:rPr kumimoji="0" lang="en" altLang="zh-CN" sz="180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Warshall</a:t>
            </a:r>
            <a:r>
              <a:rPr kumimoji="0" lang="en" altLang="zh-CN"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computes shortest paths between all pairs of vertices, even though each case only needs a specific route query.</a:t>
            </a:r>
          </a:p>
        </p:txBody>
      </p:sp>
      <p:sp>
        <p:nvSpPr>
          <p:cNvPr id="21" name="文本框 20">
            <a:extLst>
              <a:ext uri="{FF2B5EF4-FFF2-40B4-BE49-F238E27FC236}">
                <a16:creationId xmlns:a16="http://schemas.microsoft.com/office/drawing/2014/main" id="{5D1E8662-1867-88B1-B096-5530C6D721D1}"/>
              </a:ext>
            </a:extLst>
          </p:cNvPr>
          <p:cNvSpPr txBox="1"/>
          <p:nvPr/>
        </p:nvSpPr>
        <p:spPr>
          <a:xfrm>
            <a:off x="6030267" y="4507993"/>
            <a:ext cx="6100354"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Dijkstra and Bellman-Ford perform much better for the selected path cases. Bellman-Ford is slightly faster in these measured results, but its general time complexity is higher because it repeatedly relaxes all edges. Dijkstra is still selected as the main algorithm because the graph weights in this project represent distances or costs, which are non-negative. </a:t>
            </a:r>
          </a:p>
        </p:txBody>
      </p:sp>
      <p:graphicFrame>
        <p:nvGraphicFramePr>
          <p:cNvPr id="23" name="Table 0">
            <a:extLst>
              <a:ext uri="{FF2B5EF4-FFF2-40B4-BE49-F238E27FC236}">
                <a16:creationId xmlns:a16="http://schemas.microsoft.com/office/drawing/2014/main" id="{3C2EC42C-651A-6DF3-69F5-4D162971903D}"/>
              </a:ext>
            </a:extLst>
          </p:cNvPr>
          <p:cNvGraphicFramePr>
            <a:graphicFrameLocks noGrp="1"/>
          </p:cNvGraphicFramePr>
          <p:nvPr/>
        </p:nvGraphicFramePr>
        <p:xfrm>
          <a:off x="6462600" y="2604967"/>
          <a:ext cx="4199710" cy="1536192"/>
        </p:xfrm>
        <a:graphic>
          <a:graphicData uri="http://schemas.openxmlformats.org/drawingml/2006/table">
            <a:tbl>
              <a:tblPr/>
              <a:tblGrid>
                <a:gridCol w="2099855">
                  <a:extLst>
                    <a:ext uri="{9D8B030D-6E8A-4147-A177-3AD203B41FA5}">
                      <a16:colId xmlns:a16="http://schemas.microsoft.com/office/drawing/2014/main" val="20000"/>
                    </a:ext>
                  </a:extLst>
                </a:gridCol>
                <a:gridCol w="2099855">
                  <a:extLst>
                    <a:ext uri="{9D8B030D-6E8A-4147-A177-3AD203B41FA5}">
                      <a16:colId xmlns:a16="http://schemas.microsoft.com/office/drawing/2014/main" val="20001"/>
                    </a:ext>
                  </a:extLst>
                </a:gridCol>
              </a:tblGrid>
              <a:tr h="38404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50" kern="1200" dirty="0">
                          <a:solidFill>
                            <a:srgbClr val="2A241B"/>
                          </a:solidFill>
                          <a:latin typeface="Aptos" pitchFamily="34" charset="0"/>
                          <a:ea typeface="Aptos" pitchFamily="34" charset="-122"/>
                          <a:cs typeface="Aptos" pitchFamily="34" charset="-120"/>
                        </a:rPr>
                        <a:t>Algorithm</a:t>
                      </a:r>
                      <a:endParaRPr lang="en-US" sz="1550" kern="1200" dirty="0">
                        <a:solidFill>
                          <a:srgbClr val="2A241B"/>
                        </a:solidFill>
                        <a:latin typeface="Aptos" pitchFamily="34"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marL="0" indent="0">
                        <a:buNone/>
                      </a:pPr>
                      <a:r>
                        <a:rPr lang="en" altLang="zh-CN" sz="1550" kern="1200" dirty="0">
                          <a:solidFill>
                            <a:srgbClr val="2A241B"/>
                          </a:solidFill>
                          <a:latin typeface="Aptos" pitchFamily="34" charset="0"/>
                          <a:ea typeface="+mn-ea"/>
                          <a:cs typeface="+mn-cs"/>
                        </a:rPr>
                        <a:t>Time</a:t>
                      </a:r>
                      <a:r>
                        <a:rPr lang="zh-CN" altLang="en-US" sz="1550" kern="1200" dirty="0">
                          <a:solidFill>
                            <a:srgbClr val="2A241B"/>
                          </a:solidFill>
                          <a:latin typeface="Aptos" pitchFamily="34" charset="0"/>
                          <a:ea typeface="+mn-ea"/>
                          <a:cs typeface="+mn-cs"/>
                        </a:rPr>
                        <a:t> </a:t>
                      </a:r>
                      <a:r>
                        <a:rPr lang="en-US" altLang="zh-CN" sz="1550" kern="1200" dirty="0">
                          <a:solidFill>
                            <a:srgbClr val="2A241B"/>
                          </a:solidFill>
                          <a:latin typeface="Aptos" pitchFamily="34" charset="0"/>
                          <a:ea typeface="+mn-ea"/>
                          <a:cs typeface="+mn-cs"/>
                        </a:rPr>
                        <a:t>Complexity</a:t>
                      </a:r>
                      <a:endParaRPr lang="en-US" sz="1550" kern="1200" dirty="0">
                        <a:solidFill>
                          <a:srgbClr val="2A241B"/>
                        </a:solidFill>
                        <a:latin typeface="Aptos" pitchFamily="34" charset="0"/>
                        <a:ea typeface="Aptos" charset="0"/>
                        <a:cs typeface="Aptos" charset="0"/>
                      </a:endParaRPr>
                    </a:p>
                  </a:txBody>
                  <a:tcPr marL="36576" marR="36576" marT="36576" marB="36576">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0"/>
                  </a:ext>
                </a:extLst>
              </a:tr>
              <a:tr h="384048">
                <a:tc>
                  <a:txBody>
                    <a:bodyPr/>
                    <a:lstStyle/>
                    <a:p>
                      <a:pPr fontAlgn="t">
                        <a:buNone/>
                      </a:pPr>
                      <a:r>
                        <a:rPr lang="en" sz="1550" kern="1200">
                          <a:solidFill>
                            <a:srgbClr val="2A241B"/>
                          </a:solidFill>
                          <a:latin typeface="Aptos" pitchFamily="34" charset="0"/>
                        </a:rPr>
                        <a:t>Dijkstra</a:t>
                      </a:r>
                    </a:p>
                  </a:txBody>
                  <a:tcPr marL="38100" marR="38100" marT="38100" marB="38100">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fontAlgn="t">
                        <a:buNone/>
                      </a:pPr>
                      <a:r>
                        <a:rPr lang="en" sz="1550" kern="1200" dirty="0">
                          <a:solidFill>
                            <a:srgbClr val="2A241B"/>
                          </a:solidFill>
                          <a:latin typeface="Aptos" pitchFamily="34" charset="0"/>
                        </a:rPr>
                        <a:t>O(EV)</a:t>
                      </a:r>
                    </a:p>
                  </a:txBody>
                  <a:tcPr marL="38100" marR="38100" marT="38100" marB="38100">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384048">
                <a:tc>
                  <a:txBody>
                    <a:bodyPr/>
                    <a:lstStyle/>
                    <a:p>
                      <a:pPr fontAlgn="t">
                        <a:buNone/>
                      </a:pPr>
                      <a:r>
                        <a:rPr lang="en" sz="1550" kern="1200">
                          <a:solidFill>
                            <a:srgbClr val="2A241B"/>
                          </a:solidFill>
                          <a:latin typeface="Aptos" pitchFamily="34" charset="0"/>
                        </a:rPr>
                        <a:t>Bellman-Ford</a:t>
                      </a:r>
                    </a:p>
                  </a:txBody>
                  <a:tcPr marL="38100" marR="38100" marT="38100" marB="38100">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fontAlgn="t">
                        <a:buNone/>
                      </a:pPr>
                      <a:r>
                        <a:rPr lang="en" sz="1550" kern="1200" dirty="0">
                          <a:solidFill>
                            <a:srgbClr val="2A241B"/>
                          </a:solidFill>
                          <a:latin typeface="Aptos" pitchFamily="34" charset="0"/>
                        </a:rPr>
                        <a:t>O(VE)</a:t>
                      </a:r>
                    </a:p>
                  </a:txBody>
                  <a:tcPr marL="38100" marR="38100" marT="38100" marB="38100">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2"/>
                  </a:ext>
                </a:extLst>
              </a:tr>
              <a:tr h="384048">
                <a:tc>
                  <a:txBody>
                    <a:bodyPr/>
                    <a:lstStyle/>
                    <a:p>
                      <a:pPr fontAlgn="t">
                        <a:buNone/>
                      </a:pPr>
                      <a:r>
                        <a:rPr lang="en" sz="1550" kern="1200">
                          <a:solidFill>
                            <a:srgbClr val="2A241B"/>
                          </a:solidFill>
                          <a:latin typeface="Aptos" pitchFamily="34" charset="0"/>
                        </a:rPr>
                        <a:t>Floyd-Warshall</a:t>
                      </a:r>
                    </a:p>
                  </a:txBody>
                  <a:tcPr marL="38100" marR="38100" marT="38100" marB="38100">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tc>
                  <a:txBody>
                    <a:bodyPr/>
                    <a:lstStyle/>
                    <a:p>
                      <a:pPr fontAlgn="t">
                        <a:buNone/>
                      </a:pPr>
                      <a:r>
                        <a:rPr lang="en" sz="1550" kern="1200" dirty="0">
                          <a:solidFill>
                            <a:srgbClr val="2A241B"/>
                          </a:solidFill>
                          <a:latin typeface="Aptos" pitchFamily="34" charset="0"/>
                        </a:rPr>
                        <a:t>O(V³)</a:t>
                      </a:r>
                    </a:p>
                  </a:txBody>
                  <a:tcPr marL="38100" marR="38100" marT="38100" marB="38100">
                    <a:lnL w="12700" cap="flat" cmpd="sng" algn="ctr">
                      <a:solidFill>
                        <a:srgbClr val="D8CFBB"/>
                      </a:solidFill>
                      <a:prstDash val="solid"/>
                      <a:round/>
                      <a:headEnd type="none" w="med" len="med"/>
                      <a:tailEnd type="none" w="med" len="med"/>
                    </a:lnL>
                    <a:lnR w="12700" cap="flat" cmpd="sng" algn="ctr">
                      <a:solidFill>
                        <a:srgbClr val="D8CFBB"/>
                      </a:solidFill>
                      <a:prstDash val="solid"/>
                      <a:round/>
                      <a:headEnd type="none" w="med" len="med"/>
                      <a:tailEnd type="none" w="med" len="med"/>
                    </a:lnR>
                    <a:lnT w="12700" cap="flat" cmpd="sng" algn="ctr">
                      <a:solidFill>
                        <a:srgbClr val="D8CFBB"/>
                      </a:solidFill>
                      <a:prstDash val="solid"/>
                      <a:round/>
                      <a:headEnd type="none" w="med" len="med"/>
                      <a:tailEnd type="none" w="med" len="med"/>
                    </a:lnT>
                    <a:lnB w="12700" cap="flat" cmpd="sng" algn="ctr">
                      <a:solidFill>
                        <a:srgbClr val="D8CFBB"/>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47989"/>
    </mc:Choice>
    <mc:Fallback xmlns="">
      <p:transition spd="slow" advTm="47989"/>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560F6673-D583-9A69-BB86-FC608AF8962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6C8E9FF-266F-FB50-8DA6-B41E163F8454}"/>
              </a:ext>
            </a:extLst>
          </p:cNvPr>
          <p:cNvSpPr/>
          <p:nvPr/>
        </p:nvSpPr>
        <p:spPr>
          <a:xfrm>
            <a:off x="502920" y="256032"/>
            <a:ext cx="2926080" cy="274320"/>
          </a:xfrm>
          <a:prstGeom prst="rect">
            <a:avLst/>
          </a:prstGeom>
          <a:noFill/>
          <a:ln/>
        </p:spPr>
        <p:txBody>
          <a:bodyPr wrap="square" lIns="0" tIns="0" rIns="0" bIns="0" rtlCol="0" anchor="ctr"/>
          <a:lstStyle/>
          <a:p>
            <a:r>
              <a:rPr lang="en-US" altLang="zh-CN" sz="1600" dirty="0">
                <a:solidFill>
                  <a:srgbClr val="2A241B"/>
                </a:solidFill>
                <a:latin typeface="Aptos" pitchFamily="34" charset="0"/>
                <a:ea typeface="Aptos" pitchFamily="34" charset="-122"/>
                <a:cs typeface="Aptos" pitchFamily="34" charset="-120"/>
              </a:rPr>
              <a:t>Task C · application design</a:t>
            </a:r>
            <a:endParaRPr lang="en-US" altLang="zh-CN" sz="1600" dirty="0"/>
          </a:p>
        </p:txBody>
      </p:sp>
      <p:sp>
        <p:nvSpPr>
          <p:cNvPr id="3" name="Text 1">
            <a:extLst>
              <a:ext uri="{FF2B5EF4-FFF2-40B4-BE49-F238E27FC236}">
                <a16:creationId xmlns:a16="http://schemas.microsoft.com/office/drawing/2014/main" id="{5C17020E-B922-04EB-C846-18D0C58AE9F0}"/>
              </a:ext>
            </a:extLst>
          </p:cNvPr>
          <p:cNvSpPr/>
          <p:nvPr/>
        </p:nvSpPr>
        <p:spPr>
          <a:xfrm>
            <a:off x="11338560" y="256032"/>
            <a:ext cx="457200" cy="274320"/>
          </a:xfrm>
          <a:prstGeom prst="rect">
            <a:avLst/>
          </a:prstGeom>
          <a:noFill/>
          <a:ln/>
        </p:spPr>
        <p:txBody>
          <a:bodyPr wrap="square" lIns="0" tIns="0" rIns="0" bIns="0" rtlCol="0" anchor="ctr"/>
          <a:lstStyle/>
          <a:p>
            <a:pPr marL="0" indent="0" algn="r">
              <a:buNone/>
            </a:pPr>
            <a:r>
              <a:rPr lang="en-US" altLang="zh-CN" sz="1600" i="1" dirty="0">
                <a:solidFill>
                  <a:srgbClr val="5C5345"/>
                </a:solidFill>
                <a:latin typeface="Georgia" pitchFamily="34" charset="0"/>
                <a:ea typeface="Georgia" pitchFamily="34" charset="-122"/>
                <a:cs typeface="Georgia" pitchFamily="34" charset="-120"/>
              </a:rPr>
              <a:t>21</a:t>
            </a:r>
            <a:endParaRPr lang="en-US" sz="1600" dirty="0"/>
          </a:p>
        </p:txBody>
      </p:sp>
      <p:sp>
        <p:nvSpPr>
          <p:cNvPr id="4" name="Text 2">
            <a:extLst>
              <a:ext uri="{FF2B5EF4-FFF2-40B4-BE49-F238E27FC236}">
                <a16:creationId xmlns:a16="http://schemas.microsoft.com/office/drawing/2014/main" id="{FADFFFB2-6637-B519-CF24-F9BD2515EBA0}"/>
              </a:ext>
            </a:extLst>
          </p:cNvPr>
          <p:cNvSpPr/>
          <p:nvPr/>
        </p:nvSpPr>
        <p:spPr>
          <a:xfrm>
            <a:off x="502920" y="6428232"/>
            <a:ext cx="1280160" cy="256032"/>
          </a:xfrm>
          <a:prstGeom prst="rect">
            <a:avLst/>
          </a:prstGeom>
          <a:noFill/>
          <a:ln/>
        </p:spPr>
        <p:txBody>
          <a:bodyPr wrap="square" lIns="0" tIns="0" rIns="0" bIns="0" rtlCol="0" anchor="ctr"/>
          <a:lstStyle/>
          <a:p>
            <a:pPr marL="0" indent="0">
              <a:buNone/>
            </a:pPr>
            <a:r>
              <a:rPr lang="en-US" sz="1500" i="1" dirty="0">
                <a:solidFill>
                  <a:srgbClr val="5C5345"/>
                </a:solidFill>
                <a:latin typeface="Georgia" pitchFamily="34" charset="0"/>
                <a:ea typeface="Georgia" pitchFamily="34" charset="-122"/>
                <a:cs typeface="Georgia" pitchFamily="34" charset="-120"/>
              </a:rPr>
              <a:t>May 2026</a:t>
            </a:r>
            <a:endParaRPr lang="en-US" sz="1500" dirty="0"/>
          </a:p>
        </p:txBody>
      </p:sp>
      <p:sp>
        <p:nvSpPr>
          <p:cNvPr id="5" name="Text 3">
            <a:extLst>
              <a:ext uri="{FF2B5EF4-FFF2-40B4-BE49-F238E27FC236}">
                <a16:creationId xmlns:a16="http://schemas.microsoft.com/office/drawing/2014/main" id="{3CB949DE-D684-B417-FA22-759BFD76C54B}"/>
              </a:ext>
            </a:extLst>
          </p:cNvPr>
          <p:cNvSpPr/>
          <p:nvPr/>
        </p:nvSpPr>
        <p:spPr>
          <a:xfrm>
            <a:off x="8412480" y="6428232"/>
            <a:ext cx="3383280" cy="256032"/>
          </a:xfrm>
          <a:prstGeom prst="rect">
            <a:avLst/>
          </a:prstGeom>
          <a:noFill/>
          <a:ln/>
        </p:spPr>
        <p:txBody>
          <a:bodyPr wrap="square" lIns="0" tIns="0" rIns="0" bIns="0" rtlCol="0" anchor="ctr"/>
          <a:lstStyle/>
          <a:p>
            <a:pPr algn="r"/>
            <a:r>
              <a:rPr lang="en" altLang="zh-CN" sz="1600" i="1" dirty="0">
                <a:solidFill>
                  <a:srgbClr val="5C5345"/>
                </a:solidFill>
                <a:ea typeface="Aptos"/>
                <a:cs typeface="Aptos"/>
              </a:rPr>
              <a:t>Overall program design</a:t>
            </a:r>
          </a:p>
        </p:txBody>
      </p:sp>
      <p:sp>
        <p:nvSpPr>
          <p:cNvPr id="6" name="Text 4">
            <a:extLst>
              <a:ext uri="{FF2B5EF4-FFF2-40B4-BE49-F238E27FC236}">
                <a16:creationId xmlns:a16="http://schemas.microsoft.com/office/drawing/2014/main" id="{202328B5-D040-3042-DB36-5F8300E6B2CF}"/>
              </a:ext>
            </a:extLst>
          </p:cNvPr>
          <p:cNvSpPr/>
          <p:nvPr/>
        </p:nvSpPr>
        <p:spPr>
          <a:xfrm>
            <a:off x="685800" y="960120"/>
            <a:ext cx="6766560" cy="685800"/>
          </a:xfrm>
          <a:prstGeom prst="rect">
            <a:avLst/>
          </a:prstGeom>
          <a:noFill/>
          <a:ln/>
        </p:spPr>
        <p:txBody>
          <a:bodyPr wrap="square" lIns="0" tIns="0" rIns="0" bIns="0" rtlCol="0" anchor="ctr"/>
          <a:lstStyle/>
          <a:p>
            <a:pPr marL="0" indent="0">
              <a:buNone/>
            </a:pPr>
            <a:endParaRPr lang="en-US" sz="2400" dirty="0"/>
          </a:p>
        </p:txBody>
      </p:sp>
      <p:sp>
        <p:nvSpPr>
          <p:cNvPr id="9" name="文本框 8">
            <a:extLst>
              <a:ext uri="{FF2B5EF4-FFF2-40B4-BE49-F238E27FC236}">
                <a16:creationId xmlns:a16="http://schemas.microsoft.com/office/drawing/2014/main" id="{F8F0E68A-6537-A0B6-990B-BE7FF3082B81}"/>
              </a:ext>
            </a:extLst>
          </p:cNvPr>
          <p:cNvSpPr txBox="1"/>
          <p:nvPr/>
        </p:nvSpPr>
        <p:spPr>
          <a:xfrm>
            <a:off x="502920" y="980902"/>
            <a:ext cx="6096000" cy="584775"/>
          </a:xfrm>
          <a:prstGeom prst="rect">
            <a:avLst/>
          </a:prstGeom>
          <a:noFill/>
        </p:spPr>
        <p:txBody>
          <a:bodyPr wrap="square">
            <a:spAutoFit/>
          </a:bodyPr>
          <a:lstStyle/>
          <a:p>
            <a:r>
              <a:rPr lang="en" altLang="zh-CN" sz="3200" dirty="0">
                <a:latin typeface="+mj-lt"/>
              </a:rPr>
              <a:t>Overall Program Design</a:t>
            </a:r>
          </a:p>
        </p:txBody>
      </p:sp>
      <p:pic>
        <p:nvPicPr>
          <p:cNvPr id="11" name="图片 10">
            <a:extLst>
              <a:ext uri="{FF2B5EF4-FFF2-40B4-BE49-F238E27FC236}">
                <a16:creationId xmlns:a16="http://schemas.microsoft.com/office/drawing/2014/main" id="{DE7B9027-8EE9-227B-836C-0FE8837EC0DC}"/>
              </a:ext>
            </a:extLst>
          </p:cNvPr>
          <p:cNvPicPr>
            <a:picLocks noChangeAspect="1"/>
          </p:cNvPicPr>
          <p:nvPr/>
        </p:nvPicPr>
        <p:blipFill>
          <a:blip r:embed="rId3"/>
          <a:stretch>
            <a:fillRect/>
          </a:stretch>
        </p:blipFill>
        <p:spPr>
          <a:xfrm>
            <a:off x="190284" y="1818513"/>
            <a:ext cx="11605476" cy="3987815"/>
          </a:xfrm>
          <a:prstGeom prst="rect">
            <a:avLst/>
          </a:prstGeom>
        </p:spPr>
      </p:pic>
    </p:spTree>
    <p:extLst>
      <p:ext uri="{BB962C8B-B14F-4D97-AF65-F5344CB8AC3E}">
        <p14:creationId xmlns:p14="http://schemas.microsoft.com/office/powerpoint/2010/main" val="3038951039"/>
      </p:ext>
    </p:extLst>
  </p:cSld>
  <p:clrMapOvr>
    <a:masterClrMapping/>
  </p:clrMapOvr>
  <mc:AlternateContent xmlns:mc="http://schemas.openxmlformats.org/markup-compatibility/2006" xmlns:p14="http://schemas.microsoft.com/office/powerpoint/2010/main">
    <mc:Choice Requires="p14">
      <p:transition spd="slow" p14:dur="2000" advTm="23070"/>
    </mc:Choice>
    <mc:Fallback xmlns="">
      <p:transition spd="slow" advTm="2307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2F76A57F-3C79-0873-45DE-DB4666BB2D6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E3D8E68-B6EB-5C1B-597F-74D26F5B159C}"/>
              </a:ext>
            </a:extLst>
          </p:cNvPr>
          <p:cNvSpPr/>
          <p:nvPr/>
        </p:nvSpPr>
        <p:spPr>
          <a:xfrm>
            <a:off x="502920" y="256032"/>
            <a:ext cx="2926080" cy="274320"/>
          </a:xfrm>
          <a:prstGeom prst="rect">
            <a:avLst/>
          </a:prstGeom>
          <a:noFill/>
          <a:ln/>
        </p:spPr>
        <p:txBody>
          <a:bodyPr wrap="square" lIns="0" tIns="0" rIns="0" bIns="0" rtlCol="0" anchor="ctr"/>
          <a:lstStyle/>
          <a:p>
            <a:r>
              <a:rPr lang="en-US" altLang="zh-CN" sz="1600" dirty="0">
                <a:solidFill>
                  <a:srgbClr val="2A241B"/>
                </a:solidFill>
                <a:latin typeface="Aptos" pitchFamily="34" charset="0"/>
                <a:ea typeface="Aptos" pitchFamily="34" charset="-122"/>
                <a:cs typeface="Aptos" pitchFamily="34" charset="-120"/>
              </a:rPr>
              <a:t>Task C · application design</a:t>
            </a:r>
            <a:endParaRPr lang="en-US" altLang="zh-CN" sz="1600" dirty="0"/>
          </a:p>
        </p:txBody>
      </p:sp>
      <p:sp>
        <p:nvSpPr>
          <p:cNvPr id="3" name="Text 1">
            <a:extLst>
              <a:ext uri="{FF2B5EF4-FFF2-40B4-BE49-F238E27FC236}">
                <a16:creationId xmlns:a16="http://schemas.microsoft.com/office/drawing/2014/main" id="{56F324DA-E870-8EC4-257F-CB89B849257C}"/>
              </a:ext>
            </a:extLst>
          </p:cNvPr>
          <p:cNvSpPr/>
          <p:nvPr/>
        </p:nvSpPr>
        <p:spPr>
          <a:xfrm>
            <a:off x="11338560" y="256032"/>
            <a:ext cx="457200" cy="274320"/>
          </a:xfrm>
          <a:prstGeom prst="rect">
            <a:avLst/>
          </a:prstGeom>
          <a:noFill/>
          <a:ln/>
        </p:spPr>
        <p:txBody>
          <a:bodyPr wrap="square" lIns="0" tIns="0" rIns="0" bIns="0" rtlCol="0" anchor="ctr"/>
          <a:lstStyle/>
          <a:p>
            <a:pPr marL="0" indent="0" algn="r">
              <a:buNone/>
            </a:pPr>
            <a:r>
              <a:rPr lang="en-US" altLang="zh-CN" sz="1600" i="1" dirty="0">
                <a:solidFill>
                  <a:srgbClr val="5C5345"/>
                </a:solidFill>
                <a:latin typeface="Georgia" pitchFamily="34" charset="0"/>
                <a:ea typeface="Georgia" pitchFamily="34" charset="-122"/>
                <a:cs typeface="Georgia" pitchFamily="34" charset="-120"/>
              </a:rPr>
              <a:t>22</a:t>
            </a:r>
            <a:endParaRPr lang="en-US" sz="1600" dirty="0"/>
          </a:p>
        </p:txBody>
      </p:sp>
      <p:sp>
        <p:nvSpPr>
          <p:cNvPr id="4" name="Text 2">
            <a:extLst>
              <a:ext uri="{FF2B5EF4-FFF2-40B4-BE49-F238E27FC236}">
                <a16:creationId xmlns:a16="http://schemas.microsoft.com/office/drawing/2014/main" id="{6707D300-E72D-D258-98BE-AD2A528AF39C}"/>
              </a:ext>
            </a:extLst>
          </p:cNvPr>
          <p:cNvSpPr/>
          <p:nvPr/>
        </p:nvSpPr>
        <p:spPr>
          <a:xfrm>
            <a:off x="502920" y="6428232"/>
            <a:ext cx="1280160" cy="256032"/>
          </a:xfrm>
          <a:prstGeom prst="rect">
            <a:avLst/>
          </a:prstGeom>
          <a:noFill/>
          <a:ln/>
        </p:spPr>
        <p:txBody>
          <a:bodyPr wrap="square" lIns="0" tIns="0" rIns="0" bIns="0" rtlCol="0" anchor="ctr"/>
          <a:lstStyle/>
          <a:p>
            <a:pPr marL="0" indent="0">
              <a:buNone/>
            </a:pPr>
            <a:r>
              <a:rPr lang="en-US" sz="1500" i="1" dirty="0">
                <a:solidFill>
                  <a:srgbClr val="5C5345"/>
                </a:solidFill>
                <a:latin typeface="Georgia" pitchFamily="34" charset="0"/>
                <a:ea typeface="Georgia" pitchFamily="34" charset="-122"/>
                <a:cs typeface="Georgia" pitchFamily="34" charset="-120"/>
              </a:rPr>
              <a:t>May 2026</a:t>
            </a:r>
            <a:endParaRPr lang="en-US" sz="1500" dirty="0"/>
          </a:p>
        </p:txBody>
      </p:sp>
      <p:sp>
        <p:nvSpPr>
          <p:cNvPr id="5" name="Text 3">
            <a:extLst>
              <a:ext uri="{FF2B5EF4-FFF2-40B4-BE49-F238E27FC236}">
                <a16:creationId xmlns:a16="http://schemas.microsoft.com/office/drawing/2014/main" id="{54FFA986-7EFF-A871-5B1B-55930FD982D4}"/>
              </a:ext>
            </a:extLst>
          </p:cNvPr>
          <p:cNvSpPr/>
          <p:nvPr/>
        </p:nvSpPr>
        <p:spPr>
          <a:xfrm>
            <a:off x="8412480" y="6428232"/>
            <a:ext cx="3383280" cy="256032"/>
          </a:xfrm>
          <a:prstGeom prst="rect">
            <a:avLst/>
          </a:prstGeom>
          <a:noFill/>
          <a:ln/>
        </p:spPr>
        <p:txBody>
          <a:bodyPr wrap="square" lIns="0" tIns="0" rIns="0" bIns="0" rtlCol="0" anchor="ctr"/>
          <a:lstStyle/>
          <a:p>
            <a:pPr algn="r"/>
            <a:r>
              <a:rPr lang="en" altLang="zh-CN" sz="1600" i="1" dirty="0">
                <a:solidFill>
                  <a:srgbClr val="5C5345"/>
                </a:solidFill>
                <a:ea typeface="Aptos"/>
                <a:cs typeface="Aptos"/>
              </a:rPr>
              <a:t>Candidate and graph data structures</a:t>
            </a:r>
          </a:p>
        </p:txBody>
      </p:sp>
      <p:sp>
        <p:nvSpPr>
          <p:cNvPr id="6" name="Text 4">
            <a:extLst>
              <a:ext uri="{FF2B5EF4-FFF2-40B4-BE49-F238E27FC236}">
                <a16:creationId xmlns:a16="http://schemas.microsoft.com/office/drawing/2014/main" id="{FFAA263F-8D0D-F575-1F3F-CC1B1B239ED5}"/>
              </a:ext>
            </a:extLst>
          </p:cNvPr>
          <p:cNvSpPr/>
          <p:nvPr/>
        </p:nvSpPr>
        <p:spPr>
          <a:xfrm>
            <a:off x="685800" y="960120"/>
            <a:ext cx="6766560" cy="685800"/>
          </a:xfrm>
          <a:prstGeom prst="rect">
            <a:avLst/>
          </a:prstGeom>
          <a:noFill/>
          <a:ln/>
        </p:spPr>
        <p:txBody>
          <a:bodyPr wrap="square" lIns="0" tIns="0" rIns="0" bIns="0" rtlCol="0" anchor="ctr"/>
          <a:lstStyle/>
          <a:p>
            <a:pPr marL="0" indent="0">
              <a:buNone/>
            </a:pPr>
            <a:endParaRPr lang="en-US" sz="2400" dirty="0"/>
          </a:p>
        </p:txBody>
      </p:sp>
      <p:sp>
        <p:nvSpPr>
          <p:cNvPr id="9" name="文本框 8">
            <a:extLst>
              <a:ext uri="{FF2B5EF4-FFF2-40B4-BE49-F238E27FC236}">
                <a16:creationId xmlns:a16="http://schemas.microsoft.com/office/drawing/2014/main" id="{5ACD0D97-910C-117F-E056-E324DA48DF20}"/>
              </a:ext>
            </a:extLst>
          </p:cNvPr>
          <p:cNvSpPr txBox="1"/>
          <p:nvPr/>
        </p:nvSpPr>
        <p:spPr>
          <a:xfrm>
            <a:off x="502919" y="980902"/>
            <a:ext cx="7693429" cy="1077218"/>
          </a:xfrm>
          <a:prstGeom prst="rect">
            <a:avLst/>
          </a:prstGeom>
          <a:noFill/>
        </p:spPr>
        <p:txBody>
          <a:bodyPr wrap="square">
            <a:spAutoFit/>
          </a:bodyPr>
          <a:lstStyle/>
          <a:p>
            <a:r>
              <a:rPr lang="en-US" altLang="zh-CN" sz="3200" dirty="0">
                <a:latin typeface="+mj-lt"/>
              </a:rPr>
              <a:t>Candidate &amp; Graph Data Structure</a:t>
            </a:r>
          </a:p>
          <a:p>
            <a:endParaRPr lang="en" altLang="zh-CN" sz="3200" dirty="0">
              <a:latin typeface="+mj-lt"/>
            </a:endParaRPr>
          </a:p>
        </p:txBody>
      </p:sp>
      <p:sp>
        <p:nvSpPr>
          <p:cNvPr id="8" name="文本框 7">
            <a:extLst>
              <a:ext uri="{FF2B5EF4-FFF2-40B4-BE49-F238E27FC236}">
                <a16:creationId xmlns:a16="http://schemas.microsoft.com/office/drawing/2014/main" id="{7201C92C-A850-FD6F-C1A8-69454B200145}"/>
              </a:ext>
            </a:extLst>
          </p:cNvPr>
          <p:cNvSpPr txBox="1"/>
          <p:nvPr/>
        </p:nvSpPr>
        <p:spPr>
          <a:xfrm>
            <a:off x="448885" y="2493281"/>
            <a:ext cx="3167149" cy="1754326"/>
          </a:xfrm>
          <a:prstGeom prst="rect">
            <a:avLst/>
          </a:prstGeom>
          <a:noFill/>
        </p:spPr>
        <p:txBody>
          <a:bodyPr wrap="square">
            <a:spAutoFit/>
          </a:bodyPr>
          <a:lstStyle/>
          <a:p>
            <a:r>
              <a:rPr lang="en" altLang="zh-CN" dirty="0">
                <a:latin typeface="+mj-lt"/>
              </a:rPr>
              <a:t>CSV Row</a:t>
            </a:r>
          </a:p>
          <a:p>
            <a:r>
              <a:rPr lang="en" altLang="zh-CN" dirty="0">
                <a:latin typeface="+mj-lt"/>
              </a:rPr>
              <a:t>→ Candidate Object</a:t>
            </a:r>
          </a:p>
          <a:p>
            <a:endParaRPr lang="en" altLang="zh-CN" dirty="0">
              <a:latin typeface="+mj-lt"/>
            </a:endParaRPr>
          </a:p>
          <a:p>
            <a:r>
              <a:rPr lang="en" altLang="zh-CN" dirty="0">
                <a:latin typeface="+mj-lt"/>
              </a:rPr>
              <a:t>Fields:</a:t>
            </a:r>
          </a:p>
          <a:p>
            <a:r>
              <a:rPr lang="en" altLang="zh-CN" dirty="0">
                <a:latin typeface="+mj-lt"/>
              </a:rPr>
              <a:t>- </a:t>
            </a:r>
            <a:r>
              <a:rPr lang="en" altLang="zh-CN" dirty="0" err="1">
                <a:latin typeface="+mj-lt"/>
              </a:rPr>
              <a:t>locationId</a:t>
            </a:r>
            <a:endParaRPr lang="en" altLang="zh-CN" dirty="0">
              <a:latin typeface="+mj-lt"/>
            </a:endParaRPr>
          </a:p>
          <a:p>
            <a:r>
              <a:rPr lang="en" altLang="zh-CN" dirty="0">
                <a:latin typeface="+mj-lt"/>
              </a:rPr>
              <a:t>- </a:t>
            </a:r>
            <a:r>
              <a:rPr lang="en" altLang="zh-CN" dirty="0" err="1">
                <a:latin typeface="+mj-lt"/>
              </a:rPr>
              <a:t>priorityScore</a:t>
            </a:r>
            <a:endParaRPr lang="zh-CN" altLang="en-US" dirty="0">
              <a:latin typeface="+mj-lt"/>
            </a:endParaRPr>
          </a:p>
        </p:txBody>
      </p:sp>
      <p:sp>
        <p:nvSpPr>
          <p:cNvPr id="12" name="文本框 11">
            <a:extLst>
              <a:ext uri="{FF2B5EF4-FFF2-40B4-BE49-F238E27FC236}">
                <a16:creationId xmlns:a16="http://schemas.microsoft.com/office/drawing/2014/main" id="{7782E67A-D627-6143-BCF1-9B80CBC912A3}"/>
              </a:ext>
            </a:extLst>
          </p:cNvPr>
          <p:cNvSpPr txBox="1"/>
          <p:nvPr/>
        </p:nvSpPr>
        <p:spPr>
          <a:xfrm>
            <a:off x="502919" y="4682768"/>
            <a:ext cx="2219498" cy="646331"/>
          </a:xfrm>
          <a:prstGeom prst="rect">
            <a:avLst/>
          </a:prstGeom>
          <a:noFill/>
        </p:spPr>
        <p:txBody>
          <a:bodyPr wrap="square">
            <a:spAutoFit/>
          </a:bodyPr>
          <a:lstStyle/>
          <a:p>
            <a:r>
              <a:rPr lang="en" altLang="zh-CN" dirty="0">
                <a:latin typeface="+mj-lt"/>
              </a:rPr>
              <a:t>Stored in:</a:t>
            </a:r>
          </a:p>
          <a:p>
            <a:r>
              <a:rPr lang="en" altLang="zh-CN" dirty="0">
                <a:latin typeface="+mj-lt"/>
              </a:rPr>
              <a:t>List&lt;Candidate&gt;</a:t>
            </a:r>
            <a:endParaRPr lang="zh-CN" altLang="en-US" dirty="0">
              <a:latin typeface="+mj-lt"/>
            </a:endParaRPr>
          </a:p>
        </p:txBody>
      </p:sp>
      <p:sp>
        <p:nvSpPr>
          <p:cNvPr id="14" name="文本框 13">
            <a:extLst>
              <a:ext uri="{FF2B5EF4-FFF2-40B4-BE49-F238E27FC236}">
                <a16:creationId xmlns:a16="http://schemas.microsoft.com/office/drawing/2014/main" id="{84808F4D-1E62-A5AC-90BA-0869A6CEC62E}"/>
              </a:ext>
            </a:extLst>
          </p:cNvPr>
          <p:cNvSpPr txBox="1"/>
          <p:nvPr/>
        </p:nvSpPr>
        <p:spPr>
          <a:xfrm>
            <a:off x="6641869" y="2489654"/>
            <a:ext cx="3045229" cy="2031325"/>
          </a:xfrm>
          <a:prstGeom prst="rect">
            <a:avLst/>
          </a:prstGeom>
          <a:noFill/>
        </p:spPr>
        <p:txBody>
          <a:bodyPr wrap="square">
            <a:spAutoFit/>
          </a:bodyPr>
          <a:lstStyle/>
          <a:p>
            <a:r>
              <a:rPr lang="en" altLang="zh-CN" dirty="0">
                <a:latin typeface="+mj-lt"/>
              </a:rPr>
              <a:t>Vertex</a:t>
            </a:r>
          </a:p>
          <a:p>
            <a:r>
              <a:rPr lang="en" altLang="zh-CN" dirty="0">
                <a:latin typeface="+mj-lt"/>
              </a:rPr>
              <a:t>- id</a:t>
            </a:r>
          </a:p>
          <a:p>
            <a:endParaRPr lang="en" altLang="zh-CN" dirty="0">
              <a:latin typeface="+mj-lt"/>
            </a:endParaRPr>
          </a:p>
          <a:p>
            <a:r>
              <a:rPr lang="en" altLang="zh-CN" dirty="0">
                <a:latin typeface="+mj-lt"/>
              </a:rPr>
              <a:t>Edge</a:t>
            </a:r>
          </a:p>
          <a:p>
            <a:r>
              <a:rPr lang="en" altLang="zh-CN" dirty="0">
                <a:latin typeface="+mj-lt"/>
              </a:rPr>
              <a:t>- from</a:t>
            </a:r>
          </a:p>
          <a:p>
            <a:r>
              <a:rPr lang="en" altLang="zh-CN" dirty="0">
                <a:latin typeface="+mj-lt"/>
              </a:rPr>
              <a:t>- to</a:t>
            </a:r>
          </a:p>
          <a:p>
            <a:r>
              <a:rPr lang="en" altLang="zh-CN" dirty="0">
                <a:latin typeface="+mj-lt"/>
              </a:rPr>
              <a:t>- weight</a:t>
            </a:r>
            <a:endParaRPr lang="zh-CN" altLang="en-US" dirty="0">
              <a:latin typeface="+mj-lt"/>
            </a:endParaRPr>
          </a:p>
        </p:txBody>
      </p:sp>
      <p:sp>
        <p:nvSpPr>
          <p:cNvPr id="16" name="文本框 15">
            <a:extLst>
              <a:ext uri="{FF2B5EF4-FFF2-40B4-BE49-F238E27FC236}">
                <a16:creationId xmlns:a16="http://schemas.microsoft.com/office/drawing/2014/main" id="{A9BA24A4-B272-8CAD-1F21-F51673598174}"/>
              </a:ext>
            </a:extLst>
          </p:cNvPr>
          <p:cNvSpPr txBox="1"/>
          <p:nvPr/>
        </p:nvSpPr>
        <p:spPr>
          <a:xfrm>
            <a:off x="6641869" y="4900465"/>
            <a:ext cx="6101542" cy="923330"/>
          </a:xfrm>
          <a:prstGeom prst="rect">
            <a:avLst/>
          </a:prstGeom>
          <a:noFill/>
        </p:spPr>
        <p:txBody>
          <a:bodyPr wrap="square">
            <a:spAutoFit/>
          </a:bodyPr>
          <a:lstStyle/>
          <a:p>
            <a:pPr>
              <a:buNone/>
            </a:pPr>
            <a:r>
              <a:rPr lang="zh-CN" altLang="zh-CN" dirty="0">
                <a:solidFill>
                  <a:srgbClr val="000000"/>
                </a:solidFill>
                <a:effectLst/>
                <a:latin typeface="+mj-lt"/>
              </a:rPr>
              <a:t>Map&lt;Vertex, List&lt;Edge&gt;&gt;</a:t>
            </a:r>
            <a:endParaRPr lang="en-US" altLang="zh-CN" dirty="0">
              <a:solidFill>
                <a:srgbClr val="000000"/>
              </a:solidFill>
              <a:effectLst/>
              <a:latin typeface="+mj-lt"/>
            </a:endParaRPr>
          </a:p>
          <a:p>
            <a:pPr>
              <a:buNone/>
            </a:pPr>
            <a:endParaRPr lang="en-US" altLang="zh-CN" dirty="0">
              <a:solidFill>
                <a:srgbClr val="000000"/>
              </a:solidFill>
              <a:latin typeface="+mj-lt"/>
            </a:endParaRPr>
          </a:p>
          <a:p>
            <a:pPr>
              <a:buNone/>
            </a:pPr>
            <a:r>
              <a:rPr lang="zh-CN" altLang="zh-CN" dirty="0">
                <a:solidFill>
                  <a:srgbClr val="000000"/>
                </a:solidFill>
                <a:effectLst/>
                <a:latin typeface="+mj-lt"/>
              </a:rPr>
              <a:t>Adjacency list improves efficiency for sparse graphs.</a:t>
            </a:r>
          </a:p>
        </p:txBody>
      </p:sp>
    </p:spTree>
    <p:extLst>
      <p:ext uri="{BB962C8B-B14F-4D97-AF65-F5344CB8AC3E}">
        <p14:creationId xmlns:p14="http://schemas.microsoft.com/office/powerpoint/2010/main" val="2598814824"/>
      </p:ext>
    </p:extLst>
  </p:cSld>
  <p:clrMapOvr>
    <a:masterClrMapping/>
  </p:clrMapOvr>
  <mc:AlternateContent xmlns:mc="http://schemas.openxmlformats.org/markup-compatibility/2006" xmlns:p14="http://schemas.microsoft.com/office/powerpoint/2010/main">
    <mc:Choice Requires="p14">
      <p:transition spd="slow" p14:dur="2000" advTm="30970"/>
    </mc:Choice>
    <mc:Fallback xmlns="">
      <p:transition spd="slow" advTm="3097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A05D419E-6CE0-2684-04C0-3DF16271879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66EED82-A49F-A798-5ECC-FC56B6219C4A}"/>
              </a:ext>
            </a:extLst>
          </p:cNvPr>
          <p:cNvSpPr/>
          <p:nvPr/>
        </p:nvSpPr>
        <p:spPr>
          <a:xfrm>
            <a:off x="502920" y="256032"/>
            <a:ext cx="2926080" cy="274320"/>
          </a:xfrm>
          <a:prstGeom prst="rect">
            <a:avLst/>
          </a:prstGeom>
          <a:noFill/>
          <a:ln/>
        </p:spPr>
        <p:txBody>
          <a:bodyPr wrap="square" lIns="0" tIns="0" rIns="0" bIns="0" rtlCol="0" anchor="ctr"/>
          <a:lstStyle/>
          <a:p>
            <a:r>
              <a:rPr lang="en-US" altLang="zh-CN" sz="1600" dirty="0">
                <a:solidFill>
                  <a:srgbClr val="2A241B"/>
                </a:solidFill>
                <a:latin typeface="Aptos" pitchFamily="34" charset="0"/>
                <a:ea typeface="Aptos" pitchFamily="34" charset="-122"/>
                <a:cs typeface="Aptos" pitchFamily="34" charset="-120"/>
              </a:rPr>
              <a:t>Task C · application design</a:t>
            </a:r>
            <a:endParaRPr lang="en-US" altLang="zh-CN" sz="1600" dirty="0"/>
          </a:p>
        </p:txBody>
      </p:sp>
      <p:sp>
        <p:nvSpPr>
          <p:cNvPr id="3" name="Text 1">
            <a:extLst>
              <a:ext uri="{FF2B5EF4-FFF2-40B4-BE49-F238E27FC236}">
                <a16:creationId xmlns:a16="http://schemas.microsoft.com/office/drawing/2014/main" id="{DB5D0E4A-5CDE-5006-9417-4D0977A00855}"/>
              </a:ext>
            </a:extLst>
          </p:cNvPr>
          <p:cNvSpPr/>
          <p:nvPr/>
        </p:nvSpPr>
        <p:spPr>
          <a:xfrm>
            <a:off x="11338560" y="256032"/>
            <a:ext cx="457200" cy="274320"/>
          </a:xfrm>
          <a:prstGeom prst="rect">
            <a:avLst/>
          </a:prstGeom>
          <a:noFill/>
          <a:ln/>
        </p:spPr>
        <p:txBody>
          <a:bodyPr wrap="square" lIns="0" tIns="0" rIns="0" bIns="0" rtlCol="0" anchor="ctr"/>
          <a:lstStyle/>
          <a:p>
            <a:pPr marL="0" indent="0" algn="r">
              <a:buNone/>
            </a:pPr>
            <a:r>
              <a:rPr lang="en-US" altLang="zh-CN" sz="1600" i="1" dirty="0">
                <a:solidFill>
                  <a:srgbClr val="5C5345"/>
                </a:solidFill>
                <a:latin typeface="Georgia" pitchFamily="34" charset="0"/>
                <a:ea typeface="Georgia" pitchFamily="34" charset="-122"/>
                <a:cs typeface="Georgia" pitchFamily="34" charset="-120"/>
              </a:rPr>
              <a:t>23</a:t>
            </a:r>
            <a:endParaRPr lang="en-US" sz="1600" dirty="0"/>
          </a:p>
        </p:txBody>
      </p:sp>
      <p:sp>
        <p:nvSpPr>
          <p:cNvPr id="4" name="Text 2">
            <a:extLst>
              <a:ext uri="{FF2B5EF4-FFF2-40B4-BE49-F238E27FC236}">
                <a16:creationId xmlns:a16="http://schemas.microsoft.com/office/drawing/2014/main" id="{77B53224-F0A8-A186-75F9-6848E1F07D0D}"/>
              </a:ext>
            </a:extLst>
          </p:cNvPr>
          <p:cNvSpPr/>
          <p:nvPr/>
        </p:nvSpPr>
        <p:spPr>
          <a:xfrm>
            <a:off x="502920" y="6428232"/>
            <a:ext cx="1280160" cy="256032"/>
          </a:xfrm>
          <a:prstGeom prst="rect">
            <a:avLst/>
          </a:prstGeom>
          <a:noFill/>
          <a:ln/>
        </p:spPr>
        <p:txBody>
          <a:bodyPr wrap="square" lIns="0" tIns="0" rIns="0" bIns="0" rtlCol="0" anchor="ctr"/>
          <a:lstStyle/>
          <a:p>
            <a:pPr marL="0" indent="0">
              <a:buNone/>
            </a:pPr>
            <a:r>
              <a:rPr lang="en-US" sz="1500" i="1" dirty="0">
                <a:solidFill>
                  <a:srgbClr val="5C5345"/>
                </a:solidFill>
                <a:latin typeface="Georgia" pitchFamily="34" charset="0"/>
                <a:ea typeface="Georgia" pitchFamily="34" charset="-122"/>
                <a:cs typeface="Georgia" pitchFamily="34" charset="-120"/>
              </a:rPr>
              <a:t>May 2026</a:t>
            </a:r>
            <a:endParaRPr lang="en-US" sz="1500" dirty="0"/>
          </a:p>
        </p:txBody>
      </p:sp>
      <p:sp>
        <p:nvSpPr>
          <p:cNvPr id="5" name="Text 3">
            <a:extLst>
              <a:ext uri="{FF2B5EF4-FFF2-40B4-BE49-F238E27FC236}">
                <a16:creationId xmlns:a16="http://schemas.microsoft.com/office/drawing/2014/main" id="{80DD39F0-CD18-2E61-40AA-DC322B092B9A}"/>
              </a:ext>
            </a:extLst>
          </p:cNvPr>
          <p:cNvSpPr/>
          <p:nvPr/>
        </p:nvSpPr>
        <p:spPr>
          <a:xfrm>
            <a:off x="8412480" y="6428232"/>
            <a:ext cx="3383280" cy="256032"/>
          </a:xfrm>
          <a:prstGeom prst="rect">
            <a:avLst/>
          </a:prstGeom>
          <a:noFill/>
          <a:ln/>
        </p:spPr>
        <p:txBody>
          <a:bodyPr wrap="square" lIns="0" tIns="0" rIns="0" bIns="0" rtlCol="0" anchor="ctr"/>
          <a:lstStyle/>
          <a:p>
            <a:pPr algn="r"/>
            <a:r>
              <a:rPr lang="en" altLang="zh-CN" sz="1600" i="1" dirty="0">
                <a:solidFill>
                  <a:srgbClr val="5C5345"/>
                </a:solidFill>
                <a:ea typeface="Aptos"/>
                <a:cs typeface="Aptos"/>
              </a:rPr>
              <a:t>Adjacency list design</a:t>
            </a:r>
          </a:p>
        </p:txBody>
      </p:sp>
      <p:sp>
        <p:nvSpPr>
          <p:cNvPr id="6" name="Text 4">
            <a:extLst>
              <a:ext uri="{FF2B5EF4-FFF2-40B4-BE49-F238E27FC236}">
                <a16:creationId xmlns:a16="http://schemas.microsoft.com/office/drawing/2014/main" id="{9EFF3349-6D46-8F48-BE34-EE8F6CC18CDA}"/>
              </a:ext>
            </a:extLst>
          </p:cNvPr>
          <p:cNvSpPr/>
          <p:nvPr/>
        </p:nvSpPr>
        <p:spPr>
          <a:xfrm>
            <a:off x="685800" y="960120"/>
            <a:ext cx="6766560" cy="685800"/>
          </a:xfrm>
          <a:prstGeom prst="rect">
            <a:avLst/>
          </a:prstGeom>
          <a:noFill/>
          <a:ln/>
        </p:spPr>
        <p:txBody>
          <a:bodyPr wrap="square" lIns="0" tIns="0" rIns="0" bIns="0" rtlCol="0" anchor="ctr"/>
          <a:lstStyle/>
          <a:p>
            <a:pPr marL="0" indent="0">
              <a:buNone/>
            </a:pPr>
            <a:endParaRPr lang="en-US" sz="2400" dirty="0"/>
          </a:p>
        </p:txBody>
      </p:sp>
      <p:sp>
        <p:nvSpPr>
          <p:cNvPr id="9" name="文本框 8">
            <a:extLst>
              <a:ext uri="{FF2B5EF4-FFF2-40B4-BE49-F238E27FC236}">
                <a16:creationId xmlns:a16="http://schemas.microsoft.com/office/drawing/2014/main" id="{F0F8B560-E17A-18D6-BD2E-2E8442C81EEA}"/>
              </a:ext>
            </a:extLst>
          </p:cNvPr>
          <p:cNvSpPr txBox="1"/>
          <p:nvPr/>
        </p:nvSpPr>
        <p:spPr>
          <a:xfrm>
            <a:off x="502919" y="980902"/>
            <a:ext cx="7693429" cy="1569660"/>
          </a:xfrm>
          <a:prstGeom prst="rect">
            <a:avLst/>
          </a:prstGeom>
          <a:noFill/>
        </p:spPr>
        <p:txBody>
          <a:bodyPr wrap="square">
            <a:spAutoFit/>
          </a:bodyPr>
          <a:lstStyle/>
          <a:p>
            <a:r>
              <a:rPr lang="en" altLang="zh-CN" sz="3200" dirty="0">
                <a:latin typeface="+mj-lt"/>
              </a:rPr>
              <a:t>Why Adjacency List?</a:t>
            </a:r>
          </a:p>
          <a:p>
            <a:endParaRPr lang="en-US" altLang="zh-CN" sz="3200" dirty="0">
              <a:latin typeface="+mj-lt"/>
            </a:endParaRPr>
          </a:p>
          <a:p>
            <a:endParaRPr lang="en" altLang="zh-CN" sz="3200" dirty="0">
              <a:latin typeface="+mj-lt"/>
            </a:endParaRPr>
          </a:p>
        </p:txBody>
      </p:sp>
      <p:graphicFrame>
        <p:nvGraphicFramePr>
          <p:cNvPr id="7" name="表格 6">
            <a:extLst>
              <a:ext uri="{FF2B5EF4-FFF2-40B4-BE49-F238E27FC236}">
                <a16:creationId xmlns:a16="http://schemas.microsoft.com/office/drawing/2014/main" id="{76512BD1-DB86-643A-5B29-CFE253EF3C6F}"/>
              </a:ext>
            </a:extLst>
          </p:cNvPr>
          <p:cNvGraphicFramePr>
            <a:graphicFrameLocks noGrp="1"/>
          </p:cNvGraphicFramePr>
          <p:nvPr>
            <p:extLst>
              <p:ext uri="{D42A27DB-BD31-4B8C-83A1-F6EECF244321}">
                <p14:modId xmlns:p14="http://schemas.microsoft.com/office/powerpoint/2010/main" val="1270762475"/>
              </p:ext>
            </p:extLst>
          </p:nvPr>
        </p:nvGraphicFramePr>
        <p:xfrm>
          <a:off x="502919" y="2550562"/>
          <a:ext cx="10515600" cy="1706880"/>
        </p:xfrm>
        <a:graphic>
          <a:graphicData uri="http://schemas.openxmlformats.org/drawingml/2006/table">
            <a:tbl>
              <a:tblPr/>
              <a:tblGrid>
                <a:gridCol w="5257800">
                  <a:extLst>
                    <a:ext uri="{9D8B030D-6E8A-4147-A177-3AD203B41FA5}">
                      <a16:colId xmlns:a16="http://schemas.microsoft.com/office/drawing/2014/main" val="151295938"/>
                    </a:ext>
                  </a:extLst>
                </a:gridCol>
                <a:gridCol w="5257800">
                  <a:extLst>
                    <a:ext uri="{9D8B030D-6E8A-4147-A177-3AD203B41FA5}">
                      <a16:colId xmlns:a16="http://schemas.microsoft.com/office/drawing/2014/main" val="3783965715"/>
                    </a:ext>
                  </a:extLst>
                </a:gridCol>
              </a:tblGrid>
              <a:tr h="0">
                <a:tc>
                  <a:txBody>
                    <a:bodyPr/>
                    <a:lstStyle/>
                    <a:p>
                      <a:pPr>
                        <a:buNone/>
                      </a:pPr>
                      <a:r>
                        <a:rPr lang="zh-CN" b="1">
                          <a:effectLst/>
                        </a:rPr>
                        <a:t>Adjacency Matrix</a:t>
                      </a:r>
                      <a:endParaRPr lang="zh-CN">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zh-CN" b="1">
                          <a:effectLst/>
                        </a:rPr>
                        <a:t>Adjacency List</a:t>
                      </a:r>
                      <a:endParaRPr lang="zh-CN">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9780457"/>
                  </a:ext>
                </a:extLst>
              </a:tr>
              <a:tr h="0">
                <a:tc>
                  <a:txBody>
                    <a:bodyPr/>
                    <a:lstStyle/>
                    <a:p>
                      <a:pPr>
                        <a:buNone/>
                      </a:pPr>
                      <a:r>
                        <a:rPr lang="zh-CN">
                          <a:effectLst/>
                        </a:rPr>
                        <a:t>Requires n×n space</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zh-CN">
                          <a:effectLst/>
                        </a:rPr>
                        <a:t>Stores only existing edges</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05436546"/>
                  </a:ext>
                </a:extLst>
              </a:tr>
              <a:tr h="0">
                <a:tc>
                  <a:txBody>
                    <a:bodyPr/>
                    <a:lstStyle/>
                    <a:p>
                      <a:pPr>
                        <a:buNone/>
                      </a:pPr>
                      <a:r>
                        <a:rPr lang="zh-CN">
                          <a:effectLst/>
                        </a:rPr>
                        <a:t>Wastes memory in sparse graph</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zh-CN">
                          <a:effectLst/>
                        </a:rPr>
                        <a:t>Space efficient</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48464993"/>
                  </a:ext>
                </a:extLst>
              </a:tr>
              <a:tr h="0">
                <a:tc>
                  <a:txBody>
                    <a:bodyPr/>
                    <a:lstStyle/>
                    <a:p>
                      <a:pPr>
                        <a:buNone/>
                      </a:pPr>
                      <a:r>
                        <a:rPr lang="zh-CN" dirty="0">
                          <a:effectLst/>
                        </a:rPr>
                        <a:t>Slower neighbor traversal</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zh-CN" dirty="0">
                          <a:effectLst/>
                        </a:rPr>
                        <a:t>Fast adjacent-node access</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02485715"/>
                  </a:ext>
                </a:extLst>
              </a:tr>
            </a:tbl>
          </a:graphicData>
        </a:graphic>
      </p:graphicFrame>
      <p:sp>
        <p:nvSpPr>
          <p:cNvPr id="11" name="文本框 10">
            <a:extLst>
              <a:ext uri="{FF2B5EF4-FFF2-40B4-BE49-F238E27FC236}">
                <a16:creationId xmlns:a16="http://schemas.microsoft.com/office/drawing/2014/main" id="{F1A21A77-A554-65B4-9F45-115C94F48250}"/>
              </a:ext>
            </a:extLst>
          </p:cNvPr>
          <p:cNvSpPr txBox="1"/>
          <p:nvPr/>
        </p:nvSpPr>
        <p:spPr>
          <a:xfrm>
            <a:off x="502919" y="4721352"/>
            <a:ext cx="6101542" cy="923330"/>
          </a:xfrm>
          <a:prstGeom prst="rect">
            <a:avLst/>
          </a:prstGeom>
          <a:noFill/>
        </p:spPr>
        <p:txBody>
          <a:bodyPr wrap="square">
            <a:spAutoFit/>
          </a:bodyPr>
          <a:lstStyle/>
          <a:p>
            <a:r>
              <a:rPr lang="en" altLang="zh-CN" dirty="0">
                <a:latin typeface="+mj-lt"/>
              </a:rPr>
              <a:t>Since the inspection network is sparse, adjacency lists significantly reduce memory usage and improve Dijkstra traversal efficiency.</a:t>
            </a:r>
          </a:p>
        </p:txBody>
      </p:sp>
    </p:spTree>
    <p:extLst>
      <p:ext uri="{BB962C8B-B14F-4D97-AF65-F5344CB8AC3E}">
        <p14:creationId xmlns:p14="http://schemas.microsoft.com/office/powerpoint/2010/main" val="879495970"/>
      </p:ext>
    </p:extLst>
  </p:cSld>
  <p:clrMapOvr>
    <a:masterClrMapping/>
  </p:clrMapOvr>
  <mc:AlternateContent xmlns:mc="http://schemas.openxmlformats.org/markup-compatibility/2006" xmlns:p14="http://schemas.microsoft.com/office/powerpoint/2010/main">
    <mc:Choice Requires="p14">
      <p:transition spd="slow" p14:dur="2000" advTm="34636"/>
    </mc:Choice>
    <mc:Fallback xmlns="">
      <p:transition spd="slow" advTm="34636"/>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9AE95DA3-C681-B628-8D4A-AA5876C66F3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A9C25F0-C88E-ED13-E2FA-07A9367C64E2}"/>
              </a:ext>
            </a:extLst>
          </p:cNvPr>
          <p:cNvSpPr/>
          <p:nvPr/>
        </p:nvSpPr>
        <p:spPr>
          <a:xfrm>
            <a:off x="502920" y="256032"/>
            <a:ext cx="2926080" cy="274320"/>
          </a:xfrm>
          <a:prstGeom prst="rect">
            <a:avLst/>
          </a:prstGeom>
          <a:noFill/>
          <a:ln/>
        </p:spPr>
        <p:txBody>
          <a:bodyPr wrap="square" lIns="0" tIns="0" rIns="0" bIns="0" rtlCol="0" anchor="ctr"/>
          <a:lstStyle/>
          <a:p>
            <a:r>
              <a:rPr lang="en-US" altLang="zh-CN" sz="1600" dirty="0">
                <a:solidFill>
                  <a:srgbClr val="2A241B"/>
                </a:solidFill>
                <a:latin typeface="Aptos" pitchFamily="34" charset="0"/>
                <a:ea typeface="Aptos" pitchFamily="34" charset="-122"/>
                <a:cs typeface="Aptos" pitchFamily="34" charset="-120"/>
              </a:rPr>
              <a:t>Task C</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application</a:t>
            </a:r>
            <a:r>
              <a:rPr lang="zh-CN" altLang="en-US" sz="1600" dirty="0">
                <a:solidFill>
                  <a:srgbClr val="2A241B"/>
                </a:solidFill>
                <a:latin typeface="Aptos" pitchFamily="34" charset="0"/>
                <a:ea typeface="Aptos" pitchFamily="34" charset="-122"/>
                <a:cs typeface="Aptos" pitchFamily="34" charset="-120"/>
              </a:rPr>
              <a:t> </a:t>
            </a:r>
            <a:r>
              <a:rPr lang="en-US" altLang="zh-CN" sz="1600" dirty="0">
                <a:solidFill>
                  <a:srgbClr val="2A241B"/>
                </a:solidFill>
                <a:latin typeface="Aptos" pitchFamily="34" charset="0"/>
                <a:ea typeface="Aptos" pitchFamily="34" charset="-122"/>
                <a:cs typeface="Aptos" pitchFamily="34" charset="-120"/>
              </a:rPr>
              <a:t>design</a:t>
            </a:r>
            <a:endParaRPr lang="en-US" altLang="zh-CN" sz="1600" dirty="0"/>
          </a:p>
        </p:txBody>
      </p:sp>
      <p:sp>
        <p:nvSpPr>
          <p:cNvPr id="3" name="Text 1">
            <a:extLst>
              <a:ext uri="{FF2B5EF4-FFF2-40B4-BE49-F238E27FC236}">
                <a16:creationId xmlns:a16="http://schemas.microsoft.com/office/drawing/2014/main" id="{8D2E48A3-55A6-8178-C7F4-5810F32D98D7}"/>
              </a:ext>
            </a:extLst>
          </p:cNvPr>
          <p:cNvSpPr/>
          <p:nvPr/>
        </p:nvSpPr>
        <p:spPr>
          <a:xfrm>
            <a:off x="11338560" y="256032"/>
            <a:ext cx="457200" cy="274320"/>
          </a:xfrm>
          <a:prstGeom prst="rect">
            <a:avLst/>
          </a:prstGeom>
          <a:noFill/>
          <a:ln/>
        </p:spPr>
        <p:txBody>
          <a:bodyPr wrap="square" lIns="0" tIns="0" rIns="0" bIns="0" rtlCol="0" anchor="ctr"/>
          <a:lstStyle/>
          <a:p>
            <a:pPr marL="0" indent="0" algn="r">
              <a:buNone/>
            </a:pPr>
            <a:r>
              <a:rPr lang="en-US" altLang="zh-CN" sz="1600" i="1" dirty="0">
                <a:solidFill>
                  <a:srgbClr val="5C5345"/>
                </a:solidFill>
                <a:latin typeface="Georgia" pitchFamily="34" charset="0"/>
              </a:rPr>
              <a:t>24</a:t>
            </a:r>
            <a:endParaRPr lang="en-US" sz="1600" dirty="0"/>
          </a:p>
        </p:txBody>
      </p:sp>
      <p:sp>
        <p:nvSpPr>
          <p:cNvPr id="4" name="Text 2">
            <a:extLst>
              <a:ext uri="{FF2B5EF4-FFF2-40B4-BE49-F238E27FC236}">
                <a16:creationId xmlns:a16="http://schemas.microsoft.com/office/drawing/2014/main" id="{2CAD6B6C-C492-E2A0-8977-C327C2410A11}"/>
              </a:ext>
            </a:extLst>
          </p:cNvPr>
          <p:cNvSpPr/>
          <p:nvPr/>
        </p:nvSpPr>
        <p:spPr>
          <a:xfrm>
            <a:off x="502920" y="6428232"/>
            <a:ext cx="1280160" cy="256032"/>
          </a:xfrm>
          <a:prstGeom prst="rect">
            <a:avLst/>
          </a:prstGeom>
          <a:noFill/>
          <a:ln/>
        </p:spPr>
        <p:txBody>
          <a:bodyPr wrap="square" lIns="0" tIns="0" rIns="0" bIns="0" rtlCol="0" anchor="ctr"/>
          <a:lstStyle/>
          <a:p>
            <a:pPr marL="0" indent="0">
              <a:buNone/>
            </a:pPr>
            <a:r>
              <a:rPr lang="en-US" sz="1500" i="1" dirty="0">
                <a:solidFill>
                  <a:srgbClr val="5C5345"/>
                </a:solidFill>
                <a:latin typeface="Georgia" pitchFamily="34" charset="0"/>
                <a:ea typeface="Georgia" pitchFamily="34" charset="-122"/>
                <a:cs typeface="Georgia" pitchFamily="34" charset="-120"/>
              </a:rPr>
              <a:t>May 2026</a:t>
            </a:r>
            <a:endParaRPr lang="en-US" sz="1500" dirty="0"/>
          </a:p>
        </p:txBody>
      </p:sp>
      <p:sp>
        <p:nvSpPr>
          <p:cNvPr id="5" name="Text 3">
            <a:extLst>
              <a:ext uri="{FF2B5EF4-FFF2-40B4-BE49-F238E27FC236}">
                <a16:creationId xmlns:a16="http://schemas.microsoft.com/office/drawing/2014/main" id="{F1DD069C-3C61-2D49-5ABF-58CECAD86766}"/>
              </a:ext>
            </a:extLst>
          </p:cNvPr>
          <p:cNvSpPr/>
          <p:nvPr/>
        </p:nvSpPr>
        <p:spPr>
          <a:xfrm>
            <a:off x="8412480" y="6428232"/>
            <a:ext cx="3383280" cy="256032"/>
          </a:xfrm>
          <a:prstGeom prst="rect">
            <a:avLst/>
          </a:prstGeom>
          <a:noFill/>
          <a:ln/>
        </p:spPr>
        <p:txBody>
          <a:bodyPr wrap="square" lIns="0" tIns="0" rIns="0" bIns="0" rtlCol="0" anchor="ctr"/>
          <a:lstStyle/>
          <a:p>
            <a:pPr algn="r"/>
            <a:r>
              <a:rPr lang="en" altLang="zh-CN" sz="1600" i="1" dirty="0">
                <a:solidFill>
                  <a:srgbClr val="5C5345"/>
                </a:solidFill>
                <a:ea typeface="Aptos"/>
                <a:cs typeface="Aptos"/>
              </a:rPr>
              <a:t>Class design overview</a:t>
            </a:r>
          </a:p>
        </p:txBody>
      </p:sp>
      <p:sp>
        <p:nvSpPr>
          <p:cNvPr id="6" name="Text 4">
            <a:extLst>
              <a:ext uri="{FF2B5EF4-FFF2-40B4-BE49-F238E27FC236}">
                <a16:creationId xmlns:a16="http://schemas.microsoft.com/office/drawing/2014/main" id="{0386700B-90EB-DB65-7282-29E937DDBB14}"/>
              </a:ext>
            </a:extLst>
          </p:cNvPr>
          <p:cNvSpPr/>
          <p:nvPr/>
        </p:nvSpPr>
        <p:spPr>
          <a:xfrm>
            <a:off x="685800" y="960120"/>
            <a:ext cx="6766560" cy="685800"/>
          </a:xfrm>
          <a:prstGeom prst="rect">
            <a:avLst/>
          </a:prstGeom>
          <a:noFill/>
          <a:ln/>
        </p:spPr>
        <p:txBody>
          <a:bodyPr wrap="square" lIns="0" tIns="0" rIns="0" bIns="0" rtlCol="0" anchor="ctr"/>
          <a:lstStyle/>
          <a:p>
            <a:pPr marL="0" indent="0">
              <a:buNone/>
            </a:pPr>
            <a:endParaRPr lang="en-US" sz="2400" dirty="0"/>
          </a:p>
        </p:txBody>
      </p:sp>
      <p:sp>
        <p:nvSpPr>
          <p:cNvPr id="9" name="文本框 8">
            <a:extLst>
              <a:ext uri="{FF2B5EF4-FFF2-40B4-BE49-F238E27FC236}">
                <a16:creationId xmlns:a16="http://schemas.microsoft.com/office/drawing/2014/main" id="{CCB17770-C9A2-6F0D-C3DF-70582E888858}"/>
              </a:ext>
            </a:extLst>
          </p:cNvPr>
          <p:cNvSpPr txBox="1"/>
          <p:nvPr/>
        </p:nvSpPr>
        <p:spPr>
          <a:xfrm>
            <a:off x="448885" y="1050833"/>
            <a:ext cx="7693429" cy="1569660"/>
          </a:xfrm>
          <a:prstGeom prst="rect">
            <a:avLst/>
          </a:prstGeom>
          <a:noFill/>
        </p:spPr>
        <p:txBody>
          <a:bodyPr wrap="square">
            <a:spAutoFit/>
          </a:bodyPr>
          <a:lstStyle/>
          <a:p>
            <a:r>
              <a:rPr lang="en" altLang="zh-CN" sz="3200" dirty="0">
                <a:latin typeface="+mj-lt"/>
              </a:rPr>
              <a:t>Class Design Overview</a:t>
            </a:r>
          </a:p>
          <a:p>
            <a:endParaRPr lang="en-US" altLang="zh-CN" sz="3200" dirty="0">
              <a:latin typeface="+mj-lt"/>
            </a:endParaRPr>
          </a:p>
          <a:p>
            <a:endParaRPr lang="en" altLang="zh-CN" sz="3200" dirty="0">
              <a:latin typeface="+mj-lt"/>
            </a:endParaRPr>
          </a:p>
        </p:txBody>
      </p:sp>
      <p:graphicFrame>
        <p:nvGraphicFramePr>
          <p:cNvPr id="7" name="表格 6">
            <a:extLst>
              <a:ext uri="{FF2B5EF4-FFF2-40B4-BE49-F238E27FC236}">
                <a16:creationId xmlns:a16="http://schemas.microsoft.com/office/drawing/2014/main" id="{12398949-4B53-36EA-AF31-598284724BCD}"/>
              </a:ext>
            </a:extLst>
          </p:cNvPr>
          <p:cNvGraphicFramePr>
            <a:graphicFrameLocks noGrp="1"/>
          </p:cNvGraphicFramePr>
          <p:nvPr>
            <p:extLst>
              <p:ext uri="{D42A27DB-BD31-4B8C-83A1-F6EECF244321}">
                <p14:modId xmlns:p14="http://schemas.microsoft.com/office/powerpoint/2010/main" val="2033906714"/>
              </p:ext>
            </p:extLst>
          </p:nvPr>
        </p:nvGraphicFramePr>
        <p:xfrm>
          <a:off x="502920" y="2204491"/>
          <a:ext cx="10515600" cy="2133600"/>
        </p:xfrm>
        <a:graphic>
          <a:graphicData uri="http://schemas.openxmlformats.org/drawingml/2006/table">
            <a:tbl>
              <a:tblPr/>
              <a:tblGrid>
                <a:gridCol w="5257800">
                  <a:extLst>
                    <a:ext uri="{9D8B030D-6E8A-4147-A177-3AD203B41FA5}">
                      <a16:colId xmlns:a16="http://schemas.microsoft.com/office/drawing/2014/main" val="2312975253"/>
                    </a:ext>
                  </a:extLst>
                </a:gridCol>
                <a:gridCol w="5257800">
                  <a:extLst>
                    <a:ext uri="{9D8B030D-6E8A-4147-A177-3AD203B41FA5}">
                      <a16:colId xmlns:a16="http://schemas.microsoft.com/office/drawing/2014/main" val="35958097"/>
                    </a:ext>
                  </a:extLst>
                </a:gridCol>
              </a:tblGrid>
              <a:tr h="0">
                <a:tc>
                  <a:txBody>
                    <a:bodyPr/>
                    <a:lstStyle/>
                    <a:p>
                      <a:pPr>
                        <a:buNone/>
                      </a:pPr>
                      <a:r>
                        <a:rPr lang="zh-CN" b="1">
                          <a:effectLst/>
                        </a:rPr>
                        <a:t>Layer</a:t>
                      </a:r>
                      <a:endParaRPr lang="zh-CN">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zh-CN" b="1">
                          <a:effectLst/>
                        </a:rPr>
                        <a:t>Classes</a:t>
                      </a:r>
                      <a:endParaRPr lang="zh-CN">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77173165"/>
                  </a:ext>
                </a:extLst>
              </a:tr>
              <a:tr h="0">
                <a:tc>
                  <a:txBody>
                    <a:bodyPr/>
                    <a:lstStyle/>
                    <a:p>
                      <a:pPr>
                        <a:buNone/>
                      </a:pPr>
                      <a:r>
                        <a:rPr lang="zh-CN">
                          <a:effectLst/>
                        </a:rPr>
                        <a:t>Model</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zh-CN">
                          <a:effectLst/>
                        </a:rPr>
                        <a:t>Candidate, Vertex, Edge, Graph</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64262454"/>
                  </a:ext>
                </a:extLst>
              </a:tr>
              <a:tr h="0">
                <a:tc>
                  <a:txBody>
                    <a:bodyPr/>
                    <a:lstStyle/>
                    <a:p>
                      <a:pPr>
                        <a:buNone/>
                      </a:pPr>
                      <a:r>
                        <a:rPr lang="zh-CN" dirty="0">
                          <a:effectLst/>
                        </a:rPr>
                        <a:t>Service</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zh-CN">
                          <a:effectLst/>
                        </a:rPr>
                        <a:t>SortingService, BenchmarkService, GraphService</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7708872"/>
                  </a:ext>
                </a:extLst>
              </a:tr>
              <a:tr h="0">
                <a:tc>
                  <a:txBody>
                    <a:bodyPr/>
                    <a:lstStyle/>
                    <a:p>
                      <a:pPr>
                        <a:buNone/>
                      </a:pPr>
                      <a:r>
                        <a:rPr lang="zh-CN">
                          <a:effectLst/>
                        </a:rPr>
                        <a:t>Algorithm</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zh-CN">
                          <a:effectLst/>
                        </a:rPr>
                        <a:t>BubbleSort, MergeSort, Dijkstra</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02133492"/>
                  </a:ext>
                </a:extLst>
              </a:tr>
              <a:tr h="0">
                <a:tc>
                  <a:txBody>
                    <a:bodyPr/>
                    <a:lstStyle/>
                    <a:p>
                      <a:pPr>
                        <a:buNone/>
                      </a:pPr>
                      <a:r>
                        <a:rPr lang="zh-CN">
                          <a:effectLst/>
                        </a:rPr>
                        <a:t>UI</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zh-CN" dirty="0">
                          <a:effectLst/>
                        </a:rPr>
                        <a:t>MainFrame, TaskAPanel</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91952488"/>
                  </a:ext>
                </a:extLst>
              </a:tr>
            </a:tbl>
          </a:graphicData>
        </a:graphic>
      </p:graphicFrame>
      <p:sp>
        <p:nvSpPr>
          <p:cNvPr id="11" name="文本框 10">
            <a:extLst>
              <a:ext uri="{FF2B5EF4-FFF2-40B4-BE49-F238E27FC236}">
                <a16:creationId xmlns:a16="http://schemas.microsoft.com/office/drawing/2014/main" id="{FBEB6888-5189-43EC-31AA-7984DE89B28A}"/>
              </a:ext>
            </a:extLst>
          </p:cNvPr>
          <p:cNvSpPr txBox="1"/>
          <p:nvPr/>
        </p:nvSpPr>
        <p:spPr>
          <a:xfrm>
            <a:off x="448885" y="5168583"/>
            <a:ext cx="6101542" cy="646331"/>
          </a:xfrm>
          <a:prstGeom prst="rect">
            <a:avLst/>
          </a:prstGeom>
          <a:noFill/>
        </p:spPr>
        <p:txBody>
          <a:bodyPr wrap="square">
            <a:spAutoFit/>
          </a:bodyPr>
          <a:lstStyle/>
          <a:p>
            <a:r>
              <a:rPr lang="en" altLang="zh-CN" dirty="0">
                <a:latin typeface="+mj-lt"/>
              </a:rPr>
              <a:t>The design separates data, business logic, algorithms, and UI for better maintainability.</a:t>
            </a:r>
          </a:p>
        </p:txBody>
      </p:sp>
    </p:spTree>
    <p:extLst>
      <p:ext uri="{BB962C8B-B14F-4D97-AF65-F5344CB8AC3E}">
        <p14:creationId xmlns:p14="http://schemas.microsoft.com/office/powerpoint/2010/main" val="1656864193"/>
      </p:ext>
    </p:extLst>
  </p:cSld>
  <p:clrMapOvr>
    <a:masterClrMapping/>
  </p:clrMapOvr>
  <mc:AlternateContent xmlns:mc="http://schemas.openxmlformats.org/markup-compatibility/2006" xmlns:p14="http://schemas.microsoft.com/office/powerpoint/2010/main">
    <mc:Choice Requires="p14">
      <p:transition spd="slow" p14:dur="2000" advTm="26703"/>
    </mc:Choice>
    <mc:Fallback xmlns="">
      <p:transition spd="slow" advTm="26703"/>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77E4E8BA-A5B3-2E39-B082-4513A41E732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7090AB2-D23C-7B8E-E5D2-5BBB5090A2A3}"/>
              </a:ext>
            </a:extLst>
          </p:cNvPr>
          <p:cNvSpPr/>
          <p:nvPr/>
        </p:nvSpPr>
        <p:spPr>
          <a:xfrm>
            <a:off x="502920" y="256032"/>
            <a:ext cx="2926080" cy="274320"/>
          </a:xfrm>
          <a:prstGeom prst="rect">
            <a:avLst/>
          </a:prstGeom>
          <a:noFill/>
          <a:ln/>
        </p:spPr>
        <p:txBody>
          <a:bodyPr wrap="square" lIns="0" tIns="0" rIns="0" bIns="0" rtlCol="0" anchor="ctr"/>
          <a:lstStyle/>
          <a:p>
            <a:r>
              <a:rPr lang="en-US" altLang="zh-CN" sz="1600" dirty="0">
                <a:solidFill>
                  <a:srgbClr val="2A241B"/>
                </a:solidFill>
                <a:latin typeface="Aptos" pitchFamily="34" charset="0"/>
                <a:ea typeface="Aptos" pitchFamily="34" charset="-122"/>
                <a:cs typeface="Aptos" pitchFamily="34" charset="-120"/>
              </a:rPr>
              <a:t>Task C · application design</a:t>
            </a:r>
            <a:endParaRPr lang="en-US" altLang="zh-CN" sz="1600" dirty="0"/>
          </a:p>
        </p:txBody>
      </p:sp>
      <p:sp>
        <p:nvSpPr>
          <p:cNvPr id="3" name="Text 1">
            <a:extLst>
              <a:ext uri="{FF2B5EF4-FFF2-40B4-BE49-F238E27FC236}">
                <a16:creationId xmlns:a16="http://schemas.microsoft.com/office/drawing/2014/main" id="{0889E2C6-0D8D-EFBD-7226-3D8F5CFCA989}"/>
              </a:ext>
            </a:extLst>
          </p:cNvPr>
          <p:cNvSpPr/>
          <p:nvPr/>
        </p:nvSpPr>
        <p:spPr>
          <a:xfrm>
            <a:off x="11338560" y="256032"/>
            <a:ext cx="457200" cy="274320"/>
          </a:xfrm>
          <a:prstGeom prst="rect">
            <a:avLst/>
          </a:prstGeom>
          <a:noFill/>
          <a:ln/>
        </p:spPr>
        <p:txBody>
          <a:bodyPr wrap="square" lIns="0" tIns="0" rIns="0" bIns="0" rtlCol="0" anchor="ctr"/>
          <a:lstStyle/>
          <a:p>
            <a:pPr marL="0" indent="0" algn="r">
              <a:buNone/>
            </a:pPr>
            <a:r>
              <a:rPr lang="en-US" altLang="zh-CN" sz="1600" i="1" dirty="0">
                <a:solidFill>
                  <a:srgbClr val="5C5345"/>
                </a:solidFill>
                <a:latin typeface="Georgia" pitchFamily="34" charset="0"/>
                <a:ea typeface="Georgia" pitchFamily="34" charset="-122"/>
                <a:cs typeface="Georgia" pitchFamily="34" charset="-120"/>
              </a:rPr>
              <a:t>25</a:t>
            </a:r>
            <a:endParaRPr lang="en-US" sz="1600" dirty="0"/>
          </a:p>
        </p:txBody>
      </p:sp>
      <p:sp>
        <p:nvSpPr>
          <p:cNvPr id="4" name="Text 2">
            <a:extLst>
              <a:ext uri="{FF2B5EF4-FFF2-40B4-BE49-F238E27FC236}">
                <a16:creationId xmlns:a16="http://schemas.microsoft.com/office/drawing/2014/main" id="{A5CCFD70-A3A9-03C7-D1A3-DDC001CE9FA7}"/>
              </a:ext>
            </a:extLst>
          </p:cNvPr>
          <p:cNvSpPr/>
          <p:nvPr/>
        </p:nvSpPr>
        <p:spPr>
          <a:xfrm>
            <a:off x="502920" y="6428232"/>
            <a:ext cx="1280160" cy="256032"/>
          </a:xfrm>
          <a:prstGeom prst="rect">
            <a:avLst/>
          </a:prstGeom>
          <a:noFill/>
          <a:ln/>
        </p:spPr>
        <p:txBody>
          <a:bodyPr wrap="square" lIns="0" tIns="0" rIns="0" bIns="0" rtlCol="0" anchor="ctr"/>
          <a:lstStyle/>
          <a:p>
            <a:pPr marL="0" indent="0">
              <a:buNone/>
            </a:pPr>
            <a:r>
              <a:rPr lang="en-US" sz="1500" i="1" dirty="0">
                <a:solidFill>
                  <a:srgbClr val="5C5345"/>
                </a:solidFill>
                <a:latin typeface="Georgia" pitchFamily="34" charset="0"/>
                <a:ea typeface="Georgia" pitchFamily="34" charset="-122"/>
                <a:cs typeface="Georgia" pitchFamily="34" charset="-120"/>
              </a:rPr>
              <a:t>May 2026</a:t>
            </a:r>
            <a:endParaRPr lang="en-US" sz="1500" dirty="0"/>
          </a:p>
        </p:txBody>
      </p:sp>
      <p:sp>
        <p:nvSpPr>
          <p:cNvPr id="5" name="Text 3">
            <a:extLst>
              <a:ext uri="{FF2B5EF4-FFF2-40B4-BE49-F238E27FC236}">
                <a16:creationId xmlns:a16="http://schemas.microsoft.com/office/drawing/2014/main" id="{4CD64254-D1F8-1D53-C334-FC6964E30661}"/>
              </a:ext>
            </a:extLst>
          </p:cNvPr>
          <p:cNvSpPr/>
          <p:nvPr/>
        </p:nvSpPr>
        <p:spPr>
          <a:xfrm>
            <a:off x="8412480" y="6428232"/>
            <a:ext cx="3383280" cy="256032"/>
          </a:xfrm>
          <a:prstGeom prst="rect">
            <a:avLst/>
          </a:prstGeom>
          <a:noFill/>
          <a:ln/>
        </p:spPr>
        <p:txBody>
          <a:bodyPr wrap="square" lIns="0" tIns="0" rIns="0" bIns="0" rtlCol="0" anchor="ctr"/>
          <a:lstStyle/>
          <a:p>
            <a:pPr algn="r"/>
            <a:r>
              <a:rPr lang="en" altLang="zh-CN" sz="1600" i="1" dirty="0">
                <a:solidFill>
                  <a:srgbClr val="5C5345"/>
                </a:solidFill>
                <a:ea typeface="Aptos"/>
                <a:cs typeface="Aptos"/>
              </a:rPr>
              <a:t>Sorting architecture</a:t>
            </a:r>
          </a:p>
        </p:txBody>
      </p:sp>
      <p:sp>
        <p:nvSpPr>
          <p:cNvPr id="6" name="Text 4">
            <a:extLst>
              <a:ext uri="{FF2B5EF4-FFF2-40B4-BE49-F238E27FC236}">
                <a16:creationId xmlns:a16="http://schemas.microsoft.com/office/drawing/2014/main" id="{B29A481B-4712-BE57-584C-0E49F4CBE160}"/>
              </a:ext>
            </a:extLst>
          </p:cNvPr>
          <p:cNvSpPr/>
          <p:nvPr/>
        </p:nvSpPr>
        <p:spPr>
          <a:xfrm>
            <a:off x="685800" y="960120"/>
            <a:ext cx="6766560" cy="685800"/>
          </a:xfrm>
          <a:prstGeom prst="rect">
            <a:avLst/>
          </a:prstGeom>
          <a:noFill/>
          <a:ln/>
        </p:spPr>
        <p:txBody>
          <a:bodyPr wrap="square" lIns="0" tIns="0" rIns="0" bIns="0" rtlCol="0" anchor="ctr"/>
          <a:lstStyle/>
          <a:p>
            <a:pPr marL="0" indent="0">
              <a:buNone/>
            </a:pPr>
            <a:endParaRPr lang="en-US" sz="2400" dirty="0"/>
          </a:p>
        </p:txBody>
      </p:sp>
      <p:sp>
        <p:nvSpPr>
          <p:cNvPr id="9" name="文本框 8">
            <a:extLst>
              <a:ext uri="{FF2B5EF4-FFF2-40B4-BE49-F238E27FC236}">
                <a16:creationId xmlns:a16="http://schemas.microsoft.com/office/drawing/2014/main" id="{AE8B7606-1628-39FC-977A-BE77A5E26BDE}"/>
              </a:ext>
            </a:extLst>
          </p:cNvPr>
          <p:cNvSpPr txBox="1"/>
          <p:nvPr/>
        </p:nvSpPr>
        <p:spPr>
          <a:xfrm>
            <a:off x="502919" y="980902"/>
            <a:ext cx="7693429" cy="1569660"/>
          </a:xfrm>
          <a:prstGeom prst="rect">
            <a:avLst/>
          </a:prstGeom>
          <a:noFill/>
        </p:spPr>
        <p:txBody>
          <a:bodyPr wrap="square">
            <a:spAutoFit/>
          </a:bodyPr>
          <a:lstStyle/>
          <a:p>
            <a:r>
              <a:rPr lang="en-US" altLang="zh-CN" sz="3200" dirty="0">
                <a:latin typeface="+mj-lt"/>
              </a:rPr>
              <a:t>Sorting Architecture</a:t>
            </a:r>
          </a:p>
          <a:p>
            <a:endParaRPr lang="en-US" altLang="zh-CN" sz="3200" dirty="0">
              <a:latin typeface="+mj-lt"/>
            </a:endParaRPr>
          </a:p>
          <a:p>
            <a:endParaRPr lang="en" altLang="zh-CN" sz="3200" dirty="0">
              <a:latin typeface="+mj-lt"/>
            </a:endParaRPr>
          </a:p>
        </p:txBody>
      </p:sp>
      <p:sp>
        <p:nvSpPr>
          <p:cNvPr id="10" name="文本框 9">
            <a:extLst>
              <a:ext uri="{FF2B5EF4-FFF2-40B4-BE49-F238E27FC236}">
                <a16:creationId xmlns:a16="http://schemas.microsoft.com/office/drawing/2014/main" id="{F3FE8D1F-B528-9650-66E4-12A167CECBA9}"/>
              </a:ext>
            </a:extLst>
          </p:cNvPr>
          <p:cNvSpPr txBox="1"/>
          <p:nvPr/>
        </p:nvSpPr>
        <p:spPr>
          <a:xfrm>
            <a:off x="685800" y="1950397"/>
            <a:ext cx="6101542" cy="1200329"/>
          </a:xfrm>
          <a:prstGeom prst="rect">
            <a:avLst/>
          </a:prstGeom>
          <a:noFill/>
        </p:spPr>
        <p:txBody>
          <a:bodyPr wrap="square">
            <a:spAutoFit/>
          </a:bodyPr>
          <a:lstStyle/>
          <a:p>
            <a:r>
              <a:rPr lang="en" altLang="zh-CN" dirty="0" err="1"/>
              <a:t>SortAlgorithm</a:t>
            </a:r>
            <a:r>
              <a:rPr lang="en" altLang="zh-CN" dirty="0"/>
              <a:t> Interface</a:t>
            </a:r>
          </a:p>
          <a:p>
            <a:r>
              <a:rPr lang="en" altLang="zh-CN" dirty="0"/>
              <a:t>        </a:t>
            </a:r>
            <a:r>
              <a:rPr lang="zh-CN" altLang="en-US" dirty="0"/>
              <a:t>           </a:t>
            </a:r>
            <a:r>
              <a:rPr lang="en" altLang="zh-CN" dirty="0"/>
              <a:t>↑</a:t>
            </a:r>
          </a:p>
          <a:p>
            <a:r>
              <a:rPr lang="en" altLang="zh-CN" dirty="0"/>
              <a:t> ┌──────</a:t>
            </a:r>
            <a:r>
              <a:rPr lang="zh-CN" altLang="en-US" dirty="0"/>
              <a:t> </a:t>
            </a:r>
            <a:r>
              <a:rPr lang="en-US" altLang="zh-CN" dirty="0"/>
              <a:t>+</a:t>
            </a:r>
            <a:r>
              <a:rPr lang="zh-CN" altLang="en-US" dirty="0"/>
              <a:t> </a:t>
            </a:r>
            <a:r>
              <a:rPr lang="en" altLang="zh-CN" dirty="0"/>
              <a:t>──────┐</a:t>
            </a:r>
          </a:p>
          <a:p>
            <a:r>
              <a:rPr lang="en" altLang="zh-CN" dirty="0"/>
              <a:t>Bubble Quick Merge</a:t>
            </a:r>
            <a:endParaRPr lang="zh-CN" altLang="en-US" dirty="0"/>
          </a:p>
        </p:txBody>
      </p:sp>
      <p:sp>
        <p:nvSpPr>
          <p:cNvPr id="13" name="文本框 12">
            <a:extLst>
              <a:ext uri="{FF2B5EF4-FFF2-40B4-BE49-F238E27FC236}">
                <a16:creationId xmlns:a16="http://schemas.microsoft.com/office/drawing/2014/main" id="{7CE0A56F-6171-A916-4B83-F3C8D776A519}"/>
              </a:ext>
            </a:extLst>
          </p:cNvPr>
          <p:cNvSpPr txBox="1"/>
          <p:nvPr/>
        </p:nvSpPr>
        <p:spPr>
          <a:xfrm>
            <a:off x="685800" y="3866149"/>
            <a:ext cx="6101542" cy="923330"/>
          </a:xfrm>
          <a:prstGeom prst="rect">
            <a:avLst/>
          </a:prstGeom>
          <a:noFill/>
        </p:spPr>
        <p:txBody>
          <a:bodyPr wrap="square">
            <a:spAutoFit/>
          </a:bodyPr>
          <a:lstStyle/>
          <a:p>
            <a:r>
              <a:rPr lang="en" altLang="zh-CN" dirty="0" err="1">
                <a:latin typeface="+mj-lt"/>
              </a:rPr>
              <a:t>SortingService</a:t>
            </a:r>
            <a:endParaRPr lang="en" altLang="zh-CN" dirty="0">
              <a:latin typeface="+mj-lt"/>
            </a:endParaRPr>
          </a:p>
          <a:p>
            <a:r>
              <a:rPr lang="en" altLang="zh-CN" dirty="0">
                <a:latin typeface="+mj-lt"/>
              </a:rPr>
              <a:t>→ manages all algorithms</a:t>
            </a:r>
          </a:p>
          <a:p>
            <a:r>
              <a:rPr lang="en" altLang="zh-CN" dirty="0">
                <a:latin typeface="+mj-lt"/>
              </a:rPr>
              <a:t>→ Map&lt;</a:t>
            </a:r>
            <a:r>
              <a:rPr lang="en" altLang="zh-CN" dirty="0" err="1">
                <a:latin typeface="+mj-lt"/>
              </a:rPr>
              <a:t>SortAlgorithmType</a:t>
            </a:r>
            <a:r>
              <a:rPr lang="en" altLang="zh-CN" dirty="0">
                <a:latin typeface="+mj-lt"/>
              </a:rPr>
              <a:t>, </a:t>
            </a:r>
            <a:r>
              <a:rPr lang="en" altLang="zh-CN" dirty="0" err="1">
                <a:latin typeface="+mj-lt"/>
              </a:rPr>
              <a:t>SortAlgorithm</a:t>
            </a:r>
            <a:r>
              <a:rPr lang="en" altLang="zh-CN" dirty="0">
                <a:latin typeface="+mj-lt"/>
              </a:rPr>
              <a:t>&gt;</a:t>
            </a:r>
            <a:endParaRPr lang="zh-CN" altLang="en-US" dirty="0">
              <a:latin typeface="+mj-lt"/>
            </a:endParaRPr>
          </a:p>
        </p:txBody>
      </p:sp>
    </p:spTree>
    <p:extLst>
      <p:ext uri="{BB962C8B-B14F-4D97-AF65-F5344CB8AC3E}">
        <p14:creationId xmlns:p14="http://schemas.microsoft.com/office/powerpoint/2010/main" val="2608011236"/>
      </p:ext>
    </p:extLst>
  </p:cSld>
  <p:clrMapOvr>
    <a:masterClrMapping/>
  </p:clrMapOvr>
  <mc:AlternateContent xmlns:mc="http://schemas.openxmlformats.org/markup-compatibility/2006" xmlns:p14="http://schemas.microsoft.com/office/powerpoint/2010/main">
    <mc:Choice Requires="p14">
      <p:transition spd="slow" p14:dur="2000" advTm="29122"/>
    </mc:Choice>
    <mc:Fallback xmlns="">
      <p:transition spd="slow" advTm="29122"/>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6BC1A48A-B965-8638-2DE9-3E32FEC5F07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48A397E-D0D3-92A8-AE05-D5A510BFD984}"/>
              </a:ext>
            </a:extLst>
          </p:cNvPr>
          <p:cNvSpPr/>
          <p:nvPr/>
        </p:nvSpPr>
        <p:spPr>
          <a:xfrm>
            <a:off x="502920" y="256032"/>
            <a:ext cx="2926080" cy="274320"/>
          </a:xfrm>
          <a:prstGeom prst="rect">
            <a:avLst/>
          </a:prstGeom>
          <a:noFill/>
          <a:ln/>
        </p:spPr>
        <p:txBody>
          <a:bodyPr wrap="square" lIns="0" tIns="0" rIns="0" bIns="0" rtlCol="0" anchor="ctr"/>
          <a:lstStyle/>
          <a:p>
            <a:r>
              <a:rPr lang="en-US" altLang="zh-CN" sz="1600" dirty="0">
                <a:solidFill>
                  <a:srgbClr val="2A241B"/>
                </a:solidFill>
                <a:latin typeface="Aptos" pitchFamily="34" charset="0"/>
                <a:ea typeface="Aptos" pitchFamily="34" charset="-122"/>
                <a:cs typeface="Aptos" pitchFamily="34" charset="-120"/>
              </a:rPr>
              <a:t>Task C · application design</a:t>
            </a:r>
            <a:endParaRPr lang="en-US" altLang="zh-CN" sz="1600" dirty="0"/>
          </a:p>
        </p:txBody>
      </p:sp>
      <p:sp>
        <p:nvSpPr>
          <p:cNvPr id="3" name="Text 1">
            <a:extLst>
              <a:ext uri="{FF2B5EF4-FFF2-40B4-BE49-F238E27FC236}">
                <a16:creationId xmlns:a16="http://schemas.microsoft.com/office/drawing/2014/main" id="{7905F1F9-858B-0E8B-2782-D1905323F6B5}"/>
              </a:ext>
            </a:extLst>
          </p:cNvPr>
          <p:cNvSpPr/>
          <p:nvPr/>
        </p:nvSpPr>
        <p:spPr>
          <a:xfrm>
            <a:off x="11338560" y="256032"/>
            <a:ext cx="457200" cy="274320"/>
          </a:xfrm>
          <a:prstGeom prst="rect">
            <a:avLst/>
          </a:prstGeom>
          <a:noFill/>
          <a:ln/>
        </p:spPr>
        <p:txBody>
          <a:bodyPr wrap="square" lIns="0" tIns="0" rIns="0" bIns="0" rtlCol="0" anchor="ctr"/>
          <a:lstStyle/>
          <a:p>
            <a:pPr marL="0" indent="0" algn="r">
              <a:buNone/>
            </a:pPr>
            <a:r>
              <a:rPr lang="en-US" altLang="zh-CN" sz="1600" i="1" dirty="0">
                <a:solidFill>
                  <a:srgbClr val="5C5345"/>
                </a:solidFill>
                <a:latin typeface="Georgia" pitchFamily="34" charset="0"/>
                <a:ea typeface="Georgia" pitchFamily="34" charset="-122"/>
                <a:cs typeface="Georgia" pitchFamily="34" charset="-120"/>
              </a:rPr>
              <a:t>26</a:t>
            </a:r>
            <a:endParaRPr lang="en-US" sz="1600" dirty="0"/>
          </a:p>
        </p:txBody>
      </p:sp>
      <p:sp>
        <p:nvSpPr>
          <p:cNvPr id="4" name="Text 2">
            <a:extLst>
              <a:ext uri="{FF2B5EF4-FFF2-40B4-BE49-F238E27FC236}">
                <a16:creationId xmlns:a16="http://schemas.microsoft.com/office/drawing/2014/main" id="{B543C5C1-734C-CDDB-3848-D12EDE5B2535}"/>
              </a:ext>
            </a:extLst>
          </p:cNvPr>
          <p:cNvSpPr/>
          <p:nvPr/>
        </p:nvSpPr>
        <p:spPr>
          <a:xfrm>
            <a:off x="502920" y="6428232"/>
            <a:ext cx="1280160" cy="256032"/>
          </a:xfrm>
          <a:prstGeom prst="rect">
            <a:avLst/>
          </a:prstGeom>
          <a:noFill/>
          <a:ln/>
        </p:spPr>
        <p:txBody>
          <a:bodyPr wrap="square" lIns="0" tIns="0" rIns="0" bIns="0" rtlCol="0" anchor="ctr"/>
          <a:lstStyle/>
          <a:p>
            <a:pPr marL="0" indent="0">
              <a:buNone/>
            </a:pPr>
            <a:r>
              <a:rPr lang="en-US" sz="1500" i="1" dirty="0">
                <a:solidFill>
                  <a:srgbClr val="5C5345"/>
                </a:solidFill>
                <a:latin typeface="Georgia" pitchFamily="34" charset="0"/>
                <a:ea typeface="Georgia" pitchFamily="34" charset="-122"/>
                <a:cs typeface="Georgia" pitchFamily="34" charset="-120"/>
              </a:rPr>
              <a:t>May 2026</a:t>
            </a:r>
            <a:endParaRPr lang="en-US" sz="1500" dirty="0"/>
          </a:p>
        </p:txBody>
      </p:sp>
      <p:sp>
        <p:nvSpPr>
          <p:cNvPr id="5" name="Text 3">
            <a:extLst>
              <a:ext uri="{FF2B5EF4-FFF2-40B4-BE49-F238E27FC236}">
                <a16:creationId xmlns:a16="http://schemas.microsoft.com/office/drawing/2014/main" id="{07B95D5B-281F-0CBC-08A9-F98CA06DA299}"/>
              </a:ext>
            </a:extLst>
          </p:cNvPr>
          <p:cNvSpPr/>
          <p:nvPr/>
        </p:nvSpPr>
        <p:spPr>
          <a:xfrm>
            <a:off x="8412480" y="6428232"/>
            <a:ext cx="3383280" cy="256032"/>
          </a:xfrm>
          <a:prstGeom prst="rect">
            <a:avLst/>
          </a:prstGeom>
          <a:noFill/>
          <a:ln/>
        </p:spPr>
        <p:txBody>
          <a:bodyPr wrap="square" lIns="0" tIns="0" rIns="0" bIns="0" rtlCol="0" anchor="ctr"/>
          <a:lstStyle/>
          <a:p>
            <a:pPr algn="r"/>
            <a:r>
              <a:rPr lang="en" altLang="zh-CN" sz="1600" i="1" dirty="0" err="1">
                <a:solidFill>
                  <a:srgbClr val="5C5345"/>
                </a:solidFill>
                <a:ea typeface="Aptos"/>
                <a:cs typeface="Aptos"/>
              </a:rPr>
              <a:t>GraphService</a:t>
            </a:r>
            <a:r>
              <a:rPr lang="en" altLang="zh-CN" sz="1600" i="1" dirty="0">
                <a:solidFill>
                  <a:srgbClr val="5C5345"/>
                </a:solidFill>
                <a:ea typeface="Aptos"/>
                <a:cs typeface="Aptos"/>
              </a:rPr>
              <a:t> and pathfinding</a:t>
            </a:r>
          </a:p>
        </p:txBody>
      </p:sp>
      <p:sp>
        <p:nvSpPr>
          <p:cNvPr id="6" name="Text 4">
            <a:extLst>
              <a:ext uri="{FF2B5EF4-FFF2-40B4-BE49-F238E27FC236}">
                <a16:creationId xmlns:a16="http://schemas.microsoft.com/office/drawing/2014/main" id="{E2EFA415-5C7B-504F-35E9-0EA4D4FB0A40}"/>
              </a:ext>
            </a:extLst>
          </p:cNvPr>
          <p:cNvSpPr/>
          <p:nvPr/>
        </p:nvSpPr>
        <p:spPr>
          <a:xfrm>
            <a:off x="685800" y="960120"/>
            <a:ext cx="6766560" cy="685800"/>
          </a:xfrm>
          <a:prstGeom prst="rect">
            <a:avLst/>
          </a:prstGeom>
          <a:noFill/>
          <a:ln/>
        </p:spPr>
        <p:txBody>
          <a:bodyPr wrap="square" lIns="0" tIns="0" rIns="0" bIns="0" rtlCol="0" anchor="ctr"/>
          <a:lstStyle/>
          <a:p>
            <a:pPr marL="0" indent="0">
              <a:buNone/>
            </a:pPr>
            <a:endParaRPr lang="en-US" sz="2400" dirty="0"/>
          </a:p>
        </p:txBody>
      </p:sp>
      <p:sp>
        <p:nvSpPr>
          <p:cNvPr id="9" name="文本框 8">
            <a:extLst>
              <a:ext uri="{FF2B5EF4-FFF2-40B4-BE49-F238E27FC236}">
                <a16:creationId xmlns:a16="http://schemas.microsoft.com/office/drawing/2014/main" id="{9245E559-8B5B-C866-5C94-FAC49BBE2C25}"/>
              </a:ext>
            </a:extLst>
          </p:cNvPr>
          <p:cNvSpPr txBox="1"/>
          <p:nvPr/>
        </p:nvSpPr>
        <p:spPr>
          <a:xfrm>
            <a:off x="502919" y="980902"/>
            <a:ext cx="7693429" cy="2062103"/>
          </a:xfrm>
          <a:prstGeom prst="rect">
            <a:avLst/>
          </a:prstGeom>
          <a:noFill/>
        </p:spPr>
        <p:txBody>
          <a:bodyPr wrap="square">
            <a:spAutoFit/>
          </a:bodyPr>
          <a:lstStyle/>
          <a:p>
            <a:r>
              <a:rPr lang="en-US" altLang="zh-CN" sz="3200" dirty="0" err="1">
                <a:latin typeface="+mj-lt"/>
              </a:rPr>
              <a:t>GraphService</a:t>
            </a:r>
            <a:r>
              <a:rPr lang="en-US" altLang="zh-CN" sz="3200" dirty="0">
                <a:latin typeface="+mj-lt"/>
              </a:rPr>
              <a:t> &amp; Pathfinding</a:t>
            </a:r>
          </a:p>
          <a:p>
            <a:endParaRPr lang="en-US" altLang="zh-CN" sz="3200" dirty="0">
              <a:latin typeface="+mj-lt"/>
            </a:endParaRPr>
          </a:p>
          <a:p>
            <a:endParaRPr lang="en-US" altLang="zh-CN" sz="3200" dirty="0">
              <a:latin typeface="+mj-lt"/>
            </a:endParaRPr>
          </a:p>
          <a:p>
            <a:endParaRPr lang="en" altLang="zh-CN" sz="3200" dirty="0">
              <a:latin typeface="+mj-lt"/>
            </a:endParaRPr>
          </a:p>
        </p:txBody>
      </p:sp>
      <p:sp>
        <p:nvSpPr>
          <p:cNvPr id="8" name="文本框 7">
            <a:extLst>
              <a:ext uri="{FF2B5EF4-FFF2-40B4-BE49-F238E27FC236}">
                <a16:creationId xmlns:a16="http://schemas.microsoft.com/office/drawing/2014/main" id="{A43067CF-D691-B540-CB5A-AF9ABEF824E7}"/>
              </a:ext>
            </a:extLst>
          </p:cNvPr>
          <p:cNvSpPr txBox="1"/>
          <p:nvPr/>
        </p:nvSpPr>
        <p:spPr>
          <a:xfrm>
            <a:off x="3050771" y="3248490"/>
            <a:ext cx="6101542" cy="461665"/>
          </a:xfrm>
          <a:prstGeom prst="rect">
            <a:avLst/>
          </a:prstGeom>
          <a:noFill/>
        </p:spPr>
        <p:txBody>
          <a:bodyPr wrap="square">
            <a:spAutoFit/>
          </a:bodyPr>
          <a:lstStyle/>
          <a:p>
            <a:endParaRPr lang="en" altLang="zh-CN" sz="2400" dirty="0">
              <a:latin typeface="+mj-lt"/>
            </a:endParaRPr>
          </a:p>
        </p:txBody>
      </p:sp>
      <p:sp>
        <p:nvSpPr>
          <p:cNvPr id="11" name="文本框 10">
            <a:extLst>
              <a:ext uri="{FF2B5EF4-FFF2-40B4-BE49-F238E27FC236}">
                <a16:creationId xmlns:a16="http://schemas.microsoft.com/office/drawing/2014/main" id="{175731C8-7B08-0C22-A76C-49273737368F}"/>
              </a:ext>
            </a:extLst>
          </p:cNvPr>
          <p:cNvSpPr txBox="1"/>
          <p:nvPr/>
        </p:nvSpPr>
        <p:spPr>
          <a:xfrm>
            <a:off x="502919" y="2113630"/>
            <a:ext cx="6101542" cy="461665"/>
          </a:xfrm>
          <a:prstGeom prst="rect">
            <a:avLst/>
          </a:prstGeom>
          <a:noFill/>
        </p:spPr>
        <p:txBody>
          <a:bodyPr wrap="square">
            <a:spAutoFit/>
          </a:bodyPr>
          <a:lstStyle/>
          <a:p>
            <a:r>
              <a:rPr lang="en" altLang="zh-CN" sz="2400" dirty="0">
                <a:latin typeface="+mj-lt"/>
              </a:rPr>
              <a:t>Path-Finding Service Design</a:t>
            </a:r>
          </a:p>
        </p:txBody>
      </p:sp>
      <p:sp>
        <p:nvSpPr>
          <p:cNvPr id="13" name="文本框 12">
            <a:extLst>
              <a:ext uri="{FF2B5EF4-FFF2-40B4-BE49-F238E27FC236}">
                <a16:creationId xmlns:a16="http://schemas.microsoft.com/office/drawing/2014/main" id="{9EB6D17E-FB75-1B50-8204-DB4FE57BA662}"/>
              </a:ext>
            </a:extLst>
          </p:cNvPr>
          <p:cNvSpPr txBox="1"/>
          <p:nvPr/>
        </p:nvSpPr>
        <p:spPr>
          <a:xfrm>
            <a:off x="502919" y="3258290"/>
            <a:ext cx="6101542" cy="1477328"/>
          </a:xfrm>
          <a:prstGeom prst="rect">
            <a:avLst/>
          </a:prstGeom>
          <a:noFill/>
        </p:spPr>
        <p:txBody>
          <a:bodyPr wrap="square">
            <a:spAutoFit/>
          </a:bodyPr>
          <a:lstStyle/>
          <a:p>
            <a:r>
              <a:rPr lang="en" altLang="zh-CN" dirty="0" err="1">
                <a:latin typeface="+mj-lt"/>
              </a:rPr>
              <a:t>GraphService</a:t>
            </a:r>
            <a:endParaRPr lang="en" altLang="zh-CN" dirty="0">
              <a:latin typeface="+mj-lt"/>
            </a:endParaRPr>
          </a:p>
          <a:p>
            <a:r>
              <a:rPr lang="en" altLang="zh-CN" dirty="0">
                <a:latin typeface="+mj-lt"/>
              </a:rPr>
              <a:t>   ↓</a:t>
            </a:r>
          </a:p>
          <a:p>
            <a:r>
              <a:rPr lang="en" altLang="zh-CN" dirty="0" err="1">
                <a:latin typeface="+mj-lt"/>
              </a:rPr>
              <a:t>PathAlgorithm</a:t>
            </a:r>
            <a:r>
              <a:rPr lang="en" altLang="zh-CN" dirty="0">
                <a:latin typeface="+mj-lt"/>
              </a:rPr>
              <a:t> Interface</a:t>
            </a:r>
          </a:p>
          <a:p>
            <a:r>
              <a:rPr lang="en" altLang="zh-CN" dirty="0">
                <a:latin typeface="+mj-lt"/>
              </a:rPr>
              <a:t>   ↓</a:t>
            </a:r>
          </a:p>
          <a:p>
            <a:r>
              <a:rPr lang="en" altLang="zh-CN" dirty="0">
                <a:latin typeface="+mj-lt"/>
              </a:rPr>
              <a:t>Dijkstra / BFS</a:t>
            </a:r>
            <a:endParaRPr lang="zh-CN" altLang="en-US" dirty="0">
              <a:latin typeface="+mj-lt"/>
            </a:endParaRPr>
          </a:p>
        </p:txBody>
      </p:sp>
      <p:sp>
        <p:nvSpPr>
          <p:cNvPr id="15" name="文本框 14">
            <a:extLst>
              <a:ext uri="{FF2B5EF4-FFF2-40B4-BE49-F238E27FC236}">
                <a16:creationId xmlns:a16="http://schemas.microsoft.com/office/drawing/2014/main" id="{7C0683E6-2CF5-6CF1-4B60-A7D5CCFDC893}"/>
              </a:ext>
            </a:extLst>
          </p:cNvPr>
          <p:cNvSpPr txBox="1"/>
          <p:nvPr/>
        </p:nvSpPr>
        <p:spPr>
          <a:xfrm>
            <a:off x="4401589" y="3268700"/>
            <a:ext cx="6101542" cy="1200329"/>
          </a:xfrm>
          <a:prstGeom prst="rect">
            <a:avLst/>
          </a:prstGeom>
          <a:noFill/>
        </p:spPr>
        <p:txBody>
          <a:bodyPr wrap="square">
            <a:spAutoFit/>
          </a:bodyPr>
          <a:lstStyle/>
          <a:p>
            <a:r>
              <a:rPr lang="en" altLang="zh-CN" dirty="0">
                <a:latin typeface="+mj-lt"/>
              </a:rPr>
              <a:t>Main Functions</a:t>
            </a:r>
          </a:p>
          <a:p>
            <a:r>
              <a:rPr lang="en" altLang="zh-CN" dirty="0" err="1">
                <a:latin typeface="+mj-lt"/>
              </a:rPr>
              <a:t>findShortestPath</a:t>
            </a:r>
            <a:r>
              <a:rPr lang="en" altLang="zh-CN" dirty="0">
                <a:latin typeface="+mj-lt"/>
              </a:rPr>
              <a:t>()</a:t>
            </a:r>
          </a:p>
          <a:p>
            <a:r>
              <a:rPr lang="en" altLang="zh-CN" dirty="0" err="1">
                <a:latin typeface="+mj-lt"/>
              </a:rPr>
              <a:t>findShortestPathVia</a:t>
            </a:r>
            <a:r>
              <a:rPr lang="en" altLang="zh-CN" dirty="0">
                <a:latin typeface="+mj-lt"/>
              </a:rPr>
              <a:t>()</a:t>
            </a:r>
          </a:p>
          <a:p>
            <a:r>
              <a:rPr lang="en" altLang="zh-CN" dirty="0" err="1">
                <a:latin typeface="+mj-lt"/>
              </a:rPr>
              <a:t>buildTaskBResults</a:t>
            </a:r>
            <a:r>
              <a:rPr lang="en" altLang="zh-CN" dirty="0">
                <a:latin typeface="+mj-lt"/>
              </a:rPr>
              <a:t>()</a:t>
            </a:r>
          </a:p>
        </p:txBody>
      </p:sp>
    </p:spTree>
    <p:extLst>
      <p:ext uri="{BB962C8B-B14F-4D97-AF65-F5344CB8AC3E}">
        <p14:creationId xmlns:p14="http://schemas.microsoft.com/office/powerpoint/2010/main" val="598299849"/>
      </p:ext>
    </p:extLst>
  </p:cSld>
  <p:clrMapOvr>
    <a:masterClrMapping/>
  </p:clrMapOvr>
  <mc:AlternateContent xmlns:mc="http://schemas.openxmlformats.org/markup-compatibility/2006" xmlns:p14="http://schemas.microsoft.com/office/powerpoint/2010/main">
    <mc:Choice Requires="p14">
      <p:transition spd="slow" p14:dur="2000" advTm="29154"/>
    </mc:Choice>
    <mc:Fallback xmlns="">
      <p:transition spd="slow" advTm="29154"/>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393DAD19-A43C-3E60-42F5-6F82D87A43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CF10F1C-1F13-3DA0-A805-20B96596057C}"/>
              </a:ext>
            </a:extLst>
          </p:cNvPr>
          <p:cNvSpPr/>
          <p:nvPr/>
        </p:nvSpPr>
        <p:spPr>
          <a:xfrm>
            <a:off x="502920" y="256032"/>
            <a:ext cx="2926080" cy="274320"/>
          </a:xfrm>
          <a:prstGeom prst="rect">
            <a:avLst/>
          </a:prstGeom>
          <a:noFill/>
          <a:ln/>
        </p:spPr>
        <p:txBody>
          <a:bodyPr wrap="square" lIns="0" tIns="0" rIns="0" bIns="0" rtlCol="0" anchor="ctr"/>
          <a:lstStyle/>
          <a:p>
            <a:r>
              <a:rPr lang="en-US" altLang="zh-CN" sz="1600" dirty="0">
                <a:solidFill>
                  <a:srgbClr val="2A241B"/>
                </a:solidFill>
                <a:latin typeface="Aptos" pitchFamily="34" charset="0"/>
                <a:ea typeface="Aptos" pitchFamily="34" charset="-122"/>
                <a:cs typeface="Aptos" pitchFamily="34" charset="-120"/>
              </a:rPr>
              <a:t>Task C · application design</a:t>
            </a:r>
            <a:endParaRPr lang="en-US" altLang="zh-CN" sz="1600" dirty="0"/>
          </a:p>
        </p:txBody>
      </p:sp>
      <p:sp>
        <p:nvSpPr>
          <p:cNvPr id="3" name="Text 1">
            <a:extLst>
              <a:ext uri="{FF2B5EF4-FFF2-40B4-BE49-F238E27FC236}">
                <a16:creationId xmlns:a16="http://schemas.microsoft.com/office/drawing/2014/main" id="{9795665D-73E6-36B6-7C9C-6ACF3245244E}"/>
              </a:ext>
            </a:extLst>
          </p:cNvPr>
          <p:cNvSpPr/>
          <p:nvPr/>
        </p:nvSpPr>
        <p:spPr>
          <a:xfrm>
            <a:off x="11338560" y="256032"/>
            <a:ext cx="457200" cy="274320"/>
          </a:xfrm>
          <a:prstGeom prst="rect">
            <a:avLst/>
          </a:prstGeom>
          <a:noFill/>
          <a:ln/>
        </p:spPr>
        <p:txBody>
          <a:bodyPr wrap="square" lIns="0" tIns="0" rIns="0" bIns="0" rtlCol="0" anchor="ctr"/>
          <a:lstStyle/>
          <a:p>
            <a:pPr marL="0" indent="0" algn="r">
              <a:buNone/>
            </a:pPr>
            <a:r>
              <a:rPr lang="en-US" altLang="zh-CN" sz="1600" i="1" dirty="0">
                <a:solidFill>
                  <a:srgbClr val="5C5345"/>
                </a:solidFill>
                <a:latin typeface="Georgia" pitchFamily="34" charset="0"/>
                <a:ea typeface="Georgia" pitchFamily="34" charset="-122"/>
                <a:cs typeface="Georgia" pitchFamily="34" charset="-120"/>
              </a:rPr>
              <a:t>27</a:t>
            </a:r>
            <a:endParaRPr lang="en-US" sz="1600" dirty="0"/>
          </a:p>
        </p:txBody>
      </p:sp>
      <p:sp>
        <p:nvSpPr>
          <p:cNvPr id="4" name="Text 2">
            <a:extLst>
              <a:ext uri="{FF2B5EF4-FFF2-40B4-BE49-F238E27FC236}">
                <a16:creationId xmlns:a16="http://schemas.microsoft.com/office/drawing/2014/main" id="{07FFE24B-06ED-834E-03B8-412B1DAEF7AD}"/>
              </a:ext>
            </a:extLst>
          </p:cNvPr>
          <p:cNvSpPr/>
          <p:nvPr/>
        </p:nvSpPr>
        <p:spPr>
          <a:xfrm>
            <a:off x="502920" y="6428232"/>
            <a:ext cx="1280160" cy="256032"/>
          </a:xfrm>
          <a:prstGeom prst="rect">
            <a:avLst/>
          </a:prstGeom>
          <a:noFill/>
          <a:ln/>
        </p:spPr>
        <p:txBody>
          <a:bodyPr wrap="square" lIns="0" tIns="0" rIns="0" bIns="0" rtlCol="0" anchor="ctr"/>
          <a:lstStyle/>
          <a:p>
            <a:pPr marL="0" indent="0">
              <a:buNone/>
            </a:pPr>
            <a:r>
              <a:rPr lang="en-US" sz="1500" i="1" dirty="0">
                <a:solidFill>
                  <a:srgbClr val="5C5345"/>
                </a:solidFill>
                <a:latin typeface="Georgia" pitchFamily="34" charset="0"/>
                <a:ea typeface="Georgia" pitchFamily="34" charset="-122"/>
                <a:cs typeface="Georgia" pitchFamily="34" charset="-120"/>
              </a:rPr>
              <a:t>May 2026</a:t>
            </a:r>
            <a:endParaRPr lang="en-US" sz="1500" dirty="0"/>
          </a:p>
        </p:txBody>
      </p:sp>
      <p:sp>
        <p:nvSpPr>
          <p:cNvPr id="5" name="Text 3">
            <a:extLst>
              <a:ext uri="{FF2B5EF4-FFF2-40B4-BE49-F238E27FC236}">
                <a16:creationId xmlns:a16="http://schemas.microsoft.com/office/drawing/2014/main" id="{8EFD0646-FB28-80B4-2291-72CC9930AD04}"/>
              </a:ext>
            </a:extLst>
          </p:cNvPr>
          <p:cNvSpPr/>
          <p:nvPr/>
        </p:nvSpPr>
        <p:spPr>
          <a:xfrm>
            <a:off x="8412480" y="6428232"/>
            <a:ext cx="3383280" cy="256032"/>
          </a:xfrm>
          <a:prstGeom prst="rect">
            <a:avLst/>
          </a:prstGeom>
          <a:noFill/>
          <a:ln/>
        </p:spPr>
        <p:txBody>
          <a:bodyPr wrap="square" lIns="0" tIns="0" rIns="0" bIns="0" rtlCol="0" anchor="ctr"/>
          <a:lstStyle/>
          <a:p>
            <a:pPr algn="r"/>
            <a:r>
              <a:rPr lang="en" altLang="zh-CN" sz="1600" i="1" dirty="0">
                <a:solidFill>
                  <a:srgbClr val="5C5345"/>
                </a:solidFill>
                <a:ea typeface="Aptos"/>
                <a:cs typeface="Aptos"/>
              </a:rPr>
              <a:t>OOP principles</a:t>
            </a:r>
          </a:p>
        </p:txBody>
      </p:sp>
      <p:sp>
        <p:nvSpPr>
          <p:cNvPr id="6" name="Text 4">
            <a:extLst>
              <a:ext uri="{FF2B5EF4-FFF2-40B4-BE49-F238E27FC236}">
                <a16:creationId xmlns:a16="http://schemas.microsoft.com/office/drawing/2014/main" id="{745D8F27-B507-92C6-3EAD-0A81918AC5B9}"/>
              </a:ext>
            </a:extLst>
          </p:cNvPr>
          <p:cNvSpPr/>
          <p:nvPr/>
        </p:nvSpPr>
        <p:spPr>
          <a:xfrm>
            <a:off x="685800" y="960120"/>
            <a:ext cx="6766560" cy="685800"/>
          </a:xfrm>
          <a:prstGeom prst="rect">
            <a:avLst/>
          </a:prstGeom>
          <a:noFill/>
          <a:ln/>
        </p:spPr>
        <p:txBody>
          <a:bodyPr wrap="square" lIns="0" tIns="0" rIns="0" bIns="0" rtlCol="0" anchor="ctr"/>
          <a:lstStyle/>
          <a:p>
            <a:pPr marL="0" indent="0">
              <a:buNone/>
            </a:pPr>
            <a:endParaRPr lang="en-US" sz="2400" dirty="0"/>
          </a:p>
        </p:txBody>
      </p:sp>
      <p:sp>
        <p:nvSpPr>
          <p:cNvPr id="9" name="文本框 8">
            <a:extLst>
              <a:ext uri="{FF2B5EF4-FFF2-40B4-BE49-F238E27FC236}">
                <a16:creationId xmlns:a16="http://schemas.microsoft.com/office/drawing/2014/main" id="{5353C8AE-A474-C61F-F9E2-1557C0F90B3F}"/>
              </a:ext>
            </a:extLst>
          </p:cNvPr>
          <p:cNvSpPr txBox="1"/>
          <p:nvPr/>
        </p:nvSpPr>
        <p:spPr>
          <a:xfrm>
            <a:off x="502919" y="980902"/>
            <a:ext cx="7693429" cy="2062103"/>
          </a:xfrm>
          <a:prstGeom prst="rect">
            <a:avLst/>
          </a:prstGeom>
          <a:noFill/>
        </p:spPr>
        <p:txBody>
          <a:bodyPr wrap="square">
            <a:spAutoFit/>
          </a:bodyPr>
          <a:lstStyle/>
          <a:p>
            <a:r>
              <a:rPr lang="en-US" altLang="zh-CN" sz="3200" dirty="0">
                <a:latin typeface="+mj-lt"/>
              </a:rPr>
              <a:t>OOP Principles</a:t>
            </a:r>
          </a:p>
          <a:p>
            <a:endParaRPr lang="en-US" altLang="zh-CN" sz="3200" dirty="0">
              <a:latin typeface="+mj-lt"/>
            </a:endParaRPr>
          </a:p>
          <a:p>
            <a:endParaRPr lang="en-US" altLang="zh-CN" sz="3200" dirty="0">
              <a:latin typeface="+mj-lt"/>
            </a:endParaRPr>
          </a:p>
          <a:p>
            <a:endParaRPr lang="en" altLang="zh-CN" sz="3200" dirty="0">
              <a:latin typeface="+mj-lt"/>
            </a:endParaRPr>
          </a:p>
        </p:txBody>
      </p:sp>
      <p:sp>
        <p:nvSpPr>
          <p:cNvPr id="8" name="文本框 7">
            <a:extLst>
              <a:ext uri="{FF2B5EF4-FFF2-40B4-BE49-F238E27FC236}">
                <a16:creationId xmlns:a16="http://schemas.microsoft.com/office/drawing/2014/main" id="{36AE0B93-C363-3EBF-44D8-D05B965FE9BB}"/>
              </a:ext>
            </a:extLst>
          </p:cNvPr>
          <p:cNvSpPr txBox="1"/>
          <p:nvPr/>
        </p:nvSpPr>
        <p:spPr>
          <a:xfrm>
            <a:off x="502919" y="1882797"/>
            <a:ext cx="6101542" cy="461665"/>
          </a:xfrm>
          <a:prstGeom prst="rect">
            <a:avLst/>
          </a:prstGeom>
          <a:noFill/>
        </p:spPr>
        <p:txBody>
          <a:bodyPr wrap="square">
            <a:spAutoFit/>
          </a:bodyPr>
          <a:lstStyle/>
          <a:p>
            <a:r>
              <a:rPr lang="en" altLang="zh-CN" sz="2400" dirty="0">
                <a:latin typeface="+mj-lt"/>
              </a:rPr>
              <a:t>Object-Oriented Principles</a:t>
            </a:r>
          </a:p>
        </p:txBody>
      </p:sp>
      <p:graphicFrame>
        <p:nvGraphicFramePr>
          <p:cNvPr id="10" name="表格 9">
            <a:extLst>
              <a:ext uri="{FF2B5EF4-FFF2-40B4-BE49-F238E27FC236}">
                <a16:creationId xmlns:a16="http://schemas.microsoft.com/office/drawing/2014/main" id="{F161F1C1-A324-775E-7F71-77391879584C}"/>
              </a:ext>
            </a:extLst>
          </p:cNvPr>
          <p:cNvGraphicFramePr>
            <a:graphicFrameLocks noGrp="1"/>
          </p:cNvGraphicFramePr>
          <p:nvPr>
            <p:extLst>
              <p:ext uri="{D42A27DB-BD31-4B8C-83A1-F6EECF244321}">
                <p14:modId xmlns:p14="http://schemas.microsoft.com/office/powerpoint/2010/main" val="2598031432"/>
              </p:ext>
            </p:extLst>
          </p:nvPr>
        </p:nvGraphicFramePr>
        <p:xfrm>
          <a:off x="502919" y="2897547"/>
          <a:ext cx="10515600" cy="2133600"/>
        </p:xfrm>
        <a:graphic>
          <a:graphicData uri="http://schemas.openxmlformats.org/drawingml/2006/table">
            <a:tbl>
              <a:tblPr/>
              <a:tblGrid>
                <a:gridCol w="5257800">
                  <a:extLst>
                    <a:ext uri="{9D8B030D-6E8A-4147-A177-3AD203B41FA5}">
                      <a16:colId xmlns:a16="http://schemas.microsoft.com/office/drawing/2014/main" val="16935933"/>
                    </a:ext>
                  </a:extLst>
                </a:gridCol>
                <a:gridCol w="5257800">
                  <a:extLst>
                    <a:ext uri="{9D8B030D-6E8A-4147-A177-3AD203B41FA5}">
                      <a16:colId xmlns:a16="http://schemas.microsoft.com/office/drawing/2014/main" val="2080728412"/>
                    </a:ext>
                  </a:extLst>
                </a:gridCol>
              </a:tblGrid>
              <a:tr h="0">
                <a:tc>
                  <a:txBody>
                    <a:bodyPr/>
                    <a:lstStyle/>
                    <a:p>
                      <a:pPr>
                        <a:buNone/>
                      </a:pPr>
                      <a:r>
                        <a:rPr lang="zh-CN" b="1">
                          <a:effectLst/>
                        </a:rPr>
                        <a:t>Principle</a:t>
                      </a:r>
                      <a:endParaRPr lang="zh-CN">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zh-CN" b="1">
                          <a:effectLst/>
                        </a:rPr>
                        <a:t>Example in Project</a:t>
                      </a:r>
                      <a:endParaRPr lang="zh-CN">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08837065"/>
                  </a:ext>
                </a:extLst>
              </a:tr>
              <a:tr h="0">
                <a:tc>
                  <a:txBody>
                    <a:bodyPr/>
                    <a:lstStyle/>
                    <a:p>
                      <a:pPr>
                        <a:buNone/>
                      </a:pPr>
                      <a:r>
                        <a:rPr lang="zh-CN">
                          <a:effectLst/>
                        </a:rPr>
                        <a:t>Encapsulation</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zh-CN">
                          <a:effectLst/>
                        </a:rPr>
                        <a:t>private fields in Candidate / Graph</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20287810"/>
                  </a:ext>
                </a:extLst>
              </a:tr>
              <a:tr h="0">
                <a:tc>
                  <a:txBody>
                    <a:bodyPr/>
                    <a:lstStyle/>
                    <a:p>
                      <a:pPr>
                        <a:buNone/>
                      </a:pPr>
                      <a:r>
                        <a:rPr lang="zh-CN">
                          <a:effectLst/>
                        </a:rPr>
                        <a:t>Abstraction</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zh-CN">
                          <a:effectLst/>
                        </a:rPr>
                        <a:t>SortAlgorithm &amp; PathAlgorithm interfaces</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43102831"/>
                  </a:ext>
                </a:extLst>
              </a:tr>
              <a:tr h="0">
                <a:tc>
                  <a:txBody>
                    <a:bodyPr/>
                    <a:lstStyle/>
                    <a:p>
                      <a:pPr>
                        <a:buNone/>
                      </a:pPr>
                      <a:r>
                        <a:rPr lang="zh-CN" dirty="0">
                          <a:effectLst/>
                        </a:rPr>
                        <a:t>Polymorphism</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zh-CN">
                          <a:effectLst/>
                        </a:rPr>
                        <a:t>Different sorting implementations</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56430019"/>
                  </a:ext>
                </a:extLst>
              </a:tr>
              <a:tr h="0">
                <a:tc>
                  <a:txBody>
                    <a:bodyPr/>
                    <a:lstStyle/>
                    <a:p>
                      <a:pPr>
                        <a:buNone/>
                      </a:pPr>
                      <a:r>
                        <a:rPr lang="zh-CN">
                          <a:effectLst/>
                        </a:rPr>
                        <a:t>Inheritance</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zh-CN" dirty="0">
                          <a:effectLst/>
                        </a:rPr>
                        <a:t>Swing panels extending JFrame/JPanel</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36714873"/>
                  </a:ext>
                </a:extLst>
              </a:tr>
            </a:tbl>
          </a:graphicData>
        </a:graphic>
      </p:graphicFrame>
      <p:sp>
        <p:nvSpPr>
          <p:cNvPr id="12" name="文本框 11">
            <a:extLst>
              <a:ext uri="{FF2B5EF4-FFF2-40B4-BE49-F238E27FC236}">
                <a16:creationId xmlns:a16="http://schemas.microsoft.com/office/drawing/2014/main" id="{AC08188F-3BA1-4A41-384B-D7EBF94339C6}"/>
              </a:ext>
            </a:extLst>
          </p:cNvPr>
          <p:cNvSpPr txBox="1"/>
          <p:nvPr/>
        </p:nvSpPr>
        <p:spPr>
          <a:xfrm>
            <a:off x="502919" y="5507766"/>
            <a:ext cx="7693428" cy="369332"/>
          </a:xfrm>
          <a:prstGeom prst="rect">
            <a:avLst/>
          </a:prstGeom>
          <a:noFill/>
        </p:spPr>
        <p:txBody>
          <a:bodyPr wrap="square">
            <a:spAutoFit/>
          </a:bodyPr>
          <a:lstStyle/>
          <a:p>
            <a:r>
              <a:rPr lang="en" altLang="zh-CN" dirty="0">
                <a:latin typeface="+mj-lt"/>
              </a:rPr>
              <a:t>OOP principles improve scalability, maintainability, and code clarity.</a:t>
            </a:r>
          </a:p>
        </p:txBody>
      </p:sp>
    </p:spTree>
    <p:extLst>
      <p:ext uri="{BB962C8B-B14F-4D97-AF65-F5344CB8AC3E}">
        <p14:creationId xmlns:p14="http://schemas.microsoft.com/office/powerpoint/2010/main" val="4131633577"/>
      </p:ext>
    </p:extLst>
  </p:cSld>
  <p:clrMapOvr>
    <a:masterClrMapping/>
  </p:clrMapOvr>
  <mc:AlternateContent xmlns:mc="http://schemas.openxmlformats.org/markup-compatibility/2006" xmlns:p14="http://schemas.microsoft.com/office/powerpoint/2010/main">
    <mc:Choice Requires="p14">
      <p:transition spd="slow" p14:dur="2000" advTm="38615"/>
    </mc:Choice>
    <mc:Fallback xmlns="">
      <p:transition spd="slow" advTm="38615"/>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5D5628D4-8ED5-F218-7C9F-EBC10A6212A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3F43D7A-3961-F82F-0B4D-8BBA8E89F847}"/>
              </a:ext>
            </a:extLst>
          </p:cNvPr>
          <p:cNvSpPr/>
          <p:nvPr/>
        </p:nvSpPr>
        <p:spPr>
          <a:xfrm>
            <a:off x="502920" y="256032"/>
            <a:ext cx="2926080" cy="274320"/>
          </a:xfrm>
          <a:prstGeom prst="rect">
            <a:avLst/>
          </a:prstGeom>
          <a:noFill/>
          <a:ln/>
        </p:spPr>
        <p:txBody>
          <a:bodyPr wrap="square" lIns="0" tIns="0" rIns="0" bIns="0" rtlCol="0" anchor="ctr"/>
          <a:lstStyle/>
          <a:p>
            <a:r>
              <a:rPr lang="en-US" altLang="zh-CN" sz="1600" dirty="0">
                <a:solidFill>
                  <a:srgbClr val="2A241B"/>
                </a:solidFill>
                <a:latin typeface="Aptos" pitchFamily="34" charset="0"/>
                <a:ea typeface="Aptos" pitchFamily="34" charset="-122"/>
                <a:cs typeface="Aptos" pitchFamily="34" charset="-120"/>
              </a:rPr>
              <a:t>Task C · application design</a:t>
            </a:r>
            <a:endParaRPr lang="en-US" altLang="zh-CN" sz="1600" dirty="0"/>
          </a:p>
        </p:txBody>
      </p:sp>
      <p:sp>
        <p:nvSpPr>
          <p:cNvPr id="3" name="Text 1">
            <a:extLst>
              <a:ext uri="{FF2B5EF4-FFF2-40B4-BE49-F238E27FC236}">
                <a16:creationId xmlns:a16="http://schemas.microsoft.com/office/drawing/2014/main" id="{0FAA181C-6C0F-2E74-5F8A-17BFE0D814BC}"/>
              </a:ext>
            </a:extLst>
          </p:cNvPr>
          <p:cNvSpPr/>
          <p:nvPr/>
        </p:nvSpPr>
        <p:spPr>
          <a:xfrm>
            <a:off x="11338560" y="256032"/>
            <a:ext cx="457200" cy="274320"/>
          </a:xfrm>
          <a:prstGeom prst="rect">
            <a:avLst/>
          </a:prstGeom>
          <a:noFill/>
          <a:ln/>
        </p:spPr>
        <p:txBody>
          <a:bodyPr wrap="square" lIns="0" tIns="0" rIns="0" bIns="0" rtlCol="0" anchor="ctr"/>
          <a:lstStyle/>
          <a:p>
            <a:pPr marL="0" indent="0" algn="r">
              <a:buNone/>
            </a:pPr>
            <a:r>
              <a:rPr lang="en-US" altLang="zh-CN" sz="1600" i="1" dirty="0">
                <a:solidFill>
                  <a:srgbClr val="5C5345"/>
                </a:solidFill>
                <a:latin typeface="Georgia" pitchFamily="34" charset="0"/>
                <a:ea typeface="Georgia" pitchFamily="34" charset="-122"/>
                <a:cs typeface="Georgia" pitchFamily="34" charset="-120"/>
              </a:rPr>
              <a:t>28</a:t>
            </a:r>
            <a:endParaRPr lang="en-US" sz="1600" dirty="0"/>
          </a:p>
        </p:txBody>
      </p:sp>
      <p:sp>
        <p:nvSpPr>
          <p:cNvPr id="4" name="Text 2">
            <a:extLst>
              <a:ext uri="{FF2B5EF4-FFF2-40B4-BE49-F238E27FC236}">
                <a16:creationId xmlns:a16="http://schemas.microsoft.com/office/drawing/2014/main" id="{A6AF74C2-CD71-C04C-4FD9-1D3057C5935E}"/>
              </a:ext>
            </a:extLst>
          </p:cNvPr>
          <p:cNvSpPr/>
          <p:nvPr/>
        </p:nvSpPr>
        <p:spPr>
          <a:xfrm>
            <a:off x="502920" y="6428232"/>
            <a:ext cx="1280160" cy="256032"/>
          </a:xfrm>
          <a:prstGeom prst="rect">
            <a:avLst/>
          </a:prstGeom>
          <a:noFill/>
          <a:ln/>
        </p:spPr>
        <p:txBody>
          <a:bodyPr wrap="square" lIns="0" tIns="0" rIns="0" bIns="0" rtlCol="0" anchor="ctr"/>
          <a:lstStyle/>
          <a:p>
            <a:pPr marL="0" indent="0">
              <a:buNone/>
            </a:pPr>
            <a:r>
              <a:rPr lang="en-US" sz="1500" i="1" dirty="0">
                <a:solidFill>
                  <a:srgbClr val="5C5345"/>
                </a:solidFill>
                <a:latin typeface="Georgia" pitchFamily="34" charset="0"/>
                <a:ea typeface="Georgia" pitchFamily="34" charset="-122"/>
                <a:cs typeface="Georgia" pitchFamily="34" charset="-120"/>
              </a:rPr>
              <a:t>May 2026</a:t>
            </a:r>
            <a:endParaRPr lang="en-US" sz="1500" dirty="0"/>
          </a:p>
        </p:txBody>
      </p:sp>
      <p:sp>
        <p:nvSpPr>
          <p:cNvPr id="5" name="Text 3">
            <a:extLst>
              <a:ext uri="{FF2B5EF4-FFF2-40B4-BE49-F238E27FC236}">
                <a16:creationId xmlns:a16="http://schemas.microsoft.com/office/drawing/2014/main" id="{DE1A4F6D-6768-C25B-7E6F-299910495DEE}"/>
              </a:ext>
            </a:extLst>
          </p:cNvPr>
          <p:cNvSpPr/>
          <p:nvPr/>
        </p:nvSpPr>
        <p:spPr>
          <a:xfrm>
            <a:off x="8412480" y="6428232"/>
            <a:ext cx="3383280" cy="256032"/>
          </a:xfrm>
          <a:prstGeom prst="rect">
            <a:avLst/>
          </a:prstGeom>
          <a:noFill/>
          <a:ln/>
        </p:spPr>
        <p:txBody>
          <a:bodyPr wrap="square" lIns="0" tIns="0" rIns="0" bIns="0" rtlCol="0" anchor="ctr"/>
          <a:lstStyle/>
          <a:p>
            <a:pPr algn="r"/>
            <a:r>
              <a:rPr lang="en" altLang="zh-CN" sz="1600" i="1" dirty="0">
                <a:solidFill>
                  <a:srgbClr val="5C5345"/>
                </a:solidFill>
                <a:ea typeface="Aptos"/>
                <a:cs typeface="Aptos"/>
              </a:rPr>
              <a:t>Design benefits and conclusion</a:t>
            </a:r>
          </a:p>
        </p:txBody>
      </p:sp>
      <p:sp>
        <p:nvSpPr>
          <p:cNvPr id="6" name="Text 4">
            <a:extLst>
              <a:ext uri="{FF2B5EF4-FFF2-40B4-BE49-F238E27FC236}">
                <a16:creationId xmlns:a16="http://schemas.microsoft.com/office/drawing/2014/main" id="{1FD7CE94-00BD-DA26-1A02-F7C27F20F3B0}"/>
              </a:ext>
            </a:extLst>
          </p:cNvPr>
          <p:cNvSpPr/>
          <p:nvPr/>
        </p:nvSpPr>
        <p:spPr>
          <a:xfrm>
            <a:off x="685800" y="960120"/>
            <a:ext cx="6766560" cy="685800"/>
          </a:xfrm>
          <a:prstGeom prst="rect">
            <a:avLst/>
          </a:prstGeom>
          <a:noFill/>
          <a:ln/>
        </p:spPr>
        <p:txBody>
          <a:bodyPr wrap="square" lIns="0" tIns="0" rIns="0" bIns="0" rtlCol="0" anchor="ctr"/>
          <a:lstStyle/>
          <a:p>
            <a:pPr marL="0" indent="0">
              <a:buNone/>
            </a:pPr>
            <a:endParaRPr lang="en-US" sz="2400" dirty="0"/>
          </a:p>
        </p:txBody>
      </p:sp>
      <p:sp>
        <p:nvSpPr>
          <p:cNvPr id="9" name="文本框 8">
            <a:extLst>
              <a:ext uri="{FF2B5EF4-FFF2-40B4-BE49-F238E27FC236}">
                <a16:creationId xmlns:a16="http://schemas.microsoft.com/office/drawing/2014/main" id="{176E6618-04DE-08B9-C610-EAEEA8F80023}"/>
              </a:ext>
            </a:extLst>
          </p:cNvPr>
          <p:cNvSpPr txBox="1"/>
          <p:nvPr/>
        </p:nvSpPr>
        <p:spPr>
          <a:xfrm>
            <a:off x="502919" y="980902"/>
            <a:ext cx="7693429" cy="1569660"/>
          </a:xfrm>
          <a:prstGeom prst="rect">
            <a:avLst/>
          </a:prstGeom>
          <a:noFill/>
        </p:spPr>
        <p:txBody>
          <a:bodyPr wrap="square">
            <a:spAutoFit/>
          </a:bodyPr>
          <a:lstStyle/>
          <a:p>
            <a:r>
              <a:rPr lang="en" altLang="zh-CN" sz="3200" dirty="0">
                <a:latin typeface="+mj-lt"/>
              </a:rPr>
              <a:t>Design Benefits / Conclusion</a:t>
            </a:r>
          </a:p>
          <a:p>
            <a:endParaRPr lang="en-US" altLang="zh-CN" sz="3200" dirty="0">
              <a:latin typeface="+mj-lt"/>
            </a:endParaRPr>
          </a:p>
          <a:p>
            <a:endParaRPr lang="en" altLang="zh-CN" sz="3200" dirty="0">
              <a:latin typeface="+mj-lt"/>
            </a:endParaRPr>
          </a:p>
        </p:txBody>
      </p:sp>
      <p:sp>
        <p:nvSpPr>
          <p:cNvPr id="8" name="文本框 7">
            <a:extLst>
              <a:ext uri="{FF2B5EF4-FFF2-40B4-BE49-F238E27FC236}">
                <a16:creationId xmlns:a16="http://schemas.microsoft.com/office/drawing/2014/main" id="{35573451-5888-D578-59E6-BF9B1B048BF7}"/>
              </a:ext>
            </a:extLst>
          </p:cNvPr>
          <p:cNvSpPr txBox="1"/>
          <p:nvPr/>
        </p:nvSpPr>
        <p:spPr>
          <a:xfrm>
            <a:off x="502919" y="2007521"/>
            <a:ext cx="6101542" cy="461665"/>
          </a:xfrm>
          <a:prstGeom prst="rect">
            <a:avLst/>
          </a:prstGeom>
          <a:noFill/>
        </p:spPr>
        <p:txBody>
          <a:bodyPr wrap="square">
            <a:spAutoFit/>
          </a:bodyPr>
          <a:lstStyle/>
          <a:p>
            <a:r>
              <a:rPr lang="en" altLang="zh-CN" sz="2400" dirty="0">
                <a:latin typeface="+mj-lt"/>
              </a:rPr>
              <a:t>Importance of OOP Design</a:t>
            </a:r>
          </a:p>
        </p:txBody>
      </p:sp>
      <p:sp>
        <p:nvSpPr>
          <p:cNvPr id="11" name="文本框 10">
            <a:extLst>
              <a:ext uri="{FF2B5EF4-FFF2-40B4-BE49-F238E27FC236}">
                <a16:creationId xmlns:a16="http://schemas.microsoft.com/office/drawing/2014/main" id="{FA627891-3566-34E8-04E5-7DCFA200DC53}"/>
              </a:ext>
            </a:extLst>
          </p:cNvPr>
          <p:cNvSpPr txBox="1"/>
          <p:nvPr/>
        </p:nvSpPr>
        <p:spPr>
          <a:xfrm>
            <a:off x="502919" y="2912163"/>
            <a:ext cx="6101542" cy="1754326"/>
          </a:xfrm>
          <a:prstGeom prst="rect">
            <a:avLst/>
          </a:prstGeom>
          <a:noFill/>
        </p:spPr>
        <p:txBody>
          <a:bodyPr wrap="square">
            <a:spAutoFit/>
          </a:bodyPr>
          <a:lstStyle/>
          <a:p>
            <a:r>
              <a:rPr lang="en" altLang="zh-CN" dirty="0">
                <a:latin typeface="+mj-lt"/>
              </a:rPr>
              <a:t>Benefits of Current Design</a:t>
            </a:r>
          </a:p>
          <a:p>
            <a:r>
              <a:rPr lang="en" altLang="zh-CN" dirty="0">
                <a:latin typeface="+mj-lt"/>
              </a:rPr>
              <a:t>Modular architecture</a:t>
            </a:r>
          </a:p>
          <a:p>
            <a:r>
              <a:rPr lang="en" altLang="zh-CN" dirty="0">
                <a:latin typeface="+mj-lt"/>
              </a:rPr>
              <a:t>Easy algorithm replacement</a:t>
            </a:r>
          </a:p>
          <a:p>
            <a:r>
              <a:rPr lang="en" altLang="zh-CN" dirty="0">
                <a:latin typeface="+mj-lt"/>
              </a:rPr>
              <a:t>Clear separation of responsibilities</a:t>
            </a:r>
          </a:p>
          <a:p>
            <a:r>
              <a:rPr lang="en" altLang="zh-CN" dirty="0">
                <a:latin typeface="+mj-lt"/>
              </a:rPr>
              <a:t>Reusable graph and sorting framework</a:t>
            </a:r>
          </a:p>
          <a:p>
            <a:r>
              <a:rPr lang="en" altLang="zh-CN" dirty="0">
                <a:latin typeface="+mj-lt"/>
              </a:rPr>
              <a:t>Better maintainability and scalability</a:t>
            </a:r>
          </a:p>
        </p:txBody>
      </p:sp>
      <p:sp>
        <p:nvSpPr>
          <p:cNvPr id="13" name="文本框 12">
            <a:extLst>
              <a:ext uri="{FF2B5EF4-FFF2-40B4-BE49-F238E27FC236}">
                <a16:creationId xmlns:a16="http://schemas.microsoft.com/office/drawing/2014/main" id="{5A4CEB3F-C389-5D74-ED21-816ABD3EBDF8}"/>
              </a:ext>
            </a:extLst>
          </p:cNvPr>
          <p:cNvSpPr txBox="1"/>
          <p:nvPr/>
        </p:nvSpPr>
        <p:spPr>
          <a:xfrm>
            <a:off x="502919" y="5028090"/>
            <a:ext cx="6101542" cy="646331"/>
          </a:xfrm>
          <a:prstGeom prst="rect">
            <a:avLst/>
          </a:prstGeom>
          <a:noFill/>
        </p:spPr>
        <p:txBody>
          <a:bodyPr wrap="square">
            <a:spAutoFit/>
          </a:bodyPr>
          <a:lstStyle/>
          <a:p>
            <a:r>
              <a:rPr lang="en" altLang="zh-CN" dirty="0">
                <a:latin typeface="+mj-lt"/>
              </a:rPr>
              <a:t>The current design achieves high cohesion and low coupling across the application.</a:t>
            </a:r>
          </a:p>
        </p:txBody>
      </p:sp>
    </p:spTree>
    <p:extLst>
      <p:ext uri="{BB962C8B-B14F-4D97-AF65-F5344CB8AC3E}">
        <p14:creationId xmlns:p14="http://schemas.microsoft.com/office/powerpoint/2010/main" val="1433462287"/>
      </p:ext>
    </p:extLst>
  </p:cSld>
  <p:clrMapOvr>
    <a:masterClrMapping/>
  </p:clrMapOvr>
  <mc:AlternateContent xmlns:mc="http://schemas.openxmlformats.org/markup-compatibility/2006" xmlns:p14="http://schemas.microsoft.com/office/powerpoint/2010/main">
    <mc:Choice Requires="p14">
      <p:transition spd="slow" p14:dur="2000" advTm="38438"/>
    </mc:Choice>
    <mc:Fallback xmlns="">
      <p:transition spd="slow" advTm="38438"/>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37BB2979-03B1-EFF2-9226-6A3ECC2365F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9D8AC7D-1C94-9714-22B9-B6D0ACE7195A}"/>
              </a:ext>
            </a:extLst>
          </p:cNvPr>
          <p:cNvSpPr/>
          <p:nvPr/>
        </p:nvSpPr>
        <p:spPr>
          <a:xfrm>
            <a:off x="502920" y="256032"/>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Task D · reflection</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a:extLst>
              <a:ext uri="{FF2B5EF4-FFF2-40B4-BE49-F238E27FC236}">
                <a16:creationId xmlns:a16="http://schemas.microsoft.com/office/drawing/2014/main" id="{6D448A38-06C2-845B-159A-C24A58B9C58E}"/>
              </a:ext>
            </a:extLst>
          </p:cNvPr>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29</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B81CAE5C-4BAE-A7B7-B580-FF00B4541D74}"/>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a:extLst>
              <a:ext uri="{FF2B5EF4-FFF2-40B4-BE49-F238E27FC236}">
                <a16:creationId xmlns:a16="http://schemas.microsoft.com/office/drawing/2014/main" id="{8AA45539-E1A9-25C8-8635-926684A77734}"/>
              </a:ext>
            </a:extLst>
          </p:cNvPr>
          <p:cNvSpPr/>
          <p:nvPr/>
        </p:nvSpPr>
        <p:spPr>
          <a:xfrm>
            <a:off x="8412480" y="6428232"/>
            <a:ext cx="33832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Collaboration, EDI, and future work</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Shape 4">
            <a:extLst>
              <a:ext uri="{FF2B5EF4-FFF2-40B4-BE49-F238E27FC236}">
                <a16:creationId xmlns:a16="http://schemas.microsoft.com/office/drawing/2014/main" id="{FB69D4AA-9809-3C47-083C-F77C5257E88E}"/>
              </a:ext>
            </a:extLst>
          </p:cNvPr>
          <p:cNvSpPr/>
          <p:nvPr/>
        </p:nvSpPr>
        <p:spPr>
          <a:xfrm>
            <a:off x="731520" y="1600200"/>
            <a:ext cx="3383280" cy="4389120"/>
          </a:xfrm>
          <a:prstGeom prst="roundRect">
            <a:avLst>
              <a:gd name="adj" fmla="val 2162"/>
            </a:avLst>
          </a:prstGeom>
          <a:solidFill>
            <a:srgbClr val="FFFDF8"/>
          </a:solidFill>
          <a:ln w="12700">
            <a:solidFill>
              <a:srgbClr val="FFFDF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7" name="Text 5">
            <a:extLst>
              <a:ext uri="{FF2B5EF4-FFF2-40B4-BE49-F238E27FC236}">
                <a16:creationId xmlns:a16="http://schemas.microsoft.com/office/drawing/2014/main" id="{7D5359E1-2251-9E3D-6BE9-8F0F3D12E5BA}"/>
              </a:ext>
            </a:extLst>
          </p:cNvPr>
          <p:cNvSpPr/>
          <p:nvPr/>
        </p:nvSpPr>
        <p:spPr>
          <a:xfrm>
            <a:off x="896112" y="1746504"/>
            <a:ext cx="305409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Collaboration and planning</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6">
            <a:extLst>
              <a:ext uri="{FF2B5EF4-FFF2-40B4-BE49-F238E27FC236}">
                <a16:creationId xmlns:a16="http://schemas.microsoft.com/office/drawing/2014/main" id="{46B383A9-863A-D9DF-1CD6-AAB157FCC204}"/>
              </a:ext>
            </a:extLst>
          </p:cNvPr>
          <p:cNvSpPr/>
          <p:nvPr/>
        </p:nvSpPr>
        <p:spPr>
          <a:xfrm>
            <a:off x="896112" y="2313432"/>
            <a:ext cx="3054096" cy="36758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prstClr val="black"/>
                </a:solidFill>
                <a:effectLst/>
                <a:uLnTx/>
                <a:uFillTx/>
                <a:latin typeface="Aptos"/>
                <a:ea typeface="+mn-ea"/>
                <a:cs typeface="+mn-cs"/>
              </a:rPr>
              <a:t>In this project, we used </a:t>
            </a:r>
            <a:r>
              <a:rPr kumimoji="0" lang="en-US" sz="1550" b="0" i="0" u="none" strike="noStrike" kern="1200" cap="none" spc="0" normalizeH="0" baseline="0" noProof="0" dirty="0">
                <a:ln>
                  <a:noFill/>
                </a:ln>
                <a:solidFill>
                  <a:prstClr val="black"/>
                </a:solidFill>
                <a:effectLst/>
                <a:highlight>
                  <a:srgbClr val="FFFF00"/>
                </a:highlight>
                <a:uLnTx/>
                <a:uFillTx/>
                <a:latin typeface="Aptos"/>
                <a:ea typeface="+mn-ea"/>
                <a:cs typeface="+mn-cs"/>
              </a:rPr>
              <a:t>Jira</a:t>
            </a:r>
            <a:r>
              <a:rPr kumimoji="0" lang="en-US" sz="1550" b="0" i="0" u="none" strike="noStrike" kern="1200" cap="none" spc="0" normalizeH="0" baseline="0" noProof="0" dirty="0">
                <a:ln>
                  <a:noFill/>
                </a:ln>
                <a:solidFill>
                  <a:prstClr val="black"/>
                </a:solidFill>
                <a:effectLst/>
                <a:uLnTx/>
                <a:uFillTx/>
                <a:latin typeface="Aptos"/>
                <a:ea typeface="+mn-ea"/>
                <a:cs typeface="+mn-cs"/>
              </a:rPr>
              <a:t> </a:t>
            </a:r>
            <a:r>
              <a:rPr kumimoji="0" lang="zh-CN" altLang="en-US"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US" sz="1550" b="0" i="0" u="none" strike="noStrike" kern="1200" cap="none" spc="0" normalizeH="0" baseline="0" noProof="0" dirty="0">
                <a:ln>
                  <a:noFill/>
                </a:ln>
                <a:solidFill>
                  <a:prstClr val="black"/>
                </a:solidFill>
                <a:effectLst/>
                <a:uLnTx/>
                <a:uFillTx/>
                <a:latin typeface="Aptos"/>
                <a:ea typeface="+mn-ea"/>
                <a:cs typeface="+mn-cs"/>
              </a:rPr>
              <a:t>to divide Tasks A and B into smaller tasks such as sorting, path finding, and interface development, which helped us assign responsibilities, track progress, and improve communication. Although Jira made teamwork more organized, it also required extra time for task creation and maintenance, and for a small project some features felt overly complex compared with direct communication. We also used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prstClr val="black"/>
                </a:solidFill>
                <a:effectLst/>
                <a:highlight>
                  <a:srgbClr val="FFFF00"/>
                </a:highlight>
                <a:uLnTx/>
                <a:uFillTx/>
                <a:latin typeface="Aptos"/>
                <a:ea typeface="+mn-ea"/>
                <a:cs typeface="+mn-cs"/>
              </a:rPr>
              <a:t>Git</a:t>
            </a:r>
            <a:r>
              <a:rPr kumimoji="0" lang="en-US" sz="1550" b="0" i="0" u="none" strike="noStrike" kern="1200" cap="none" spc="0" normalizeH="0" baseline="0" noProof="0" dirty="0">
                <a:ln>
                  <a:noFill/>
                </a:ln>
                <a:solidFill>
                  <a:prstClr val="black"/>
                </a:solidFill>
                <a:effectLst/>
                <a:uLnTx/>
                <a:uFillTx/>
                <a:latin typeface="Aptos"/>
                <a:ea typeface="+mn-ea"/>
                <a:cs typeface="+mn-cs"/>
              </a:rPr>
              <a:t> </a:t>
            </a:r>
            <a:r>
              <a:rPr kumimoji="0" lang="zh-CN" altLang="en-US" sz="15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a:t>
            </a:r>
            <a:r>
              <a:rPr kumimoji="0" lang="en-US" sz="1550" b="0" i="0" u="none" strike="noStrike" kern="1200" cap="none" spc="0" normalizeH="0" baseline="0" noProof="0" dirty="0">
                <a:ln>
                  <a:noFill/>
                </a:ln>
                <a:solidFill>
                  <a:prstClr val="black"/>
                </a:solidFill>
                <a:effectLst/>
                <a:uLnTx/>
                <a:uFillTx/>
                <a:latin typeface="Aptos"/>
                <a:ea typeface="+mn-ea"/>
                <a:cs typeface="+mn-cs"/>
              </a:rPr>
              <a:t>for code collaboration.</a:t>
            </a:r>
          </a:p>
        </p:txBody>
      </p:sp>
      <p:sp>
        <p:nvSpPr>
          <p:cNvPr id="9" name="Shape 7">
            <a:extLst>
              <a:ext uri="{FF2B5EF4-FFF2-40B4-BE49-F238E27FC236}">
                <a16:creationId xmlns:a16="http://schemas.microsoft.com/office/drawing/2014/main" id="{D10964BE-4EC1-AF1A-E9D6-453FFAA59EFA}"/>
              </a:ext>
            </a:extLst>
          </p:cNvPr>
          <p:cNvSpPr/>
          <p:nvPr/>
        </p:nvSpPr>
        <p:spPr>
          <a:xfrm>
            <a:off x="4343400" y="1600200"/>
            <a:ext cx="3547872" cy="4389120"/>
          </a:xfrm>
          <a:prstGeom prst="roundRect">
            <a:avLst>
              <a:gd name="adj" fmla="val 2162"/>
            </a:avLst>
          </a:prstGeom>
          <a:solidFill>
            <a:srgbClr val="E8C9B6"/>
          </a:solidFill>
          <a:ln w="12700">
            <a:solidFill>
              <a:srgbClr val="E8C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0" name="Text 8">
            <a:extLst>
              <a:ext uri="{FF2B5EF4-FFF2-40B4-BE49-F238E27FC236}">
                <a16:creationId xmlns:a16="http://schemas.microsoft.com/office/drawing/2014/main" id="{EB06AF4C-A0B9-AC44-07EE-9E8C3319B9CA}"/>
              </a:ext>
            </a:extLst>
          </p:cNvPr>
          <p:cNvSpPr/>
          <p:nvPr/>
        </p:nvSpPr>
        <p:spPr>
          <a:xfrm>
            <a:off x="4507992" y="1746504"/>
            <a:ext cx="305409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EDI considerations</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Text 9">
            <a:extLst>
              <a:ext uri="{FF2B5EF4-FFF2-40B4-BE49-F238E27FC236}">
                <a16:creationId xmlns:a16="http://schemas.microsoft.com/office/drawing/2014/main" id="{D535E186-BC2B-FEBA-0D72-5EAD7B75F1D2}"/>
              </a:ext>
            </a:extLst>
          </p:cNvPr>
          <p:cNvSpPr/>
          <p:nvPr/>
        </p:nvSpPr>
        <p:spPr>
          <a:xfrm>
            <a:off x="4443984" y="2177910"/>
            <a:ext cx="3447288" cy="36758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prstClr val="black"/>
                </a:solidFill>
                <a:effectLst/>
                <a:uLnTx/>
                <a:uFillTx/>
                <a:latin typeface="Aptos"/>
                <a:ea typeface="+mn-ea"/>
                <a:cs typeface="+mn-cs"/>
              </a:rPr>
              <a:t>EDI considerations were reflected in our system design by ensuring fair access to system functions, </a:t>
            </a:r>
            <a:r>
              <a:rPr kumimoji="0" lang="en-US" sz="1550" b="0" i="0" u="none" strike="noStrike" kern="1200" cap="none" spc="0" normalizeH="0" baseline="0" noProof="0" dirty="0" err="1">
                <a:ln>
                  <a:noFill/>
                </a:ln>
                <a:solidFill>
                  <a:prstClr val="black"/>
                </a:solidFill>
                <a:effectLst/>
                <a:uLnTx/>
                <a:uFillTx/>
                <a:latin typeface="Aptos"/>
                <a:ea typeface="+mn-ea"/>
                <a:cs typeface="+mn-cs"/>
              </a:rPr>
              <a:t>recognising</a:t>
            </a:r>
            <a:r>
              <a:rPr kumimoji="0" lang="en-US" sz="1550" b="0" i="0" u="none" strike="noStrike" kern="1200" cap="none" spc="0" normalizeH="0" baseline="0" noProof="0" dirty="0">
                <a:ln>
                  <a:noFill/>
                </a:ln>
                <a:solidFill>
                  <a:prstClr val="black"/>
                </a:solidFill>
                <a:effectLst/>
                <a:uLnTx/>
                <a:uFillTx/>
                <a:latin typeface="Aptos"/>
                <a:ea typeface="+mn-ea"/>
                <a:cs typeface="+mn-cs"/>
              </a:rPr>
              <a:t> users with different backgrounds and technical abilities, and improving accessibility for practical inspection work scenarios. We considered users such as elderly workers, visually impaired users, and staff working in outdoor environments, so the system aims to be simple, accessible, and adaptable to different user needs. Future improvements may include text-to-speech support, multilingual interfaces, and adjustable UI settings to further enhance equality, diversity, and inclusiveness.</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550" b="0" i="0" u="none" strike="noStrike" kern="1200" cap="none" spc="0" normalizeH="0" baseline="0" noProof="0" dirty="0">
                <a:ln>
                  <a:noFill/>
                </a:ln>
                <a:solidFill>
                  <a:prstClr val="black"/>
                </a:solidFill>
                <a:effectLst/>
                <a:uLnTx/>
                <a:uFillTx/>
                <a:latin typeface="Aptos"/>
                <a:ea typeface="+mn-ea"/>
                <a:cs typeface="+mn-cs"/>
              </a:rPr>
            </a:b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Shape 10">
            <a:extLst>
              <a:ext uri="{FF2B5EF4-FFF2-40B4-BE49-F238E27FC236}">
                <a16:creationId xmlns:a16="http://schemas.microsoft.com/office/drawing/2014/main" id="{0E09F43A-F155-D583-0038-6A9BBB3E9092}"/>
              </a:ext>
            </a:extLst>
          </p:cNvPr>
          <p:cNvSpPr/>
          <p:nvPr/>
        </p:nvSpPr>
        <p:spPr>
          <a:xfrm>
            <a:off x="8119872" y="1600200"/>
            <a:ext cx="3108960" cy="4389120"/>
          </a:xfrm>
          <a:prstGeom prst="roundRect">
            <a:avLst>
              <a:gd name="adj" fmla="val 2353"/>
            </a:avLst>
          </a:prstGeom>
          <a:solidFill>
            <a:srgbClr val="D6DD63"/>
          </a:solidFill>
          <a:ln w="12700">
            <a:solidFill>
              <a:srgbClr val="D6DD6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3" name="Text 11">
            <a:extLst>
              <a:ext uri="{FF2B5EF4-FFF2-40B4-BE49-F238E27FC236}">
                <a16:creationId xmlns:a16="http://schemas.microsoft.com/office/drawing/2014/main" id="{0006CD94-A042-D6FA-D762-0A224B7D6503}"/>
              </a:ext>
            </a:extLst>
          </p:cNvPr>
          <p:cNvSpPr/>
          <p:nvPr/>
        </p:nvSpPr>
        <p:spPr>
          <a:xfrm>
            <a:off x="8284464" y="1746504"/>
            <a:ext cx="277977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Future improvements</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Text 12">
            <a:extLst>
              <a:ext uri="{FF2B5EF4-FFF2-40B4-BE49-F238E27FC236}">
                <a16:creationId xmlns:a16="http://schemas.microsoft.com/office/drawing/2014/main" id="{92648B91-2CFB-3323-BD05-7BB7A8CB849C}"/>
              </a:ext>
            </a:extLst>
          </p:cNvPr>
          <p:cNvSpPr/>
          <p:nvPr/>
        </p:nvSpPr>
        <p:spPr>
          <a:xfrm>
            <a:off x="8284464" y="2167128"/>
            <a:ext cx="2779776" cy="36758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prstClr val="black"/>
                </a:solidFill>
                <a:effectLst/>
                <a:uLnTx/>
                <a:uFillTx/>
                <a:latin typeface="Aptos"/>
                <a:ea typeface="+mn-ea"/>
                <a:cs typeface="+mn-cs"/>
              </a:rPr>
              <a:t>In the future, we hope to make the system more practical by adding richer route-planning functions, more flexible priority adjustment, and customizable inspection start and end points. We also plan to further improve the interface based on EDI principles so that the system can better reflect real-world value in urban management.</a:t>
            </a:r>
          </a:p>
        </p:txBody>
      </p:sp>
      <p:sp>
        <p:nvSpPr>
          <p:cNvPr id="15" name="文本框 14">
            <a:extLst>
              <a:ext uri="{FF2B5EF4-FFF2-40B4-BE49-F238E27FC236}">
                <a16:creationId xmlns:a16="http://schemas.microsoft.com/office/drawing/2014/main" id="{1E1176F4-068F-5CE2-6250-682215E0E9FC}"/>
              </a:ext>
            </a:extLst>
          </p:cNvPr>
          <p:cNvSpPr txBox="1"/>
          <p:nvPr/>
        </p:nvSpPr>
        <p:spPr>
          <a:xfrm>
            <a:off x="617220" y="708244"/>
            <a:ext cx="361188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Task</a:t>
            </a:r>
            <a:r>
              <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1" lang="en-US"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D</a:t>
            </a:r>
            <a:endPar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pic>
        <p:nvPicPr>
          <p:cNvPr id="16" name="Picture 2" descr="Jira Cloud by Atlassian - Apps on Google Play">
            <a:extLst>
              <a:ext uri="{FF2B5EF4-FFF2-40B4-BE49-F238E27FC236}">
                <a16:creationId xmlns:a16="http://schemas.microsoft.com/office/drawing/2014/main" id="{847F28FB-7BC1-7481-7527-45332ADA95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0673" y="2299449"/>
            <a:ext cx="249271" cy="249271"/>
          </a:xfrm>
          <a:prstGeom prst="rect">
            <a:avLst/>
          </a:prstGeom>
          <a:noFill/>
          <a:extLst>
            <a:ext uri="{909E8E84-426E-40DD-AFC4-6F175D3DCCD1}">
              <a14:hiddenFill xmlns:a14="http://schemas.microsoft.com/office/drawing/2010/main">
                <a:solidFill>
                  <a:srgbClr val="FFFFFF"/>
                </a:solidFill>
              </a14:hiddenFill>
            </a:ext>
          </a:extLst>
        </p:spPr>
      </p:pic>
      <p:pic>
        <p:nvPicPr>
          <p:cNvPr id="18" name="图片 17">
            <a:extLst>
              <a:ext uri="{FF2B5EF4-FFF2-40B4-BE49-F238E27FC236}">
                <a16:creationId xmlns:a16="http://schemas.microsoft.com/office/drawing/2014/main" id="{BD98C10D-CEBE-C279-A331-7411A8473126}"/>
              </a:ext>
            </a:extLst>
          </p:cNvPr>
          <p:cNvPicPr>
            <a:picLocks noChangeAspect="1"/>
          </p:cNvPicPr>
          <p:nvPr/>
        </p:nvPicPr>
        <p:blipFill>
          <a:blip r:embed="rId4"/>
          <a:stretch>
            <a:fillRect/>
          </a:stretch>
        </p:blipFill>
        <p:spPr>
          <a:xfrm>
            <a:off x="1196000" y="5298744"/>
            <a:ext cx="407765" cy="407765"/>
          </a:xfrm>
          <a:prstGeom prst="rect">
            <a:avLst/>
          </a:prstGeom>
        </p:spPr>
      </p:pic>
    </p:spTree>
    <p:extLst>
      <p:ext uri="{BB962C8B-B14F-4D97-AF65-F5344CB8AC3E}">
        <p14:creationId xmlns:p14="http://schemas.microsoft.com/office/powerpoint/2010/main" val="924172705"/>
      </p:ext>
    </p:extLst>
  </p:cSld>
  <p:clrMapOvr>
    <a:masterClrMapping/>
  </p:clrMapOvr>
  <mc:AlternateContent xmlns:mc="http://schemas.openxmlformats.org/markup-compatibility/2006" xmlns:p14="http://schemas.microsoft.com/office/powerpoint/2010/main">
    <mc:Choice Requires="p14">
      <p:transition spd="slow" p14:dur="2000" advTm="70726"/>
    </mc:Choice>
    <mc:Fallback xmlns="">
      <p:transition spd="slow" advTm="70726"/>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a:extLst>
            <a:ext uri="{FF2B5EF4-FFF2-40B4-BE49-F238E27FC236}">
              <a16:creationId xmlns:a16="http://schemas.microsoft.com/office/drawing/2014/main" id="{FCF63A92-717E-25DA-5397-71E0B1F914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0F7E755-5AC0-ED24-F2D7-62D0E3429D76}"/>
              </a:ext>
            </a:extLst>
          </p:cNvPr>
          <p:cNvSpPr/>
          <p:nvPr/>
        </p:nvSpPr>
        <p:spPr>
          <a:xfrm>
            <a:off x="502920" y="256032"/>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Task D · reflection</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a:extLst>
              <a:ext uri="{FF2B5EF4-FFF2-40B4-BE49-F238E27FC236}">
                <a16:creationId xmlns:a16="http://schemas.microsoft.com/office/drawing/2014/main" id="{DF829484-AC4F-6E26-2CC9-41C6C5E96430}"/>
              </a:ext>
            </a:extLst>
          </p:cNvPr>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30</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15450D24-6416-A4D7-2439-91EEF3DE6CB9}"/>
              </a:ext>
            </a:extLst>
          </p:cNvPr>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a:extLst>
              <a:ext uri="{FF2B5EF4-FFF2-40B4-BE49-F238E27FC236}">
                <a16:creationId xmlns:a16="http://schemas.microsoft.com/office/drawing/2014/main" id="{DF671329-CDB1-904A-E74A-224A8BCDD2C7}"/>
              </a:ext>
            </a:extLst>
          </p:cNvPr>
          <p:cNvSpPr/>
          <p:nvPr/>
        </p:nvSpPr>
        <p:spPr>
          <a:xfrm>
            <a:off x="8412480" y="6428232"/>
            <a:ext cx="33832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Collaboration, EDI, and future work</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文本框 14">
            <a:extLst>
              <a:ext uri="{FF2B5EF4-FFF2-40B4-BE49-F238E27FC236}">
                <a16:creationId xmlns:a16="http://schemas.microsoft.com/office/drawing/2014/main" id="{E8696C34-CE72-60C7-6F01-B4A8E2143470}"/>
              </a:ext>
            </a:extLst>
          </p:cNvPr>
          <p:cNvSpPr txBox="1"/>
          <p:nvPr/>
        </p:nvSpPr>
        <p:spPr>
          <a:xfrm>
            <a:off x="617219" y="708244"/>
            <a:ext cx="426867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Task</a:t>
            </a:r>
            <a:r>
              <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1" lang="en-US"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D</a:t>
            </a:r>
            <a:r>
              <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AI</a:t>
            </a:r>
            <a:r>
              <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a:t>
            </a:r>
            <a:r>
              <a:rPr kumimoji="1" lang="en" altLang="zh-CN"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Assistance </a:t>
            </a:r>
            <a:endParaRPr kumimoji="1" lang="zh-CN" altLang="en-US" sz="3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sp>
        <p:nvSpPr>
          <p:cNvPr id="17" name="Shape 5">
            <a:extLst>
              <a:ext uri="{FF2B5EF4-FFF2-40B4-BE49-F238E27FC236}">
                <a16:creationId xmlns:a16="http://schemas.microsoft.com/office/drawing/2014/main" id="{1A8A946C-23C4-EF05-153E-F2AA9BFAF94A}"/>
              </a:ext>
            </a:extLst>
          </p:cNvPr>
          <p:cNvSpPr/>
          <p:nvPr/>
        </p:nvSpPr>
        <p:spPr>
          <a:xfrm>
            <a:off x="731519" y="1828799"/>
            <a:ext cx="6350413" cy="3985147"/>
          </a:xfrm>
          <a:prstGeom prst="roundRect">
            <a:avLst>
              <a:gd name="adj" fmla="val 3404"/>
            </a:avLst>
          </a:prstGeom>
          <a:solidFill>
            <a:srgbClr val="E1A4C2"/>
          </a:solidFill>
          <a:ln w="12700">
            <a:solidFill>
              <a:srgbClr val="E1A4C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8" name="文本框 17">
            <a:extLst>
              <a:ext uri="{FF2B5EF4-FFF2-40B4-BE49-F238E27FC236}">
                <a16:creationId xmlns:a16="http://schemas.microsoft.com/office/drawing/2014/main" id="{48022D9F-845A-C27A-776E-2123F5E0135F}"/>
              </a:ext>
            </a:extLst>
          </p:cNvPr>
          <p:cNvSpPr txBox="1"/>
          <p:nvPr/>
        </p:nvSpPr>
        <p:spPr>
          <a:xfrm>
            <a:off x="910988" y="2152465"/>
            <a:ext cx="5871949" cy="34163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[1] OpenAI GPT and Codex, available at https://</a:t>
            </a:r>
            <a:r>
              <a:rPr kumimoji="1" lang="en" altLang="zh-CN" sz="12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openai.com</a:t>
            </a:r>
            <a:r>
              <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Used for general guidance and clarification during the development of the AWT/Swing graphical user interface, including interface design suggestions, explanation of Java GUI concepts, and improvement of implementation clarity. These tools were not used to directly generate the project’s final core algorithm code.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[2] Claude Code, available at https://</a:t>
            </a:r>
            <a:r>
              <a:rPr kumimoji="1" lang="en" altLang="zh-CN" sz="12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www.anthropic.com</a:t>
            </a:r>
            <a:r>
              <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Used together with the public GitHub repository </a:t>
            </a:r>
            <a:r>
              <a:rPr kumimoji="1" lang="en" altLang="zh-CN" sz="1200" b="0" i="1"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beautiful-html-templates</a:t>
            </a:r>
            <a:r>
              <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to assist in the design and preparation of the presentation template. This use was limited to presentation and visual material preparation rather than the implementation of the assessed project algorithms.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[3] </a:t>
            </a:r>
            <a:r>
              <a:rPr kumimoji="1" lang="en" altLang="zh-CN" sz="1200" b="0" i="1"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beautiful-html-templates</a:t>
            </a:r>
            <a:r>
              <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 GitHub public repository.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Used as a reference resource for presentation template design and visual layout.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[4] JIRA, available at https://</a:t>
            </a:r>
            <a:r>
              <a:rPr kumimoji="1" lang="en" altLang="zh-CN" sz="12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www.atlassian.com</a:t>
            </a:r>
            <a:r>
              <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/software/</a:t>
            </a:r>
            <a:r>
              <a:rPr kumimoji="1" lang="en" altLang="zh-CN" sz="1200" b="0" i="0" u="none" strike="noStrike" kern="1200" cap="none" spc="0" normalizeH="0" baseline="0" noProof="0" dirty="0" err="1">
                <a:ln>
                  <a:noFill/>
                </a:ln>
                <a:solidFill>
                  <a:prstClr val="black"/>
                </a:solidFill>
                <a:effectLst/>
                <a:uLnTx/>
                <a:uFillTx/>
                <a:latin typeface="Georgia"/>
                <a:ea typeface="等线" panose="02010600030101010101" pitchFamily="2" charset="-122"/>
                <a:cs typeface="+mn-cs"/>
              </a:rPr>
              <a:t>jira</a:t>
            </a:r>
            <a:r>
              <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rPr>
              <a:t>Used for project progress tracking, task allocation, and team coordination, in order to support clear division of work and efficient communication.</a:t>
            </a:r>
            <a:endParaRPr kumimoji="1" lang="zh-CN" altLang="en-US" sz="1200" b="0" i="0" u="none" strike="noStrike" kern="1200" cap="none" spc="0" normalizeH="0" baseline="0" noProof="0" dirty="0">
              <a:ln>
                <a:noFill/>
              </a:ln>
              <a:solidFill>
                <a:prstClr val="black"/>
              </a:solidFill>
              <a:effectLst/>
              <a:uLnTx/>
              <a:uFillTx/>
              <a:latin typeface="Georgia"/>
              <a:ea typeface="等线" panose="02010600030101010101" pitchFamily="2" charset="-122"/>
              <a:cs typeface="+mn-cs"/>
            </a:endParaRPr>
          </a:p>
        </p:txBody>
      </p:sp>
      <p:pic>
        <p:nvPicPr>
          <p:cNvPr id="22" name="图片 21">
            <a:extLst>
              <a:ext uri="{FF2B5EF4-FFF2-40B4-BE49-F238E27FC236}">
                <a16:creationId xmlns:a16="http://schemas.microsoft.com/office/drawing/2014/main" id="{B6324D29-0BDB-6669-ADCB-F3B41D4D95AA}"/>
              </a:ext>
            </a:extLst>
          </p:cNvPr>
          <p:cNvPicPr>
            <a:picLocks noChangeAspect="1"/>
          </p:cNvPicPr>
          <p:nvPr/>
        </p:nvPicPr>
        <p:blipFill>
          <a:blip r:embed="rId3"/>
          <a:stretch>
            <a:fillRect/>
          </a:stretch>
        </p:blipFill>
        <p:spPr>
          <a:xfrm>
            <a:off x="7789272" y="2698375"/>
            <a:ext cx="2152465" cy="2152465"/>
          </a:xfrm>
          <a:prstGeom prst="rect">
            <a:avLst/>
          </a:prstGeom>
        </p:spPr>
      </p:pic>
      <p:pic>
        <p:nvPicPr>
          <p:cNvPr id="24" name="图片 23">
            <a:extLst>
              <a:ext uri="{FF2B5EF4-FFF2-40B4-BE49-F238E27FC236}">
                <a16:creationId xmlns:a16="http://schemas.microsoft.com/office/drawing/2014/main" id="{46A489B7-6F19-22CE-52FD-9A252212D077}"/>
              </a:ext>
            </a:extLst>
          </p:cNvPr>
          <p:cNvPicPr>
            <a:picLocks noChangeAspect="1"/>
          </p:cNvPicPr>
          <p:nvPr/>
        </p:nvPicPr>
        <p:blipFill>
          <a:blip r:embed="rId4"/>
          <a:stretch>
            <a:fillRect/>
          </a:stretch>
        </p:blipFill>
        <p:spPr>
          <a:xfrm>
            <a:off x="9142052" y="2385193"/>
            <a:ext cx="3416320" cy="3416320"/>
          </a:xfrm>
          <a:prstGeom prst="rect">
            <a:avLst/>
          </a:prstGeom>
        </p:spPr>
      </p:pic>
      <p:pic>
        <p:nvPicPr>
          <p:cNvPr id="28" name="图片 27">
            <a:extLst>
              <a:ext uri="{FF2B5EF4-FFF2-40B4-BE49-F238E27FC236}">
                <a16:creationId xmlns:a16="http://schemas.microsoft.com/office/drawing/2014/main" id="{FFA296A4-F259-C20E-C1C7-510550385BB2}"/>
              </a:ext>
            </a:extLst>
          </p:cNvPr>
          <p:cNvPicPr>
            <a:picLocks noChangeAspect="1"/>
          </p:cNvPicPr>
          <p:nvPr/>
        </p:nvPicPr>
        <p:blipFill>
          <a:blip r:embed="rId5"/>
          <a:stretch>
            <a:fillRect/>
          </a:stretch>
        </p:blipFill>
        <p:spPr>
          <a:xfrm>
            <a:off x="7261401" y="1065414"/>
            <a:ext cx="2473520" cy="2473520"/>
          </a:xfrm>
          <a:prstGeom prst="rect">
            <a:avLst/>
          </a:prstGeom>
        </p:spPr>
      </p:pic>
      <p:pic>
        <p:nvPicPr>
          <p:cNvPr id="30" name="图片 29">
            <a:extLst>
              <a:ext uri="{FF2B5EF4-FFF2-40B4-BE49-F238E27FC236}">
                <a16:creationId xmlns:a16="http://schemas.microsoft.com/office/drawing/2014/main" id="{D290EF99-F75C-5FB1-052B-933AC23FC24F}"/>
              </a:ext>
            </a:extLst>
          </p:cNvPr>
          <p:cNvPicPr>
            <a:picLocks noChangeAspect="1"/>
          </p:cNvPicPr>
          <p:nvPr/>
        </p:nvPicPr>
        <p:blipFill>
          <a:blip r:embed="rId6"/>
          <a:stretch>
            <a:fillRect/>
          </a:stretch>
        </p:blipFill>
        <p:spPr>
          <a:xfrm>
            <a:off x="7448304" y="4395036"/>
            <a:ext cx="2033196" cy="2033196"/>
          </a:xfrm>
          <a:prstGeom prst="rect">
            <a:avLst/>
          </a:prstGeom>
        </p:spPr>
      </p:pic>
      <p:pic>
        <p:nvPicPr>
          <p:cNvPr id="32" name="图片 31">
            <a:extLst>
              <a:ext uri="{FF2B5EF4-FFF2-40B4-BE49-F238E27FC236}">
                <a16:creationId xmlns:a16="http://schemas.microsoft.com/office/drawing/2014/main" id="{E25D2097-B71B-C90E-931D-2DC02B4953EC}"/>
              </a:ext>
            </a:extLst>
          </p:cNvPr>
          <p:cNvPicPr>
            <a:picLocks noChangeAspect="1"/>
          </p:cNvPicPr>
          <p:nvPr/>
        </p:nvPicPr>
        <p:blipFill>
          <a:blip r:embed="rId7"/>
          <a:stretch>
            <a:fillRect/>
          </a:stretch>
        </p:blipFill>
        <p:spPr>
          <a:xfrm>
            <a:off x="9734921" y="1668907"/>
            <a:ext cx="2152465" cy="2152465"/>
          </a:xfrm>
          <a:prstGeom prst="rect">
            <a:avLst/>
          </a:prstGeom>
        </p:spPr>
      </p:pic>
      <p:pic>
        <p:nvPicPr>
          <p:cNvPr id="34" name="图片 33">
            <a:extLst>
              <a:ext uri="{FF2B5EF4-FFF2-40B4-BE49-F238E27FC236}">
                <a16:creationId xmlns:a16="http://schemas.microsoft.com/office/drawing/2014/main" id="{9BEBB661-2F50-43A7-6A17-63733739ACAD}"/>
              </a:ext>
            </a:extLst>
          </p:cNvPr>
          <p:cNvPicPr>
            <a:picLocks noChangeAspect="1"/>
          </p:cNvPicPr>
          <p:nvPr/>
        </p:nvPicPr>
        <p:blipFill>
          <a:blip r:embed="rId8"/>
          <a:stretch>
            <a:fillRect/>
          </a:stretch>
        </p:blipFill>
        <p:spPr>
          <a:xfrm>
            <a:off x="9077847" y="3570111"/>
            <a:ext cx="3114153" cy="3114153"/>
          </a:xfrm>
          <a:prstGeom prst="rect">
            <a:avLst/>
          </a:prstGeom>
        </p:spPr>
      </p:pic>
    </p:spTree>
    <p:extLst>
      <p:ext uri="{BB962C8B-B14F-4D97-AF65-F5344CB8AC3E}">
        <p14:creationId xmlns:p14="http://schemas.microsoft.com/office/powerpoint/2010/main" val="3668917126"/>
      </p:ext>
    </p:extLst>
  </p:cSld>
  <p:clrMapOvr>
    <a:masterClrMapping/>
  </p:clrMapOvr>
  <mc:AlternateContent xmlns:mc="http://schemas.openxmlformats.org/markup-compatibility/2006" xmlns:p14="http://schemas.microsoft.com/office/powerpoint/2010/main">
    <mc:Choice Requires="p14">
      <p:transition spd="slow" p14:dur="2000" advTm="16598"/>
    </mc:Choice>
    <mc:Fallback xmlns="">
      <p:transition spd="slow" advTm="16598"/>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2EED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Conclusion</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11338560" y="2560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502920" y="6428232"/>
            <a:ext cx="1280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May 2026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 3"/>
          <p:cNvSpPr/>
          <p:nvPr/>
        </p:nvSpPr>
        <p:spPr>
          <a:xfrm>
            <a:off x="8412480" y="6428232"/>
            <a:ext cx="33832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Thank you</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p:cNvSpPr/>
          <p:nvPr/>
        </p:nvSpPr>
        <p:spPr>
          <a:xfrm>
            <a:off x="822960" y="1325880"/>
            <a:ext cx="530352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One project, three core lessons.</a:t>
            </a:r>
            <a:endParaRPr kumimoji="0" lang="en-US" sz="28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868680" y="2331720"/>
            <a:ext cx="3246120" cy="2240280"/>
          </a:xfrm>
          <a:prstGeom prst="roundRect">
            <a:avLst>
              <a:gd name="adj" fmla="val 3265"/>
            </a:avLst>
          </a:prstGeom>
          <a:solidFill>
            <a:srgbClr val="E1A4C2"/>
          </a:solidFill>
          <a:ln w="12700">
            <a:solidFill>
              <a:srgbClr val="E1A4C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8" name="Text 6"/>
          <p:cNvSpPr/>
          <p:nvPr/>
        </p:nvSpPr>
        <p:spPr>
          <a:xfrm>
            <a:off x="1033272" y="2478024"/>
            <a:ext cx="291693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Lesson 1</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1033272" y="2898648"/>
            <a:ext cx="2916936" cy="15270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Sorting performance depends strongly on dataset characteristics, so algorithm choice should follow data rather than theory alone.</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4297680" y="2331720"/>
            <a:ext cx="3246120" cy="2240280"/>
          </a:xfrm>
          <a:prstGeom prst="roundRect">
            <a:avLst>
              <a:gd name="adj" fmla="val 3265"/>
            </a:avLst>
          </a:prstGeom>
          <a:solidFill>
            <a:srgbClr val="D6DD63"/>
          </a:solidFill>
          <a:ln w="12700">
            <a:solidFill>
              <a:srgbClr val="D6DD6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1" name="Text 9"/>
          <p:cNvSpPr/>
          <p:nvPr/>
        </p:nvSpPr>
        <p:spPr>
          <a:xfrm>
            <a:off x="4462272" y="2478024"/>
            <a:ext cx="291693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Lesson 2</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10"/>
          <p:cNvSpPr/>
          <p:nvPr/>
        </p:nvSpPr>
        <p:spPr>
          <a:xfrm>
            <a:off x="4462272" y="2898648"/>
            <a:ext cx="2916936" cy="15270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Dijkstra is effective for the current weighted graph and required route cases, but shortest local queries are not full inspection optimization.</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Shape 11"/>
          <p:cNvSpPr/>
          <p:nvPr/>
        </p:nvSpPr>
        <p:spPr>
          <a:xfrm>
            <a:off x="7726680" y="2331720"/>
            <a:ext cx="3246120" cy="2240280"/>
          </a:xfrm>
          <a:prstGeom prst="roundRect">
            <a:avLst>
              <a:gd name="adj" fmla="val 3265"/>
            </a:avLst>
          </a:prstGeom>
          <a:solidFill>
            <a:srgbClr val="E8C9B6"/>
          </a:solidFill>
          <a:ln w="12700">
            <a:solidFill>
              <a:srgbClr val="E8C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4" name="Text 12"/>
          <p:cNvSpPr/>
          <p:nvPr/>
        </p:nvSpPr>
        <p:spPr>
          <a:xfrm>
            <a:off x="7891272" y="2478024"/>
            <a:ext cx="291693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Lesson 3</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Text 13"/>
          <p:cNvSpPr/>
          <p:nvPr/>
        </p:nvSpPr>
        <p:spPr>
          <a:xfrm>
            <a:off x="7891272" y="2898648"/>
            <a:ext cx="2916936" cy="15270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A241B"/>
                </a:solidFill>
                <a:effectLst/>
                <a:uLnTx/>
                <a:uFillTx/>
                <a:latin typeface="Aptos" pitchFamily="34" charset="0"/>
                <a:ea typeface="Aptos" pitchFamily="34" charset="-122"/>
                <a:cs typeface="Aptos" pitchFamily="34" charset="-120"/>
              </a:rPr>
              <a:t>Clear object-oriented design makes the program easier to understand, maintain, and extend for future improvements.</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Text 14"/>
          <p:cNvSpPr/>
          <p:nvPr/>
        </p:nvSpPr>
        <p:spPr>
          <a:xfrm>
            <a:off x="868680" y="5074920"/>
            <a:ext cx="36576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2A241B"/>
                </a:solidFill>
                <a:effectLst/>
                <a:uLnTx/>
                <a:uFillTx/>
                <a:latin typeface="Georgia" pitchFamily="34" charset="0"/>
                <a:ea typeface="Georgia" pitchFamily="34" charset="-122"/>
                <a:cs typeface="Georgia" pitchFamily="34" charset="-120"/>
              </a:rPr>
              <a:t>Thank you for listening.</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
            <a:extLst>
              <a:ext uri="{FF2B5EF4-FFF2-40B4-BE49-F238E27FC236}">
                <a16:creationId xmlns:a16="http://schemas.microsoft.com/office/drawing/2014/main" id="{77023099-0B2A-E64E-9AE1-21B79D200540}"/>
              </a:ext>
            </a:extLst>
          </p:cNvPr>
          <p:cNvSpPr/>
          <p:nvPr/>
        </p:nvSpPr>
        <p:spPr>
          <a:xfrm>
            <a:off x="11490960" y="40843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dirty="0">
                <a:ln>
                  <a:noFill/>
                </a:ln>
                <a:solidFill>
                  <a:srgbClr val="5C5345"/>
                </a:solidFill>
                <a:effectLst/>
                <a:uLnTx/>
                <a:uFillTx/>
                <a:latin typeface="Georgia" pitchFamily="34" charset="0"/>
                <a:ea typeface="Georgia" pitchFamily="34" charset="-122"/>
                <a:cs typeface="Georgia" pitchFamily="34" charset="-120"/>
              </a:rPr>
              <a:t>31</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advTm="26830"/>
    </mc:Choice>
    <mc:Fallback xmlns="">
      <p:transition spd="slow" advTm="2683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2481</TotalTime>
  <Words>3943</Words>
  <Application>Microsoft Macintosh PowerPoint</Application>
  <PresentationFormat>宽屏</PresentationFormat>
  <Paragraphs>623</Paragraphs>
  <Slides>31</Slides>
  <Notes>31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31</vt:i4>
      </vt:variant>
    </vt:vector>
  </HeadingPairs>
  <TitlesOfParts>
    <vt:vector size="38" baseType="lpstr">
      <vt:lpstr>等线</vt:lpstr>
      <vt:lpstr>等线</vt:lpstr>
      <vt:lpstr>Aptos</vt:lpstr>
      <vt:lpstr>Arial</vt:lpstr>
      <vt:lpstr>Cambria Math</vt:lpstr>
      <vt:lpstr>Georgia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XJTLU CPT204 Group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Infrastructure Inspection System</dc:title>
  <dc:subject>Urban Infrastructure Inspection System</dc:subject>
  <dc:creator>OpenAI Codex</dc:creator>
  <cp:lastModifiedBy>a72430</cp:lastModifiedBy>
  <cp:revision>15</cp:revision>
  <dcterms:created xsi:type="dcterms:W3CDTF">2026-05-23T11:50:04Z</dcterms:created>
  <dcterms:modified xsi:type="dcterms:W3CDTF">2026-05-25T07:25:13Z</dcterms:modified>
</cp:coreProperties>
</file>