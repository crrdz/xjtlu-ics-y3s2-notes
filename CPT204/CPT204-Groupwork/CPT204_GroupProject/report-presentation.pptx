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eac32a1f314415" /><Relationship Type="http://schemas.openxmlformats.org/officeDocument/2006/relationships/extended-properties" Target="/docProps/app.xml" Id="R3fce9b3588804e15" /><Relationship Type="http://schemas.openxmlformats.org/officeDocument/2006/relationships/officeDocument" Target="/ppt/presentation.xml" Id="R4afdfe3b93aa4dbf" /></Relationships>
</file>

<file path=ppt/presentation.xml><?xml version="1.0" encoding="utf-8"?>
<p:presentation xmlns:p="http://schemas.openxmlformats.org/presentationml/2006/main">
  <p:sldMasterIdLst>
    <p:sldMasterId xmlns:r="http://schemas.openxmlformats.org/officeDocument/2006/relationships" id="2147483648" r:id="R777975ee6fec480f"/>
  </p:sldMasterIdLst>
  <p:notesMasterIdLst>
    <p:notesMasterId xmlns:r="http://schemas.openxmlformats.org/officeDocument/2006/relationships" r:id="Raf74218edc214aad"/>
  </p:notesMasterIdLst>
  <p:sldIdLst>
    <p:sldId xmlns:r="http://schemas.openxmlformats.org/officeDocument/2006/relationships" id="256" r:id="R3e1e0afdb2d34cc8"/>
    <p:sldId xmlns:r="http://schemas.openxmlformats.org/officeDocument/2006/relationships" id="257" r:id="Ra371d356e39840ec"/>
    <p:sldId xmlns:r="http://schemas.openxmlformats.org/officeDocument/2006/relationships" id="258" r:id="Rf03a8aa860544efb"/>
    <p:sldId xmlns:r="http://schemas.openxmlformats.org/officeDocument/2006/relationships" id="259" r:id="R3cef9adf557144a5"/>
    <p:sldId xmlns:r="http://schemas.openxmlformats.org/officeDocument/2006/relationships" id="260" r:id="Ra973705720d74df2"/>
    <p:sldId xmlns:r="http://schemas.openxmlformats.org/officeDocument/2006/relationships" id="261" r:id="Ra4d733d800e84d19"/>
    <p:sldId xmlns:r="http://schemas.openxmlformats.org/officeDocument/2006/relationships" id="262" r:id="R420abc0721804e99"/>
    <p:sldId xmlns:r="http://schemas.openxmlformats.org/officeDocument/2006/relationships" id="263" r:id="R8853153314654ffa"/>
    <p:sldId xmlns:r="http://schemas.openxmlformats.org/officeDocument/2006/relationships" id="264" r:id="Rf4e46b00b445433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77975ee6fec480f" /><Relationship Type="http://schemas.openxmlformats.org/officeDocument/2006/relationships/theme" Target="/ppt/theme/theme1.xml" Id="R2125eee13a81405e" /><Relationship Type="http://schemas.openxmlformats.org/officeDocument/2006/relationships/notesMaster" Target="/ppt/notesMasters/notesMaster1.xml" Id="Raf74218edc214aad" /><Relationship Type="http://schemas.openxmlformats.org/officeDocument/2006/relationships/presProps" Target="/ppt/presProps.xml" Id="R70dd5ec119604a02" /><Relationship Type="http://schemas.openxmlformats.org/officeDocument/2006/relationships/viewProps" Target="/ppt/viewProps.xml" Id="R543f581aceb94bd8" /><Relationship Type="http://schemas.openxmlformats.org/officeDocument/2006/relationships/tableStyles" Target="/ppt/tableStyles.xml" Id="R3b642a7740af4ace" /><Relationship Type="http://schemas.openxmlformats.org/officeDocument/2006/relationships/slide" Target="/ppt/slides/slide1.xml" Id="R3e1e0afdb2d34cc8" /><Relationship Type="http://schemas.openxmlformats.org/officeDocument/2006/relationships/slide" Target="/ppt/slides/slide2.xml" Id="Ra371d356e39840ec" /><Relationship Type="http://schemas.openxmlformats.org/officeDocument/2006/relationships/slide" Target="/ppt/slides/slide3.xml" Id="Rf03a8aa860544efb" /><Relationship Type="http://schemas.openxmlformats.org/officeDocument/2006/relationships/slide" Target="/ppt/slides/slide4.xml" Id="R3cef9adf557144a5" /><Relationship Type="http://schemas.openxmlformats.org/officeDocument/2006/relationships/slide" Target="/ppt/slides/slide5.xml" Id="Ra973705720d74df2" /><Relationship Type="http://schemas.openxmlformats.org/officeDocument/2006/relationships/slide" Target="/ppt/slides/slide6.xml" Id="Ra4d733d800e84d19" /><Relationship Type="http://schemas.openxmlformats.org/officeDocument/2006/relationships/slide" Target="/ppt/slides/slide7.xml" Id="R420abc0721804e99" /><Relationship Type="http://schemas.openxmlformats.org/officeDocument/2006/relationships/slide" Target="/ppt/slides/slide8.xml" Id="R8853153314654ffa" /><Relationship Type="http://schemas.openxmlformats.org/officeDocument/2006/relationships/slide" Target="/ppt/slides/slide9.xml" Id="Rf4e46b00b44543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8a19d5ebeb245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b4049c073644bc" /><Relationship Type="http://schemas.openxmlformats.org/officeDocument/2006/relationships/notesMaster" Target="/ppt/notesMasters/notesMaster1.xml" Id="Rdb56a11913844e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70f9be985340bc" /><Relationship Type="http://schemas.openxmlformats.org/officeDocument/2006/relationships/notesMaster" Target="/ppt/notesMasters/notesMaster1.xml" Id="R9b629fc1ff7649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e690a2156344c2" /><Relationship Type="http://schemas.openxmlformats.org/officeDocument/2006/relationships/notesMaster" Target="/ppt/notesMasters/notesMaster1.xml" Id="Ra26fbee64e344c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021d48399a4e35" /><Relationship Type="http://schemas.openxmlformats.org/officeDocument/2006/relationships/notesMaster" Target="/ppt/notesMasters/notesMaster1.xml" Id="Rce89dcd711e246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89aeea298480b" /><Relationship Type="http://schemas.openxmlformats.org/officeDocument/2006/relationships/notesMaster" Target="/ppt/notesMasters/notesMaster1.xml" Id="Ra0be2f8dfdd94a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d0a7a9c7b444b9" /><Relationship Type="http://schemas.openxmlformats.org/officeDocument/2006/relationships/notesMaster" Target="/ppt/notesMasters/notesMaster1.xml" Id="R24f62dd1d14344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dd2ff18e404822" /><Relationship Type="http://schemas.openxmlformats.org/officeDocument/2006/relationships/notesMaster" Target="/ppt/notesMasters/notesMaster1.xml" Id="R48e39053b13d4c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06ef90cc9b41bd" /><Relationship Type="http://schemas.openxmlformats.org/officeDocument/2006/relationships/notesMaster" Target="/ppt/notesMasters/notesMaster1.xml" Id="R17e3841f630244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acd8c54e84e86" /><Relationship Type="http://schemas.openxmlformats.org/officeDocument/2006/relationships/notesMaster" Target="/ppt/notesMasters/notesMaster1.xml" Id="R99c845f37f9f48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07320dbc9d412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7d07b4399714e4b" /><Relationship Type="http://schemas.openxmlformats.org/officeDocument/2006/relationships/slideLayout" Target="/ppt/slideLayouts/slideLayout2.xml" Id="R0a1b7f9a93bc49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1b7f9a93bc49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634e907c2d7547c8" /><Relationship Type="http://schemas.openxmlformats.org/officeDocument/2006/relationships/notesSlide" Target="/ppt/notesSlides/notesSlide1.xml" Id="Rae7d38cfc71b45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c32094abd524d54" /><Relationship Type="http://schemas.openxmlformats.org/officeDocument/2006/relationships/notesSlide" Target="/ppt/notesSlides/notesSlide2.xml" Id="R4cd531f4d04946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b80830b3f314d0b" /><Relationship Type="http://schemas.openxmlformats.org/officeDocument/2006/relationships/notesSlide" Target="/ppt/notesSlides/notesSlide3.xml" Id="R13c6d5294900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4f1adf97b1f4c39" /><Relationship Type="http://schemas.openxmlformats.org/officeDocument/2006/relationships/notesSlide" Target="/ppt/notesSlides/notesSlide4.xml" Id="R3d3cc348650943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66f4439e6394cc2" /><Relationship Type="http://schemas.openxmlformats.org/officeDocument/2006/relationships/notesSlide" Target="/ppt/notesSlides/notesSlide5.xml" Id="Raa688b44bd4f40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05eb8e4ec264ef7" /><Relationship Type="http://schemas.openxmlformats.org/officeDocument/2006/relationships/notesSlide" Target="/ppt/notesSlides/notesSlide6.xml" Id="R66b9ace1300947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afcd8f5b5e24acb" /><Relationship Type="http://schemas.openxmlformats.org/officeDocument/2006/relationships/notesSlide" Target="/ppt/notesSlides/notesSlide7.xml" Id="Rcaf1fd962e2f43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715d1cbf08a4a8b" /><Relationship Type="http://schemas.openxmlformats.org/officeDocument/2006/relationships/notesSlide" Target="/ppt/notesSlides/notesSlide8.xml" Id="R5b6400fa88804c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a6e5c8d30f24259" /><Relationship Type="http://schemas.openxmlformats.org/officeDocument/2006/relationships/notesSlide" Target="/ppt/notesSlides/notesSlide9.xml" Id="Rcea6cd6019a04b8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B51DBA-7D5C-40F0-889F-002A21D1F9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88269A3-E51A-45FA-84CB-EDABFD088A29}"/>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6ED89BA3-CE1A-41D3-B3A8-60337F6F80D0}"/>
              </a:ext>
            </a:extLst>
          </p:cNvPr>
          <p:cNvSpPr>
            <a:spLocks xmlns:a="http://schemas.openxmlformats.org/drawingml/2006/main" noGrp="1"/>
          </p:cNvSpPr>
          <p:nvPr/>
        </p:nvSpPr>
        <p:spPr>
          <a:xfrm xmlns:a="http://schemas.openxmlformats.org/drawingml/2006/main">
            <a:off x="666750" y="1352550"/>
            <a:ext cx="6858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202326"/>
                </a:solidFill>
                <a:latin typeface="Aptos Display"/>
                <a:ea typeface="Aptos Display"/>
                <a:cs typeface="Aptos Display"/>
              </a:defRPr>
            </a:pPr>
            <a:r>
              <a:rPr sz="3600" b="1">
                <a:solidFill>
                  <a:srgbClr val="202326"/>
                </a:solidFill>
                <a:latin typeface="Aptos Display"/>
                <a:ea typeface="Aptos Display"/>
                <a:cs typeface="Aptos Display"/>
              </a:rPr>
              <a:t>Urban Infrastructure</a:t>
            </a:r>
          </a:p>
          <a:p xmlns:a="http://schemas.openxmlformats.org/drawingml/2006/main">
            <a:pPr algn="l">
              <a:defRPr sz="3600" b="1">
                <a:solidFill>
                  <a:srgbClr val="202326"/>
                </a:solidFill>
                <a:latin typeface="Aptos Display"/>
                <a:ea typeface="Aptos Display"/>
                <a:cs typeface="Aptos Display"/>
              </a:defRPr>
            </a:pPr>
            <a:r>
              <a:rPr sz="3600" b="1">
                <a:solidFill>
                  <a:srgbClr val="202326"/>
                </a:solidFill>
                <a:latin typeface="Aptos Display"/>
                <a:ea typeface="Aptos Display"/>
                <a:cs typeface="Aptos Display"/>
              </a:rPr>
              <a:t>Inspection System</a:t>
            </a:r>
          </a:p>
        </p:txBody>
      </p:sp>
      <p:sp>
        <p:nvSpPr>
          <p:cNvPr id="4" name="">
            <a:extLst xmlns:a="http://schemas.openxmlformats.org/drawingml/2006/main">
              <a:ext uri="{FF2B5EF4-FFF2-40B4-BE49-F238E27FC236}">
                <a16:creationId xmlns:a16="http://schemas.microsoft.com/office/drawing/2014/main" id="{B86D14F6-68EE-4E4A-AA97-FD4A2BA433EC}"/>
              </a:ext>
            </a:extLst>
          </p:cNvPr>
          <p:cNvSpPr>
            <a:spLocks xmlns:a="http://schemas.openxmlformats.org/drawingml/2006/main" noGrp="1"/>
          </p:cNvSpPr>
          <p:nvPr/>
        </p:nvSpPr>
        <p:spPr>
          <a:xfrm xmlns:a="http://schemas.openxmlformats.org/drawingml/2006/main">
            <a:off x="704850" y="28956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C7178"/>
                </a:solidFill>
                <a:latin typeface="Aptos"/>
                <a:ea typeface="Aptos"/>
                <a:cs typeface="Aptos"/>
              </a:defRPr>
            </a:pPr>
            <a:r>
              <a:rPr sz="1350" b="0">
                <a:solidFill>
                  <a:srgbClr val="6C7178"/>
                </a:solidFill>
                <a:latin typeface="Aptos"/>
                <a:ea typeface="Aptos"/>
                <a:cs typeface="Aptos"/>
              </a:rPr>
              <a:t>A Java application for ranking candidate inspection locations and computing weighted shortest routes.</a:t>
            </a:r>
          </a:p>
        </p:txBody>
      </p:sp>
      <p:sp>
        <p:nvSpPr>
          <p:cNvPr id="5" name="">
            <a:extLst xmlns:a="http://schemas.openxmlformats.org/drawingml/2006/main">
              <a:ext uri="{FF2B5EF4-FFF2-40B4-BE49-F238E27FC236}">
                <a16:creationId xmlns:a16="http://schemas.microsoft.com/office/drawing/2014/main" id="{523B8797-1FB8-4D3F-B16A-8C9C76AE9053}"/>
              </a:ext>
            </a:extLst>
          </p:cNvPr>
          <p:cNvSpPr>
            <a:spLocks xmlns:a="http://schemas.openxmlformats.org/drawingml/2006/main" noGrp="1"/>
          </p:cNvSpPr>
          <p:nvPr/>
        </p:nvSpPr>
        <p:spPr>
          <a:xfrm xmlns:a="http://schemas.openxmlformats.org/drawingml/2006/main">
            <a:off x="704850" y="3981450"/>
            <a:ext cx="10668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246B57"/>
            </a:solidFill>
            <a:prstDash val="solid"/>
          </a:ln>
        </p:spPr>
      </p:sp>
      <p:sp>
        <p:nvSpPr>
          <p:cNvPr id="6" name="">
            <a:extLst xmlns:a="http://schemas.openxmlformats.org/drawingml/2006/main">
              <a:ext uri="{FF2B5EF4-FFF2-40B4-BE49-F238E27FC236}">
                <a16:creationId xmlns:a16="http://schemas.microsoft.com/office/drawing/2014/main" id="{34BE70AA-6219-4982-B712-284DCA5ED790}"/>
              </a:ext>
            </a:extLst>
          </p:cNvPr>
          <p:cNvSpPr>
            <a:spLocks xmlns:a="http://schemas.openxmlformats.org/drawingml/2006/main" noGrp="1"/>
          </p:cNvSpPr>
          <p:nvPr/>
        </p:nvSpPr>
        <p:spPr>
          <a:xfrm xmlns:a="http://schemas.openxmlformats.org/drawingml/2006/main">
            <a:off x="800100" y="4057650"/>
            <a:ext cx="876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246B57"/>
                </a:solidFill>
                <a:latin typeface="Aptos"/>
                <a:ea typeface="Aptos"/>
                <a:cs typeface="Aptos"/>
              </a:defRPr>
            </a:pPr>
            <a:r>
              <a:rPr sz="675" b="1">
                <a:solidFill>
                  <a:srgbClr val="246B57"/>
                </a:solidFill>
                <a:latin typeface="Aptos"/>
                <a:ea typeface="Aptos"/>
                <a:cs typeface="Aptos"/>
              </a:rPr>
              <a:t>SORTING</a:t>
            </a:r>
          </a:p>
        </p:txBody>
      </p:sp>
      <p:sp>
        <p:nvSpPr>
          <p:cNvPr id="7" name="">
            <a:extLst xmlns:a="http://schemas.openxmlformats.org/drawingml/2006/main">
              <a:ext uri="{FF2B5EF4-FFF2-40B4-BE49-F238E27FC236}">
                <a16:creationId xmlns:a16="http://schemas.microsoft.com/office/drawing/2014/main" id="{D9BA9ECC-AF3F-415E-8713-47690CEBA46E}"/>
              </a:ext>
            </a:extLst>
          </p:cNvPr>
          <p:cNvSpPr>
            <a:spLocks xmlns:a="http://schemas.openxmlformats.org/drawingml/2006/main" noGrp="1"/>
          </p:cNvSpPr>
          <p:nvPr/>
        </p:nvSpPr>
        <p:spPr>
          <a:xfrm xmlns:a="http://schemas.openxmlformats.org/drawingml/2006/main">
            <a:off x="1962150" y="398145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315E91"/>
            </a:solidFill>
            <a:prstDash val="solid"/>
          </a:ln>
        </p:spPr>
      </p:sp>
      <p:sp>
        <p:nvSpPr>
          <p:cNvPr id="8" name="">
            <a:extLst xmlns:a="http://schemas.openxmlformats.org/drawingml/2006/main">
              <a:ext uri="{FF2B5EF4-FFF2-40B4-BE49-F238E27FC236}">
                <a16:creationId xmlns:a16="http://schemas.microsoft.com/office/drawing/2014/main" id="{6AB67FEE-D4CF-4936-8CFC-44784ABDCB28}"/>
              </a:ext>
            </a:extLst>
          </p:cNvPr>
          <p:cNvSpPr>
            <a:spLocks xmlns:a="http://schemas.openxmlformats.org/drawingml/2006/main" noGrp="1"/>
          </p:cNvSpPr>
          <p:nvPr/>
        </p:nvSpPr>
        <p:spPr>
          <a:xfrm xmlns:a="http://schemas.openxmlformats.org/drawingml/2006/main">
            <a:off x="2057400" y="4057650"/>
            <a:ext cx="800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315E91"/>
                </a:solidFill>
                <a:latin typeface="Aptos"/>
                <a:ea typeface="Aptos"/>
                <a:cs typeface="Aptos"/>
              </a:defRPr>
            </a:pPr>
            <a:r>
              <a:rPr sz="675" b="1">
                <a:solidFill>
                  <a:srgbClr val="315E91"/>
                </a:solidFill>
                <a:latin typeface="Aptos"/>
                <a:ea typeface="Aptos"/>
                <a:cs typeface="Aptos"/>
              </a:rPr>
              <a:t>GRAPH</a:t>
            </a:r>
          </a:p>
        </p:txBody>
      </p:sp>
      <p:sp>
        <p:nvSpPr>
          <p:cNvPr id="9" name="">
            <a:extLst xmlns:a="http://schemas.openxmlformats.org/drawingml/2006/main">
              <a:ext uri="{FF2B5EF4-FFF2-40B4-BE49-F238E27FC236}">
                <a16:creationId xmlns:a16="http://schemas.microsoft.com/office/drawing/2014/main" id="{4FB18221-2AFA-46DA-9CA4-0F75D866B110}"/>
              </a:ext>
            </a:extLst>
          </p:cNvPr>
          <p:cNvSpPr>
            <a:spLocks xmlns:a="http://schemas.openxmlformats.org/drawingml/2006/main" noGrp="1"/>
          </p:cNvSpPr>
          <p:nvPr/>
        </p:nvSpPr>
        <p:spPr>
          <a:xfrm xmlns:a="http://schemas.openxmlformats.org/drawingml/2006/main">
            <a:off x="3143250" y="3981450"/>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B28736"/>
            </a:solidFill>
            <a:prstDash val="solid"/>
          </a:ln>
        </p:spPr>
      </p:sp>
      <p:sp>
        <p:nvSpPr>
          <p:cNvPr id="10" name="">
            <a:extLst xmlns:a="http://schemas.openxmlformats.org/drawingml/2006/main">
              <a:ext uri="{FF2B5EF4-FFF2-40B4-BE49-F238E27FC236}">
                <a16:creationId xmlns:a16="http://schemas.microsoft.com/office/drawing/2014/main" id="{1BE755E8-481B-49AD-AD24-CA93ED437D12}"/>
              </a:ext>
            </a:extLst>
          </p:cNvPr>
          <p:cNvSpPr>
            <a:spLocks xmlns:a="http://schemas.openxmlformats.org/drawingml/2006/main" noGrp="1"/>
          </p:cNvSpPr>
          <p:nvPr/>
        </p:nvSpPr>
        <p:spPr>
          <a:xfrm xmlns:a="http://schemas.openxmlformats.org/drawingml/2006/main">
            <a:off x="3238500" y="4057650"/>
            <a:ext cx="1009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B28736"/>
                </a:solidFill>
                <a:latin typeface="Aptos"/>
                <a:ea typeface="Aptos"/>
                <a:cs typeface="Aptos"/>
              </a:defRPr>
            </a:pPr>
            <a:r>
              <a:rPr sz="675" b="1">
                <a:solidFill>
                  <a:srgbClr val="B28736"/>
                </a:solidFill>
                <a:latin typeface="Aptos"/>
                <a:ea typeface="Aptos"/>
                <a:cs typeface="Aptos"/>
              </a:rPr>
              <a:t>OOP DESIGN</a:t>
            </a:r>
          </a:p>
        </p:txBody>
      </p:sp>
      <p:sp>
        <p:nvSpPr>
          <p:cNvPr id="11" name="">
            <a:extLst xmlns:a="http://schemas.openxmlformats.org/drawingml/2006/main">
              <a:ext uri="{FF2B5EF4-FFF2-40B4-BE49-F238E27FC236}">
                <a16:creationId xmlns:a16="http://schemas.microsoft.com/office/drawing/2014/main" id="{001E902E-AB41-4DB8-A6A2-F1187D9F40B2}"/>
              </a:ext>
            </a:extLst>
          </p:cNvPr>
          <p:cNvSpPr>
            <a:spLocks xmlns:a="http://schemas.openxmlformats.org/drawingml/2006/main" noGrp="1"/>
          </p:cNvSpPr>
          <p:nvPr/>
        </p:nvSpPr>
        <p:spPr>
          <a:xfrm xmlns:a="http://schemas.openxmlformats.org/drawingml/2006/main">
            <a:off x="4533900" y="3981450"/>
            <a:ext cx="120015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A85645"/>
            </a:solidFill>
            <a:prstDash val="solid"/>
          </a:ln>
        </p:spPr>
      </p:sp>
      <p:sp>
        <p:nvSpPr>
          <p:cNvPr id="12" name="">
            <a:extLst xmlns:a="http://schemas.openxmlformats.org/drawingml/2006/main">
              <a:ext uri="{FF2B5EF4-FFF2-40B4-BE49-F238E27FC236}">
                <a16:creationId xmlns:a16="http://schemas.microsoft.com/office/drawing/2014/main" id="{58A9041F-68A6-4FB8-AF3F-2E07CDC15000}"/>
              </a:ext>
            </a:extLst>
          </p:cNvPr>
          <p:cNvSpPr>
            <a:spLocks xmlns:a="http://schemas.openxmlformats.org/drawingml/2006/main" noGrp="1"/>
          </p:cNvSpPr>
          <p:nvPr/>
        </p:nvSpPr>
        <p:spPr>
          <a:xfrm xmlns:a="http://schemas.openxmlformats.org/drawingml/2006/main">
            <a:off x="4629150" y="4057650"/>
            <a:ext cx="1009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A85645"/>
                </a:solidFill>
                <a:latin typeface="Aptos"/>
                <a:ea typeface="Aptos"/>
                <a:cs typeface="Aptos"/>
              </a:defRPr>
            </a:pPr>
            <a:r>
              <a:rPr sz="675" b="1">
                <a:solidFill>
                  <a:srgbClr val="A85645"/>
                </a:solidFill>
                <a:latin typeface="Aptos"/>
                <a:ea typeface="Aptos"/>
                <a:cs typeface="Aptos"/>
              </a:rPr>
              <a:t>REFLECTION</a:t>
            </a:r>
          </a:p>
        </p:txBody>
      </p:sp>
      <p:sp>
        <p:nvSpPr>
          <p:cNvPr id="13" name="">
            <a:extLst xmlns:a="http://schemas.openxmlformats.org/drawingml/2006/main">
              <a:ext uri="{FF2B5EF4-FFF2-40B4-BE49-F238E27FC236}">
                <a16:creationId xmlns:a16="http://schemas.microsoft.com/office/drawing/2014/main" id="{32797ADA-A58A-47AE-8951-56DF7141FF9C}"/>
              </a:ext>
            </a:extLst>
          </p:cNvPr>
          <p:cNvSpPr>
            <a:spLocks xmlns:a="http://schemas.openxmlformats.org/drawingml/2006/main" noGrp="1"/>
          </p:cNvSpPr>
          <p:nvPr/>
        </p:nvSpPr>
        <p:spPr>
          <a:xfrm xmlns:a="http://schemas.openxmlformats.org/drawingml/2006/main">
            <a:off x="7600950" y="1143000"/>
            <a:ext cx="3048000" cy="40005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4" name="">
            <a:extLst xmlns:a="http://schemas.openxmlformats.org/drawingml/2006/main">
              <a:ext uri="{FF2B5EF4-FFF2-40B4-BE49-F238E27FC236}">
                <a16:creationId xmlns:a16="http://schemas.microsoft.com/office/drawing/2014/main" id="{49A848A3-B024-4720-AE53-160A26E84BC5}"/>
              </a:ext>
            </a:extLst>
          </p:cNvPr>
          <p:cNvSpPr>
            <a:spLocks xmlns:a="http://schemas.openxmlformats.org/drawingml/2006/main" noGrp="1"/>
          </p:cNvSpPr>
          <p:nvPr/>
        </p:nvSpPr>
        <p:spPr>
          <a:xfrm xmlns:a="http://schemas.openxmlformats.org/drawingml/2006/main">
            <a:off x="7943850" y="146685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Presentation map</a:t>
            </a:r>
          </a:p>
        </p:txBody>
      </p:sp>
      <p:sp>
        <p:nvSpPr>
          <p:cNvPr id="15" name="">
            <a:extLst xmlns:a="http://schemas.openxmlformats.org/drawingml/2006/main">
              <a:ext uri="{FF2B5EF4-FFF2-40B4-BE49-F238E27FC236}">
                <a16:creationId xmlns:a16="http://schemas.microsoft.com/office/drawing/2014/main" id="{858EEB4C-74BF-4A51-AB1B-DD8C3F0AFF1F}"/>
              </a:ext>
            </a:extLst>
          </p:cNvPr>
          <p:cNvSpPr>
            <a:spLocks xmlns:a="http://schemas.openxmlformats.org/drawingml/2006/main" noGrp="1"/>
          </p:cNvSpPr>
          <p:nvPr/>
        </p:nvSpPr>
        <p:spPr>
          <a:xfrm xmlns:a="http://schemas.openxmlformats.org/drawingml/2006/main">
            <a:off x="7943850" y="219075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46B57"/>
                </a:solidFill>
                <a:latin typeface="Aptos Display"/>
                <a:ea typeface="Aptos Display"/>
                <a:cs typeface="Aptos Display"/>
              </a:defRPr>
            </a:pPr>
            <a:r>
              <a:rPr sz="2250" b="1">
                <a:solidFill>
                  <a:srgbClr val="246B57"/>
                </a:solidFill>
                <a:latin typeface="Aptos Display"/>
                <a:ea typeface="Aptos Display"/>
                <a:cs typeface="Aptos Display"/>
              </a:rPr>
              <a:t>3</a:t>
            </a:r>
          </a:p>
        </p:txBody>
      </p:sp>
      <p:sp>
        <p:nvSpPr>
          <p:cNvPr id="16" name="">
            <a:extLst xmlns:a="http://schemas.openxmlformats.org/drawingml/2006/main">
              <a:ext uri="{FF2B5EF4-FFF2-40B4-BE49-F238E27FC236}">
                <a16:creationId xmlns:a16="http://schemas.microsoft.com/office/drawing/2014/main" id="{5C363EDB-4BD7-4956-86DA-D7F20E6B1E45}"/>
              </a:ext>
            </a:extLst>
          </p:cNvPr>
          <p:cNvSpPr>
            <a:spLocks xmlns:a="http://schemas.openxmlformats.org/drawingml/2006/main" noGrp="1"/>
          </p:cNvSpPr>
          <p:nvPr/>
        </p:nvSpPr>
        <p:spPr>
          <a:xfrm xmlns:a="http://schemas.openxmlformats.org/drawingml/2006/main">
            <a:off x="7943850" y="2609850"/>
            <a:ext cx="1809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candidate datasets</a:t>
            </a:r>
          </a:p>
        </p:txBody>
      </p:sp>
      <p:sp>
        <p:nvSpPr>
          <p:cNvPr id="17" name="">
            <a:extLst xmlns:a="http://schemas.openxmlformats.org/drawingml/2006/main">
              <a:ext uri="{FF2B5EF4-FFF2-40B4-BE49-F238E27FC236}">
                <a16:creationId xmlns:a16="http://schemas.microsoft.com/office/drawing/2014/main" id="{2C4F8B75-1DDE-4B84-B44E-DBB61B2BB87C}"/>
              </a:ext>
            </a:extLst>
          </p:cNvPr>
          <p:cNvSpPr>
            <a:spLocks xmlns:a="http://schemas.openxmlformats.org/drawingml/2006/main" noGrp="1"/>
          </p:cNvSpPr>
          <p:nvPr/>
        </p:nvSpPr>
        <p:spPr>
          <a:xfrm xmlns:a="http://schemas.openxmlformats.org/drawingml/2006/main">
            <a:off x="7943850" y="310515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15E91"/>
                </a:solidFill>
                <a:latin typeface="Aptos Display"/>
                <a:ea typeface="Aptos Display"/>
                <a:cs typeface="Aptos Display"/>
              </a:defRPr>
            </a:pPr>
            <a:r>
              <a:rPr sz="2250" b="1">
                <a:solidFill>
                  <a:srgbClr val="315E91"/>
                </a:solidFill>
                <a:latin typeface="Aptos Display"/>
                <a:ea typeface="Aptos Display"/>
                <a:cs typeface="Aptos Display"/>
              </a:rPr>
              <a:t>30</a:t>
            </a:r>
          </a:p>
        </p:txBody>
      </p:sp>
      <p:sp>
        <p:nvSpPr>
          <p:cNvPr id="18" name="">
            <a:extLst xmlns:a="http://schemas.openxmlformats.org/drawingml/2006/main">
              <a:ext uri="{FF2B5EF4-FFF2-40B4-BE49-F238E27FC236}">
                <a16:creationId xmlns:a16="http://schemas.microsoft.com/office/drawing/2014/main" id="{9F5B1C2C-202F-4FB9-9D32-E8A62C73D2B2}"/>
              </a:ext>
            </a:extLst>
          </p:cNvPr>
          <p:cNvSpPr>
            <a:spLocks xmlns:a="http://schemas.openxmlformats.org/drawingml/2006/main" noGrp="1"/>
          </p:cNvSpPr>
          <p:nvPr/>
        </p:nvSpPr>
        <p:spPr>
          <a:xfrm xmlns:a="http://schemas.openxmlformats.org/drawingml/2006/main">
            <a:off x="7943850" y="3524250"/>
            <a:ext cx="1809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selected inspection targets</a:t>
            </a:r>
          </a:p>
        </p:txBody>
      </p:sp>
      <p:sp>
        <p:nvSpPr>
          <p:cNvPr id="19" name="">
            <a:extLst xmlns:a="http://schemas.openxmlformats.org/drawingml/2006/main">
              <a:ext uri="{FF2B5EF4-FFF2-40B4-BE49-F238E27FC236}">
                <a16:creationId xmlns:a16="http://schemas.microsoft.com/office/drawing/2014/main" id="{8A9ABD71-B5A3-4307-8452-897CA3216C95}"/>
              </a:ext>
            </a:extLst>
          </p:cNvPr>
          <p:cNvSpPr>
            <a:spLocks xmlns:a="http://schemas.openxmlformats.org/drawingml/2006/main" noGrp="1"/>
          </p:cNvSpPr>
          <p:nvPr/>
        </p:nvSpPr>
        <p:spPr>
          <a:xfrm xmlns:a="http://schemas.openxmlformats.org/drawingml/2006/main">
            <a:off x="7943850" y="401955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A85645"/>
                </a:solidFill>
                <a:latin typeface="Aptos Display"/>
                <a:ea typeface="Aptos Display"/>
                <a:cs typeface="Aptos Display"/>
              </a:defRPr>
            </a:pPr>
            <a:r>
              <a:rPr sz="2250" b="1">
                <a:solidFill>
                  <a:srgbClr val="A85645"/>
                </a:solidFill>
                <a:latin typeface="Aptos Display"/>
                <a:ea typeface="Aptos Display"/>
                <a:cs typeface="Aptos Display"/>
              </a:rPr>
              <a:t>4</a:t>
            </a:r>
          </a:p>
        </p:txBody>
      </p:sp>
      <p:sp>
        <p:nvSpPr>
          <p:cNvPr id="20" name="">
            <a:extLst xmlns:a="http://schemas.openxmlformats.org/drawingml/2006/main">
              <a:ext uri="{FF2B5EF4-FFF2-40B4-BE49-F238E27FC236}">
                <a16:creationId xmlns:a16="http://schemas.microsoft.com/office/drawing/2014/main" id="{228F1971-F414-4F1B-94A8-FCF0C326D367}"/>
              </a:ext>
            </a:extLst>
          </p:cNvPr>
          <p:cNvSpPr>
            <a:spLocks xmlns:a="http://schemas.openxmlformats.org/drawingml/2006/main" noGrp="1"/>
          </p:cNvSpPr>
          <p:nvPr/>
        </p:nvSpPr>
        <p:spPr>
          <a:xfrm xmlns:a="http://schemas.openxmlformats.org/drawingml/2006/main">
            <a:off x="7943850" y="4438650"/>
            <a:ext cx="1809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shortest-path cases</a:t>
            </a:r>
          </a:p>
        </p:txBody>
      </p:sp>
      <p:sp>
        <p:nvSpPr>
          <p:cNvPr id="21" name="">
            <a:extLst xmlns:a="http://schemas.openxmlformats.org/drawingml/2006/main">
              <a:ext uri="{FF2B5EF4-FFF2-40B4-BE49-F238E27FC236}">
                <a16:creationId xmlns:a16="http://schemas.microsoft.com/office/drawing/2014/main" id="{CBFDCB20-958F-4030-B095-CEBD2D2AFBF8}"/>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2" name="">
            <a:extLst xmlns:a="http://schemas.openxmlformats.org/drawingml/2006/main">
              <a:ext uri="{FF2B5EF4-FFF2-40B4-BE49-F238E27FC236}">
                <a16:creationId xmlns:a16="http://schemas.microsoft.com/office/drawing/2014/main" id="{CA675C7D-1580-4152-A49C-1D32BB69E084}"/>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01</a:t>
            </a:r>
          </a:p>
        </p:txBody>
      </p:sp>
    </p:spTree>
    <p:extLst>
      <p:ext uri="{BB962C8B-B14F-4D97-AF65-F5344CB8AC3E}">
        <p14:creationId xmlns:p14="http://schemas.microsoft.com/office/powerpoint/2010/main" val="648445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88A9E0-981D-458D-9069-9C77483465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1464940-B6E9-4175-88C4-B05F2F1B2610}"/>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48B342FE-93C2-486E-9F09-E6FC66DE44C4}"/>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SYSTEM WORKFLOW</a:t>
            </a:r>
          </a:p>
        </p:txBody>
      </p:sp>
      <p:sp>
        <p:nvSpPr>
          <p:cNvPr id="4" name="">
            <a:extLst xmlns:a="http://schemas.openxmlformats.org/drawingml/2006/main">
              <a:ext uri="{FF2B5EF4-FFF2-40B4-BE49-F238E27FC236}">
                <a16:creationId xmlns:a16="http://schemas.microsoft.com/office/drawing/2014/main" id="{576A13CD-AE9D-4E98-8B6F-BEB44F6D9014}"/>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The coursework problem is a pipeline, not four isolated tasks.</a:t>
            </a:r>
          </a:p>
        </p:txBody>
      </p:sp>
      <p:sp>
        <p:nvSpPr>
          <p:cNvPr id="5" name="">
            <a:extLst xmlns:a="http://schemas.openxmlformats.org/drawingml/2006/main">
              <a:ext uri="{FF2B5EF4-FFF2-40B4-BE49-F238E27FC236}">
                <a16:creationId xmlns:a16="http://schemas.microsoft.com/office/drawing/2014/main" id="{74426050-2763-4AF9-876C-A9BBA6355A2F}"/>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CD521BDF-4495-462C-A3C5-4A209399F277}"/>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F62B6A1-52D1-4E46-8973-E7D93192061D}"/>
              </a:ext>
            </a:extLst>
          </p:cNvPr>
          <p:cNvSpPr>
            <a:spLocks xmlns:a="http://schemas.openxmlformats.org/drawingml/2006/main" noGrp="1"/>
          </p:cNvSpPr>
          <p:nvPr/>
        </p:nvSpPr>
        <p:spPr>
          <a:xfrm xmlns:a="http://schemas.openxmlformats.org/drawingml/2006/main">
            <a:off x="876300" y="2476500"/>
            <a:ext cx="609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46B57"/>
                </a:solidFill>
                <a:latin typeface="Aptos"/>
                <a:ea typeface="Aptos"/>
                <a:cs typeface="Aptos"/>
              </a:defRPr>
            </a:pPr>
            <a:r>
              <a:rPr sz="2250" b="1">
                <a:solidFill>
                  <a:srgbClr val="246B57"/>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4167CA1-33FE-40D8-B80A-71EA72770F0F}"/>
              </a:ext>
            </a:extLst>
          </p:cNvPr>
          <p:cNvSpPr>
            <a:spLocks xmlns:a="http://schemas.openxmlformats.org/drawingml/2006/main" noGrp="1"/>
          </p:cNvSpPr>
          <p:nvPr/>
        </p:nvSpPr>
        <p:spPr>
          <a:xfrm xmlns:a="http://schemas.openxmlformats.org/drawingml/2006/main">
            <a:off x="876300" y="2990850"/>
            <a:ext cx="1809750" cy="9525"/>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E583301-F910-40C0-94C1-B95480F9AEB1}"/>
              </a:ext>
            </a:extLst>
          </p:cNvPr>
          <p:cNvSpPr>
            <a:spLocks xmlns:a="http://schemas.openxmlformats.org/drawingml/2006/main" noGrp="1"/>
          </p:cNvSpPr>
          <p:nvPr/>
        </p:nvSpPr>
        <p:spPr>
          <a:xfrm xmlns:a="http://schemas.openxmlformats.org/drawingml/2006/main">
            <a:off x="876300" y="3238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Read data</a:t>
            </a:r>
          </a:p>
        </p:txBody>
      </p:sp>
      <p:sp>
        <p:nvSpPr>
          <p:cNvPr id="10" name="">
            <a:extLst xmlns:a="http://schemas.openxmlformats.org/drawingml/2006/main">
              <a:ext uri="{FF2B5EF4-FFF2-40B4-BE49-F238E27FC236}">
                <a16:creationId xmlns:a16="http://schemas.microsoft.com/office/drawing/2014/main" id="{5AB812EF-2B56-4280-A286-F3580C1E79B7}"/>
              </a:ext>
            </a:extLst>
          </p:cNvPr>
          <p:cNvSpPr>
            <a:spLocks xmlns:a="http://schemas.openxmlformats.org/drawingml/2006/main" noGrp="1"/>
          </p:cNvSpPr>
          <p:nvPr/>
        </p:nvSpPr>
        <p:spPr>
          <a:xfrm xmlns:a="http://schemas.openxmlformats.org/drawingml/2006/main">
            <a:off x="876300" y="3562350"/>
            <a:ext cx="1809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candidates_A/B/C.csv</a:t>
            </a:r>
          </a:p>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paths.csv</a:t>
            </a:r>
          </a:p>
        </p:txBody>
      </p:sp>
      <p:sp>
        <p:nvSpPr>
          <p:cNvPr id="11" name="">
            <a:extLst xmlns:a="http://schemas.openxmlformats.org/drawingml/2006/main">
              <a:ext uri="{FF2B5EF4-FFF2-40B4-BE49-F238E27FC236}">
                <a16:creationId xmlns:a16="http://schemas.microsoft.com/office/drawing/2014/main" id="{F036D514-1BF7-4E2D-A994-AC3831A26EA0}"/>
              </a:ext>
            </a:extLst>
          </p:cNvPr>
          <p:cNvSpPr>
            <a:spLocks xmlns:a="http://schemas.openxmlformats.org/drawingml/2006/main" noGrp="1"/>
          </p:cNvSpPr>
          <p:nvPr/>
        </p:nvSpPr>
        <p:spPr>
          <a:xfrm xmlns:a="http://schemas.openxmlformats.org/drawingml/2006/main">
            <a:off x="3448050" y="2476500"/>
            <a:ext cx="609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46B57"/>
                </a:solidFill>
                <a:latin typeface="Aptos"/>
                <a:ea typeface="Aptos"/>
                <a:cs typeface="Aptos"/>
              </a:defRPr>
            </a:pPr>
            <a:r>
              <a:rPr sz="2250" b="1">
                <a:solidFill>
                  <a:srgbClr val="246B57"/>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638FA55E-D5C8-4E1B-97D5-5E8BD20EF773}"/>
              </a:ext>
            </a:extLst>
          </p:cNvPr>
          <p:cNvSpPr>
            <a:spLocks xmlns:a="http://schemas.openxmlformats.org/drawingml/2006/main" noGrp="1"/>
          </p:cNvSpPr>
          <p:nvPr/>
        </p:nvSpPr>
        <p:spPr>
          <a:xfrm xmlns:a="http://schemas.openxmlformats.org/drawingml/2006/main">
            <a:off x="3448050" y="2990850"/>
            <a:ext cx="1809750" cy="9525"/>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896CC43-FF8D-4944-8F06-5FCFE9BD81DB}"/>
              </a:ext>
            </a:extLst>
          </p:cNvPr>
          <p:cNvSpPr>
            <a:spLocks xmlns:a="http://schemas.openxmlformats.org/drawingml/2006/main" noGrp="1"/>
          </p:cNvSpPr>
          <p:nvPr/>
        </p:nvSpPr>
        <p:spPr>
          <a:xfrm xmlns:a="http://schemas.openxmlformats.org/drawingml/2006/main">
            <a:off x="3448050" y="3238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Rank</a:t>
            </a:r>
          </a:p>
        </p:txBody>
      </p:sp>
      <p:sp>
        <p:nvSpPr>
          <p:cNvPr id="14" name="">
            <a:extLst xmlns:a="http://schemas.openxmlformats.org/drawingml/2006/main">
              <a:ext uri="{FF2B5EF4-FFF2-40B4-BE49-F238E27FC236}">
                <a16:creationId xmlns:a16="http://schemas.microsoft.com/office/drawing/2014/main" id="{3A19EC8B-6F76-4F04-87AC-D78DEBCF4D55}"/>
              </a:ext>
            </a:extLst>
          </p:cNvPr>
          <p:cNvSpPr>
            <a:spLocks xmlns:a="http://schemas.openxmlformats.org/drawingml/2006/main" noGrp="1"/>
          </p:cNvSpPr>
          <p:nvPr/>
        </p:nvSpPr>
        <p:spPr>
          <a:xfrm xmlns:a="http://schemas.openxmlformats.org/drawingml/2006/main">
            <a:off x="3448050" y="3562350"/>
            <a:ext cx="1809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priority_score desc</a:t>
            </a:r>
          </a:p>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location_id asc</a:t>
            </a:r>
          </a:p>
        </p:txBody>
      </p:sp>
      <p:sp>
        <p:nvSpPr>
          <p:cNvPr id="15" name="">
            <a:extLst xmlns:a="http://schemas.openxmlformats.org/drawingml/2006/main">
              <a:ext uri="{FF2B5EF4-FFF2-40B4-BE49-F238E27FC236}">
                <a16:creationId xmlns:a16="http://schemas.microsoft.com/office/drawing/2014/main" id="{7EA85503-05B4-4A3F-9665-1EE496B0193C}"/>
              </a:ext>
            </a:extLst>
          </p:cNvPr>
          <p:cNvSpPr>
            <a:spLocks xmlns:a="http://schemas.openxmlformats.org/drawingml/2006/main" noGrp="1"/>
          </p:cNvSpPr>
          <p:nvPr/>
        </p:nvSpPr>
        <p:spPr>
          <a:xfrm xmlns:a="http://schemas.openxmlformats.org/drawingml/2006/main">
            <a:off x="6019800" y="2476500"/>
            <a:ext cx="609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15E91"/>
                </a:solidFill>
                <a:latin typeface="Aptos"/>
                <a:ea typeface="Aptos"/>
                <a:cs typeface="Aptos"/>
              </a:defRPr>
            </a:pPr>
            <a:r>
              <a:rPr sz="2250" b="1">
                <a:solidFill>
                  <a:srgbClr val="315E91"/>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77257D34-94FF-45E4-8C4C-98ECED11D49C}"/>
              </a:ext>
            </a:extLst>
          </p:cNvPr>
          <p:cNvSpPr>
            <a:spLocks xmlns:a="http://schemas.openxmlformats.org/drawingml/2006/main" noGrp="1"/>
          </p:cNvSpPr>
          <p:nvPr/>
        </p:nvSpPr>
        <p:spPr>
          <a:xfrm xmlns:a="http://schemas.openxmlformats.org/drawingml/2006/main">
            <a:off x="6019800" y="2990850"/>
            <a:ext cx="1809750" cy="9525"/>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D3C31D9-6F65-495E-AF37-A4DA4692C164}"/>
              </a:ext>
            </a:extLst>
          </p:cNvPr>
          <p:cNvSpPr>
            <a:spLocks xmlns:a="http://schemas.openxmlformats.org/drawingml/2006/main" noGrp="1"/>
          </p:cNvSpPr>
          <p:nvPr/>
        </p:nvSpPr>
        <p:spPr>
          <a:xfrm xmlns:a="http://schemas.openxmlformats.org/drawingml/2006/main">
            <a:off x="6019800" y="3238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Select</a:t>
            </a:r>
          </a:p>
        </p:txBody>
      </p:sp>
      <p:sp>
        <p:nvSpPr>
          <p:cNvPr id="18" name="">
            <a:extLst xmlns:a="http://schemas.openxmlformats.org/drawingml/2006/main">
              <a:ext uri="{FF2B5EF4-FFF2-40B4-BE49-F238E27FC236}">
                <a16:creationId xmlns:a16="http://schemas.microsoft.com/office/drawing/2014/main" id="{D28CD3F8-506B-4BF0-BC1E-73B981C4B12B}"/>
              </a:ext>
            </a:extLst>
          </p:cNvPr>
          <p:cNvSpPr>
            <a:spLocks xmlns:a="http://schemas.openxmlformats.org/drawingml/2006/main" noGrp="1"/>
          </p:cNvSpPr>
          <p:nvPr/>
        </p:nvSpPr>
        <p:spPr>
          <a:xfrm xmlns:a="http://schemas.openxmlformats.org/drawingml/2006/main">
            <a:off x="6019800" y="3562350"/>
            <a:ext cx="1809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top 10 from each dataset</a:t>
            </a:r>
          </a:p>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30 targets total</a:t>
            </a:r>
          </a:p>
        </p:txBody>
      </p:sp>
      <p:sp>
        <p:nvSpPr>
          <p:cNvPr id="19" name="">
            <a:extLst xmlns:a="http://schemas.openxmlformats.org/drawingml/2006/main">
              <a:ext uri="{FF2B5EF4-FFF2-40B4-BE49-F238E27FC236}">
                <a16:creationId xmlns:a16="http://schemas.microsoft.com/office/drawing/2014/main" id="{43CA95A9-EAE8-4A03-9558-0571CF13D142}"/>
              </a:ext>
            </a:extLst>
          </p:cNvPr>
          <p:cNvSpPr>
            <a:spLocks xmlns:a="http://schemas.openxmlformats.org/drawingml/2006/main" noGrp="1"/>
          </p:cNvSpPr>
          <p:nvPr/>
        </p:nvSpPr>
        <p:spPr>
          <a:xfrm xmlns:a="http://schemas.openxmlformats.org/drawingml/2006/main">
            <a:off x="8591550" y="2476500"/>
            <a:ext cx="609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15E91"/>
                </a:solidFill>
                <a:latin typeface="Aptos"/>
                <a:ea typeface="Aptos"/>
                <a:cs typeface="Aptos"/>
              </a:defRPr>
            </a:pPr>
            <a:r>
              <a:rPr sz="2250" b="1">
                <a:solidFill>
                  <a:srgbClr val="315E91"/>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B18F20CC-7A9E-4ED6-88FD-331AF46590F0}"/>
              </a:ext>
            </a:extLst>
          </p:cNvPr>
          <p:cNvSpPr>
            <a:spLocks xmlns:a="http://schemas.openxmlformats.org/drawingml/2006/main" noGrp="1"/>
          </p:cNvSpPr>
          <p:nvPr/>
        </p:nvSpPr>
        <p:spPr>
          <a:xfrm xmlns:a="http://schemas.openxmlformats.org/drawingml/2006/main">
            <a:off x="8591550" y="2990850"/>
            <a:ext cx="1809750" cy="9525"/>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3FAAA48-7AA3-4643-9EEF-F3136148A09D}"/>
              </a:ext>
            </a:extLst>
          </p:cNvPr>
          <p:cNvSpPr>
            <a:spLocks xmlns:a="http://schemas.openxmlformats.org/drawingml/2006/main" noGrp="1"/>
          </p:cNvSpPr>
          <p:nvPr/>
        </p:nvSpPr>
        <p:spPr>
          <a:xfrm xmlns:a="http://schemas.openxmlformats.org/drawingml/2006/main">
            <a:off x="8591550" y="3238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Route</a:t>
            </a:r>
          </a:p>
        </p:txBody>
      </p:sp>
      <p:sp>
        <p:nvSpPr>
          <p:cNvPr id="22" name="">
            <a:extLst xmlns:a="http://schemas.openxmlformats.org/drawingml/2006/main">
              <a:ext uri="{FF2B5EF4-FFF2-40B4-BE49-F238E27FC236}">
                <a16:creationId xmlns:a16="http://schemas.microsoft.com/office/drawing/2014/main" id="{687AB0DF-EC3B-4096-BD15-344EC4FA35A4}"/>
              </a:ext>
            </a:extLst>
          </p:cNvPr>
          <p:cNvSpPr>
            <a:spLocks xmlns:a="http://schemas.openxmlformats.org/drawingml/2006/main" noGrp="1"/>
          </p:cNvSpPr>
          <p:nvPr/>
        </p:nvSpPr>
        <p:spPr>
          <a:xfrm xmlns:a="http://schemas.openxmlformats.org/drawingml/2006/main">
            <a:off x="8591550" y="3562350"/>
            <a:ext cx="1809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Dijkstra on weighted</a:t>
            </a:r>
          </a:p>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undirected graph</a:t>
            </a:r>
          </a:p>
        </p:txBody>
      </p:sp>
      <p:sp>
        <p:nvSpPr>
          <p:cNvPr id="23" name="">
            <a:extLst xmlns:a="http://schemas.openxmlformats.org/drawingml/2006/main">
              <a:ext uri="{FF2B5EF4-FFF2-40B4-BE49-F238E27FC236}">
                <a16:creationId xmlns:a16="http://schemas.microsoft.com/office/drawing/2014/main" id="{F59F9A7D-D60E-4AC9-9F5C-A5F5CB9D3ACC}"/>
              </a:ext>
            </a:extLst>
          </p:cNvPr>
          <p:cNvSpPr>
            <a:spLocks xmlns:a="http://schemas.openxmlformats.org/drawingml/2006/main" noGrp="1"/>
          </p:cNvSpPr>
          <p:nvPr/>
        </p:nvSpPr>
        <p:spPr>
          <a:xfrm xmlns:a="http://schemas.openxmlformats.org/drawingml/2006/main">
            <a:off x="990600" y="4667250"/>
            <a:ext cx="9429750" cy="8191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24" name="">
            <a:extLst xmlns:a="http://schemas.openxmlformats.org/drawingml/2006/main">
              <a:ext uri="{FF2B5EF4-FFF2-40B4-BE49-F238E27FC236}">
                <a16:creationId xmlns:a16="http://schemas.microsoft.com/office/drawing/2014/main" id="{58F403B9-5466-43F1-BAE0-B44514C9CEBF}"/>
              </a:ext>
            </a:extLst>
          </p:cNvPr>
          <p:cNvSpPr>
            <a:spLocks xmlns:a="http://schemas.openxmlformats.org/drawingml/2006/main" noGrp="1"/>
          </p:cNvSpPr>
          <p:nvPr/>
        </p:nvSpPr>
        <p:spPr>
          <a:xfrm xmlns:a="http://schemas.openxmlformats.org/drawingml/2006/main">
            <a:off x="1257300" y="4857750"/>
            <a:ext cx="38100" cy="53340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88AF014F-083B-4C71-8691-B6C89A1A52C8}"/>
              </a:ext>
            </a:extLst>
          </p:cNvPr>
          <p:cNvSpPr>
            <a:spLocks xmlns:a="http://schemas.openxmlformats.org/drawingml/2006/main" noGrp="1"/>
          </p:cNvSpPr>
          <p:nvPr/>
        </p:nvSpPr>
        <p:spPr>
          <a:xfrm xmlns:a="http://schemas.openxmlformats.org/drawingml/2006/main">
            <a:off x="1428750" y="4876800"/>
            <a:ext cx="80200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Design decision: keep ranking, graph construction, path finding, and UI responsibilities separated so algorithms can be compared or replaced cleanly.</a:t>
            </a:r>
          </a:p>
        </p:txBody>
      </p:sp>
      <p:sp>
        <p:nvSpPr>
          <p:cNvPr id="26" name="">
            <a:extLst xmlns:a="http://schemas.openxmlformats.org/drawingml/2006/main">
              <a:ext uri="{FF2B5EF4-FFF2-40B4-BE49-F238E27FC236}">
                <a16:creationId xmlns:a16="http://schemas.microsoft.com/office/drawing/2014/main" id="{52D43598-3E80-4C93-ACDD-5C0796399538}"/>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7" name="">
            <a:extLst xmlns:a="http://schemas.openxmlformats.org/drawingml/2006/main">
              <a:ext uri="{FF2B5EF4-FFF2-40B4-BE49-F238E27FC236}">
                <a16:creationId xmlns:a16="http://schemas.microsoft.com/office/drawing/2014/main" id="{E34E07B9-76C6-4B84-8C13-B9504E57BB31}"/>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02</a:t>
            </a:r>
          </a:p>
        </p:txBody>
      </p:sp>
    </p:spTree>
    <p:extLst>
      <p:ext uri="{BB962C8B-B14F-4D97-AF65-F5344CB8AC3E}">
        <p14:creationId xmlns:p14="http://schemas.microsoft.com/office/powerpoint/2010/main" val="4342148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6F4E68-64DB-4BDD-B489-960B8C29DC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78D67B6-4713-461D-999D-E93CEBCB2CBF}"/>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EE19EE25-2823-4365-92C2-4592A627F5B6}"/>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RANKING RULE</a:t>
            </a:r>
          </a:p>
        </p:txBody>
      </p:sp>
      <p:sp>
        <p:nvSpPr>
          <p:cNvPr id="4" name="">
            <a:extLst xmlns:a="http://schemas.openxmlformats.org/drawingml/2006/main">
              <a:ext uri="{FF2B5EF4-FFF2-40B4-BE49-F238E27FC236}">
                <a16:creationId xmlns:a16="http://schemas.microsoft.com/office/drawing/2014/main" id="{A506008B-2BF9-4926-B81F-BE3C99C8A307}"/>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The top-10 selection must be deterministic before performance is compared.</a:t>
            </a:r>
          </a:p>
        </p:txBody>
      </p:sp>
      <p:sp>
        <p:nvSpPr>
          <p:cNvPr id="5" name="">
            <a:extLst xmlns:a="http://schemas.openxmlformats.org/drawingml/2006/main">
              <a:ext uri="{FF2B5EF4-FFF2-40B4-BE49-F238E27FC236}">
                <a16:creationId xmlns:a16="http://schemas.microsoft.com/office/drawing/2014/main" id="{5DB8F559-ADF0-4A2D-A3BD-900D6C919052}"/>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8BB90B1D-F2F4-4E2B-8D62-58F4A5B1A353}"/>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7AECA16-E2AB-47DA-B867-FCBD4FBEBAD5}"/>
              </a:ext>
            </a:extLst>
          </p:cNvPr>
          <p:cNvSpPr>
            <a:spLocks xmlns:a="http://schemas.openxmlformats.org/drawingml/2006/main" noGrp="1"/>
          </p:cNvSpPr>
          <p:nvPr/>
        </p:nvSpPr>
        <p:spPr>
          <a:xfrm xmlns:a="http://schemas.openxmlformats.org/drawingml/2006/main">
            <a:off x="876300" y="2305050"/>
            <a:ext cx="3333750" cy="2190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8" name="">
            <a:extLst xmlns:a="http://schemas.openxmlformats.org/drawingml/2006/main">
              <a:ext uri="{FF2B5EF4-FFF2-40B4-BE49-F238E27FC236}">
                <a16:creationId xmlns:a16="http://schemas.microsoft.com/office/drawing/2014/main" id="{A5DFFBB2-2620-49FB-9713-34C31E99B57C}"/>
              </a:ext>
            </a:extLst>
          </p:cNvPr>
          <p:cNvSpPr>
            <a:spLocks xmlns:a="http://schemas.openxmlformats.org/drawingml/2006/main" noGrp="1"/>
          </p:cNvSpPr>
          <p:nvPr/>
        </p:nvSpPr>
        <p:spPr>
          <a:xfrm xmlns:a="http://schemas.openxmlformats.org/drawingml/2006/main">
            <a:off x="1200150" y="264795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46B57"/>
                </a:solidFill>
                <a:latin typeface="Aptos"/>
                <a:ea typeface="Aptos"/>
                <a:cs typeface="Aptos"/>
              </a:defRPr>
            </a:pPr>
            <a:r>
              <a:rPr sz="1350" b="1">
                <a:solidFill>
                  <a:srgbClr val="246B57"/>
                </a:solidFill>
                <a:latin typeface="Aptos"/>
                <a:ea typeface="Aptos"/>
                <a:cs typeface="Aptos"/>
              </a:rPr>
              <a:t>Primary rule</a:t>
            </a:r>
          </a:p>
        </p:txBody>
      </p:sp>
      <p:sp>
        <p:nvSpPr>
          <p:cNvPr id="9" name="">
            <a:extLst xmlns:a="http://schemas.openxmlformats.org/drawingml/2006/main">
              <a:ext uri="{FF2B5EF4-FFF2-40B4-BE49-F238E27FC236}">
                <a16:creationId xmlns:a16="http://schemas.microsoft.com/office/drawing/2014/main" id="{BCBF5019-9451-4ECE-A091-3A6F03025203}"/>
              </a:ext>
            </a:extLst>
          </p:cNvPr>
          <p:cNvSpPr>
            <a:spLocks xmlns:a="http://schemas.openxmlformats.org/drawingml/2006/main" noGrp="1"/>
          </p:cNvSpPr>
          <p:nvPr/>
        </p:nvSpPr>
        <p:spPr>
          <a:xfrm xmlns:a="http://schemas.openxmlformats.org/drawingml/2006/main">
            <a:off x="1200150" y="3086100"/>
            <a:ext cx="23622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Sort by priority_score in descending order so higher-risk locations are inspected first.</a:t>
            </a:r>
          </a:p>
        </p:txBody>
      </p:sp>
      <p:sp>
        <p:nvSpPr>
          <p:cNvPr id="10" name="">
            <a:extLst xmlns:a="http://schemas.openxmlformats.org/drawingml/2006/main">
              <a:ext uri="{FF2B5EF4-FFF2-40B4-BE49-F238E27FC236}">
                <a16:creationId xmlns:a16="http://schemas.microsoft.com/office/drawing/2014/main" id="{A7B8FAAF-9432-46D0-9D51-EEFDA6081C89}"/>
              </a:ext>
            </a:extLst>
          </p:cNvPr>
          <p:cNvSpPr>
            <a:spLocks xmlns:a="http://schemas.openxmlformats.org/drawingml/2006/main" noGrp="1"/>
          </p:cNvSpPr>
          <p:nvPr/>
        </p:nvSpPr>
        <p:spPr>
          <a:xfrm xmlns:a="http://schemas.openxmlformats.org/drawingml/2006/main">
            <a:off x="1200150" y="3962400"/>
            <a:ext cx="2343150" cy="95250"/>
          </a:xfrm>
          <a:prstGeom xmlns:a="http://schemas.openxmlformats.org/drawingml/2006/main" prst="rect">
            <a:avLst/>
          </a:prstGeom>
          <a:solidFill xmlns:a="http://schemas.openxmlformats.org/drawingml/2006/main">
            <a:srgbClr val="DCD4C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3B7F72B-FDD5-415C-B3D8-373B235D4EEB}"/>
              </a:ext>
            </a:extLst>
          </p:cNvPr>
          <p:cNvSpPr>
            <a:spLocks xmlns:a="http://schemas.openxmlformats.org/drawingml/2006/main" noGrp="1"/>
          </p:cNvSpPr>
          <p:nvPr/>
        </p:nvSpPr>
        <p:spPr>
          <a:xfrm xmlns:a="http://schemas.openxmlformats.org/drawingml/2006/main">
            <a:off x="1200150" y="3962400"/>
            <a:ext cx="2038350" cy="95250"/>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38B632F-89BC-415A-A9B0-F5FCDEC32F28}"/>
              </a:ext>
            </a:extLst>
          </p:cNvPr>
          <p:cNvSpPr>
            <a:spLocks xmlns:a="http://schemas.openxmlformats.org/drawingml/2006/main" noGrp="1"/>
          </p:cNvSpPr>
          <p:nvPr/>
        </p:nvSpPr>
        <p:spPr>
          <a:xfrm xmlns:a="http://schemas.openxmlformats.org/drawingml/2006/main">
            <a:off x="4514850" y="2305050"/>
            <a:ext cx="3333750" cy="2190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3" name="">
            <a:extLst xmlns:a="http://schemas.openxmlformats.org/drawingml/2006/main">
              <a:ext uri="{FF2B5EF4-FFF2-40B4-BE49-F238E27FC236}">
                <a16:creationId xmlns:a16="http://schemas.microsoft.com/office/drawing/2014/main" id="{7606AD04-70DD-4A19-9D32-950C69E185A1}"/>
              </a:ext>
            </a:extLst>
          </p:cNvPr>
          <p:cNvSpPr>
            <a:spLocks xmlns:a="http://schemas.openxmlformats.org/drawingml/2006/main" noGrp="1"/>
          </p:cNvSpPr>
          <p:nvPr/>
        </p:nvSpPr>
        <p:spPr>
          <a:xfrm xmlns:a="http://schemas.openxmlformats.org/drawingml/2006/main">
            <a:off x="4838700" y="264795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315E91"/>
                </a:solidFill>
                <a:latin typeface="Aptos"/>
                <a:ea typeface="Aptos"/>
                <a:cs typeface="Aptos"/>
              </a:defRPr>
            </a:pPr>
            <a:r>
              <a:rPr sz="1350" b="1">
                <a:solidFill>
                  <a:srgbClr val="315E91"/>
                </a:solidFill>
                <a:latin typeface="Aptos"/>
                <a:ea typeface="Aptos"/>
                <a:cs typeface="Aptos"/>
              </a:rPr>
              <a:t>Tie-break rule</a:t>
            </a:r>
          </a:p>
        </p:txBody>
      </p:sp>
      <p:sp>
        <p:nvSpPr>
          <p:cNvPr id="14" name="">
            <a:extLst xmlns:a="http://schemas.openxmlformats.org/drawingml/2006/main">
              <a:ext uri="{FF2B5EF4-FFF2-40B4-BE49-F238E27FC236}">
                <a16:creationId xmlns:a16="http://schemas.microsoft.com/office/drawing/2014/main" id="{09D61D02-5A9C-4873-BFEA-DD8A9904A7A7}"/>
              </a:ext>
            </a:extLst>
          </p:cNvPr>
          <p:cNvSpPr>
            <a:spLocks xmlns:a="http://schemas.openxmlformats.org/drawingml/2006/main" noGrp="1"/>
          </p:cNvSpPr>
          <p:nvPr/>
        </p:nvSpPr>
        <p:spPr>
          <a:xfrm xmlns:a="http://schemas.openxmlformats.org/drawingml/2006/main">
            <a:off x="4838700" y="3086100"/>
            <a:ext cx="2381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If two scores are equal, sort by location_id ascending. This is essential for Dataset C.</a:t>
            </a:r>
          </a:p>
        </p:txBody>
      </p:sp>
      <p:sp>
        <p:nvSpPr>
          <p:cNvPr id="15" name="">
            <a:extLst xmlns:a="http://schemas.openxmlformats.org/drawingml/2006/main">
              <a:ext uri="{FF2B5EF4-FFF2-40B4-BE49-F238E27FC236}">
                <a16:creationId xmlns:a16="http://schemas.microsoft.com/office/drawing/2014/main" id="{7AA2A4C9-A8A6-4252-8635-D139FB872A46}"/>
              </a:ext>
            </a:extLst>
          </p:cNvPr>
          <p:cNvSpPr>
            <a:spLocks xmlns:a="http://schemas.openxmlformats.org/drawingml/2006/main" noGrp="1"/>
          </p:cNvSpPr>
          <p:nvPr/>
        </p:nvSpPr>
        <p:spPr>
          <a:xfrm xmlns:a="http://schemas.openxmlformats.org/drawingml/2006/main">
            <a:off x="4838700" y="3962400"/>
            <a:ext cx="2343150" cy="95250"/>
          </a:xfrm>
          <a:prstGeom xmlns:a="http://schemas.openxmlformats.org/drawingml/2006/main" prst="rect">
            <a:avLst/>
          </a:prstGeom>
          <a:solidFill xmlns:a="http://schemas.openxmlformats.org/drawingml/2006/main">
            <a:srgbClr val="DCD4C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B41B57A-7B65-4F71-B99B-00A8EC7F9A93}"/>
              </a:ext>
            </a:extLst>
          </p:cNvPr>
          <p:cNvSpPr>
            <a:spLocks xmlns:a="http://schemas.openxmlformats.org/drawingml/2006/main" noGrp="1"/>
          </p:cNvSpPr>
          <p:nvPr/>
        </p:nvSpPr>
        <p:spPr>
          <a:xfrm xmlns:a="http://schemas.openxmlformats.org/drawingml/2006/main">
            <a:off x="4838700" y="3962400"/>
            <a:ext cx="1676400" cy="95250"/>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5920AB9-88A7-4CE1-9199-8810F2A7F22F}"/>
              </a:ext>
            </a:extLst>
          </p:cNvPr>
          <p:cNvSpPr>
            <a:spLocks xmlns:a="http://schemas.openxmlformats.org/drawingml/2006/main" noGrp="1"/>
          </p:cNvSpPr>
          <p:nvPr/>
        </p:nvSpPr>
        <p:spPr>
          <a:xfrm xmlns:a="http://schemas.openxmlformats.org/drawingml/2006/main">
            <a:off x="8153400" y="2305050"/>
            <a:ext cx="2476500" cy="2190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8" name="">
            <a:extLst xmlns:a="http://schemas.openxmlformats.org/drawingml/2006/main">
              <a:ext uri="{FF2B5EF4-FFF2-40B4-BE49-F238E27FC236}">
                <a16:creationId xmlns:a16="http://schemas.microsoft.com/office/drawing/2014/main" id="{75AC4F6E-8075-480E-93EE-C74EF0CDB9FC}"/>
              </a:ext>
            </a:extLst>
          </p:cNvPr>
          <p:cNvSpPr>
            <a:spLocks xmlns:a="http://schemas.openxmlformats.org/drawingml/2006/main" noGrp="1"/>
          </p:cNvSpPr>
          <p:nvPr/>
        </p:nvSpPr>
        <p:spPr>
          <a:xfrm xmlns:a="http://schemas.openxmlformats.org/drawingml/2006/main">
            <a:off x="8477250" y="264795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A85645"/>
                </a:solidFill>
                <a:latin typeface="Aptos"/>
                <a:ea typeface="Aptos"/>
                <a:cs typeface="Aptos"/>
              </a:defRPr>
            </a:pPr>
            <a:r>
              <a:rPr sz="1350" b="1">
                <a:solidFill>
                  <a:srgbClr val="A85645"/>
                </a:solidFill>
                <a:latin typeface="Aptos"/>
                <a:ea typeface="Aptos"/>
                <a:cs typeface="Aptos"/>
              </a:rPr>
              <a:t>Output</a:t>
            </a:r>
          </a:p>
        </p:txBody>
      </p:sp>
      <p:sp>
        <p:nvSpPr>
          <p:cNvPr id="19" name="">
            <a:extLst xmlns:a="http://schemas.openxmlformats.org/drawingml/2006/main">
              <a:ext uri="{FF2B5EF4-FFF2-40B4-BE49-F238E27FC236}">
                <a16:creationId xmlns:a16="http://schemas.microsoft.com/office/drawing/2014/main" id="{E408866F-E724-44B8-8BC1-071CC4EC251A}"/>
              </a:ext>
            </a:extLst>
          </p:cNvPr>
          <p:cNvSpPr>
            <a:spLocks xmlns:a="http://schemas.openxmlformats.org/drawingml/2006/main" noGrp="1"/>
          </p:cNvSpPr>
          <p:nvPr/>
        </p:nvSpPr>
        <p:spPr>
          <a:xfrm xmlns:a="http://schemas.openxmlformats.org/drawingml/2006/main">
            <a:off x="8477250" y="3086100"/>
            <a:ext cx="16954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10 locations from each dataset, then reused as important nodes in the graph task.</a:t>
            </a:r>
          </a:p>
        </p:txBody>
      </p:sp>
      <p:sp>
        <p:nvSpPr>
          <p:cNvPr id="20" name="">
            <a:extLst xmlns:a="http://schemas.openxmlformats.org/drawingml/2006/main">
              <a:ext uri="{FF2B5EF4-FFF2-40B4-BE49-F238E27FC236}">
                <a16:creationId xmlns:a16="http://schemas.microsoft.com/office/drawing/2014/main" id="{09A2FB0C-2E8D-4756-B77A-F86FD4E7D095}"/>
              </a:ext>
            </a:extLst>
          </p:cNvPr>
          <p:cNvSpPr>
            <a:spLocks xmlns:a="http://schemas.openxmlformats.org/drawingml/2006/main" noGrp="1"/>
          </p:cNvSpPr>
          <p:nvPr/>
        </p:nvSpPr>
        <p:spPr>
          <a:xfrm xmlns:a="http://schemas.openxmlformats.org/drawingml/2006/main">
            <a:off x="1104900" y="5067300"/>
            <a:ext cx="150495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246B57"/>
            </a:solidFill>
            <a:prstDash val="solid"/>
          </a:ln>
        </p:spPr>
      </p:sp>
      <p:sp>
        <p:nvSpPr>
          <p:cNvPr id="21" name="">
            <a:extLst xmlns:a="http://schemas.openxmlformats.org/drawingml/2006/main">
              <a:ext uri="{FF2B5EF4-FFF2-40B4-BE49-F238E27FC236}">
                <a16:creationId xmlns:a16="http://schemas.microsoft.com/office/drawing/2014/main" id="{49DB4853-864D-4F2C-84BB-F49E79703C18}"/>
              </a:ext>
            </a:extLst>
          </p:cNvPr>
          <p:cNvSpPr>
            <a:spLocks xmlns:a="http://schemas.openxmlformats.org/drawingml/2006/main" noGrp="1"/>
          </p:cNvSpPr>
          <p:nvPr/>
        </p:nvSpPr>
        <p:spPr>
          <a:xfrm xmlns:a="http://schemas.openxmlformats.org/drawingml/2006/main">
            <a:off x="1200150" y="5143500"/>
            <a:ext cx="13144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246B57"/>
                </a:solidFill>
                <a:latin typeface="Aptos"/>
                <a:ea typeface="Aptos"/>
                <a:cs typeface="Aptos"/>
              </a:defRPr>
            </a:pPr>
            <a:r>
              <a:rPr sz="675" b="1">
                <a:solidFill>
                  <a:srgbClr val="246B57"/>
                </a:solidFill>
                <a:latin typeface="Aptos"/>
                <a:ea typeface="Aptos"/>
                <a:cs typeface="Aptos"/>
              </a:rPr>
              <a:t>A: L0001-L0010</a:t>
            </a:r>
          </a:p>
        </p:txBody>
      </p:sp>
      <p:sp>
        <p:nvSpPr>
          <p:cNvPr id="22" name="">
            <a:extLst xmlns:a="http://schemas.openxmlformats.org/drawingml/2006/main">
              <a:ext uri="{FF2B5EF4-FFF2-40B4-BE49-F238E27FC236}">
                <a16:creationId xmlns:a16="http://schemas.microsoft.com/office/drawing/2014/main" id="{92D07E3B-ECFF-4774-8152-FF5B7B2FA86D}"/>
              </a:ext>
            </a:extLst>
          </p:cNvPr>
          <p:cNvSpPr>
            <a:spLocks xmlns:a="http://schemas.openxmlformats.org/drawingml/2006/main" noGrp="1"/>
          </p:cNvSpPr>
          <p:nvPr/>
        </p:nvSpPr>
        <p:spPr>
          <a:xfrm xmlns:a="http://schemas.openxmlformats.org/drawingml/2006/main">
            <a:off x="2895600" y="5067300"/>
            <a:ext cx="150495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315E91"/>
            </a:solidFill>
            <a:prstDash val="solid"/>
          </a:ln>
        </p:spPr>
      </p:sp>
      <p:sp>
        <p:nvSpPr>
          <p:cNvPr id="23" name="">
            <a:extLst xmlns:a="http://schemas.openxmlformats.org/drawingml/2006/main">
              <a:ext uri="{FF2B5EF4-FFF2-40B4-BE49-F238E27FC236}">
                <a16:creationId xmlns:a16="http://schemas.microsoft.com/office/drawing/2014/main" id="{21ACFD61-CFB3-4270-8138-B90C0863F0BB}"/>
              </a:ext>
            </a:extLst>
          </p:cNvPr>
          <p:cNvSpPr>
            <a:spLocks xmlns:a="http://schemas.openxmlformats.org/drawingml/2006/main" noGrp="1"/>
          </p:cNvSpPr>
          <p:nvPr/>
        </p:nvSpPr>
        <p:spPr>
          <a:xfrm xmlns:a="http://schemas.openxmlformats.org/drawingml/2006/main">
            <a:off x="2990850" y="5143500"/>
            <a:ext cx="13144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315E91"/>
                </a:solidFill>
                <a:latin typeface="Aptos"/>
                <a:ea typeface="Aptos"/>
                <a:cs typeface="Aptos"/>
              </a:defRPr>
            </a:pPr>
            <a:r>
              <a:rPr sz="675" b="1">
                <a:solidFill>
                  <a:srgbClr val="315E91"/>
                </a:solidFill>
                <a:latin typeface="Aptos"/>
                <a:ea typeface="Aptos"/>
                <a:cs typeface="Aptos"/>
              </a:rPr>
              <a:t>B: L0101-L0110</a:t>
            </a:r>
          </a:p>
        </p:txBody>
      </p:sp>
      <p:sp>
        <p:nvSpPr>
          <p:cNvPr id="24" name="">
            <a:extLst xmlns:a="http://schemas.openxmlformats.org/drawingml/2006/main">
              <a:ext uri="{FF2B5EF4-FFF2-40B4-BE49-F238E27FC236}">
                <a16:creationId xmlns:a16="http://schemas.microsoft.com/office/drawing/2014/main" id="{349C9795-8AAB-4A54-9EC4-7763D339F62C}"/>
              </a:ext>
            </a:extLst>
          </p:cNvPr>
          <p:cNvSpPr>
            <a:spLocks xmlns:a="http://schemas.openxmlformats.org/drawingml/2006/main" noGrp="1"/>
          </p:cNvSpPr>
          <p:nvPr/>
        </p:nvSpPr>
        <p:spPr>
          <a:xfrm xmlns:a="http://schemas.openxmlformats.org/drawingml/2006/main">
            <a:off x="4686300" y="5067300"/>
            <a:ext cx="150495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A85645"/>
            </a:solidFill>
            <a:prstDash val="solid"/>
          </a:ln>
        </p:spPr>
      </p:sp>
      <p:sp>
        <p:nvSpPr>
          <p:cNvPr id="25" name="">
            <a:extLst xmlns:a="http://schemas.openxmlformats.org/drawingml/2006/main">
              <a:ext uri="{FF2B5EF4-FFF2-40B4-BE49-F238E27FC236}">
                <a16:creationId xmlns:a16="http://schemas.microsoft.com/office/drawing/2014/main" id="{C6AAA164-9A7E-4BAE-8380-D0D215D20A64}"/>
              </a:ext>
            </a:extLst>
          </p:cNvPr>
          <p:cNvSpPr>
            <a:spLocks xmlns:a="http://schemas.openxmlformats.org/drawingml/2006/main" noGrp="1"/>
          </p:cNvSpPr>
          <p:nvPr/>
        </p:nvSpPr>
        <p:spPr>
          <a:xfrm xmlns:a="http://schemas.openxmlformats.org/drawingml/2006/main">
            <a:off x="4781550" y="5143500"/>
            <a:ext cx="13144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A85645"/>
                </a:solidFill>
                <a:latin typeface="Aptos"/>
                <a:ea typeface="Aptos"/>
                <a:cs typeface="Aptos"/>
              </a:defRPr>
            </a:pPr>
            <a:r>
              <a:rPr sz="675" b="1">
                <a:solidFill>
                  <a:srgbClr val="A85645"/>
                </a:solidFill>
                <a:latin typeface="Aptos"/>
                <a:ea typeface="Aptos"/>
                <a:cs typeface="Aptos"/>
              </a:rPr>
              <a:t>C: L0201-L0210</a:t>
            </a:r>
          </a:p>
        </p:txBody>
      </p:sp>
      <p:sp>
        <p:nvSpPr>
          <p:cNvPr id="26" name="">
            <a:extLst xmlns:a="http://schemas.openxmlformats.org/drawingml/2006/main">
              <a:ext uri="{FF2B5EF4-FFF2-40B4-BE49-F238E27FC236}">
                <a16:creationId xmlns:a16="http://schemas.microsoft.com/office/drawing/2014/main" id="{B13B06CE-08D3-4ECB-A897-710A297AD530}"/>
              </a:ext>
            </a:extLst>
          </p:cNvPr>
          <p:cNvSpPr>
            <a:spLocks xmlns:a="http://schemas.openxmlformats.org/drawingml/2006/main" noGrp="1"/>
          </p:cNvSpPr>
          <p:nvPr/>
        </p:nvSpPr>
        <p:spPr>
          <a:xfrm xmlns:a="http://schemas.openxmlformats.org/drawingml/2006/main">
            <a:off x="6705600" y="5105400"/>
            <a:ext cx="342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C7178"/>
                </a:solidFill>
                <a:latin typeface="Aptos"/>
                <a:ea typeface="Aptos"/>
                <a:cs typeface="Aptos"/>
              </a:defRPr>
            </a:pPr>
            <a:r>
              <a:rPr sz="975" b="0">
                <a:solidFill>
                  <a:srgbClr val="6C7178"/>
                </a:solidFill>
                <a:latin typeface="Aptos"/>
                <a:ea typeface="Aptos"/>
                <a:cs typeface="Aptos"/>
              </a:rPr>
              <a:t>Dataset C top scores are all 5000, so the secondary rule prevents ambiguous output.</a:t>
            </a:r>
          </a:p>
        </p:txBody>
      </p:sp>
      <p:sp>
        <p:nvSpPr>
          <p:cNvPr id="27" name="">
            <a:extLst xmlns:a="http://schemas.openxmlformats.org/drawingml/2006/main">
              <a:ext uri="{FF2B5EF4-FFF2-40B4-BE49-F238E27FC236}">
                <a16:creationId xmlns:a16="http://schemas.microsoft.com/office/drawing/2014/main" id="{B2F8D95D-0E2C-47FB-980B-790CBBFAF8B3}"/>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8" name="">
            <a:extLst xmlns:a="http://schemas.openxmlformats.org/drawingml/2006/main">
              <a:ext uri="{FF2B5EF4-FFF2-40B4-BE49-F238E27FC236}">
                <a16:creationId xmlns:a16="http://schemas.microsoft.com/office/drawing/2014/main" id="{BD1E3284-AC7C-4AF6-8628-F81B480EA77C}"/>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03</a:t>
            </a:r>
          </a:p>
        </p:txBody>
      </p:sp>
    </p:spTree>
    <p:extLst>
      <p:ext uri="{BB962C8B-B14F-4D97-AF65-F5344CB8AC3E}">
        <p14:creationId xmlns:p14="http://schemas.microsoft.com/office/powerpoint/2010/main" val="8045338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345B23-7394-4706-89C1-7C49F7043F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7E32E51-D27D-46B5-AA31-AF62964045B6}"/>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76688477-C1E3-4F4A-B636-31098D222FBB}"/>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SORTING BENCHMARK</a:t>
            </a:r>
          </a:p>
        </p:txBody>
      </p:sp>
      <p:sp>
        <p:nvSpPr>
          <p:cNvPr id="4" name="">
            <a:extLst xmlns:a="http://schemas.openxmlformats.org/drawingml/2006/main">
              <a:ext uri="{FF2B5EF4-FFF2-40B4-BE49-F238E27FC236}">
                <a16:creationId xmlns:a16="http://schemas.microsoft.com/office/drawing/2014/main" id="{F7407DCB-C47A-4511-B942-C5DEF3C7B58D}"/>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The best algorithm changes with the input shape.</a:t>
            </a:r>
          </a:p>
        </p:txBody>
      </p:sp>
      <p:sp>
        <p:nvSpPr>
          <p:cNvPr id="5" name="">
            <a:extLst xmlns:a="http://schemas.openxmlformats.org/drawingml/2006/main">
              <a:ext uri="{FF2B5EF4-FFF2-40B4-BE49-F238E27FC236}">
                <a16:creationId xmlns:a16="http://schemas.microsoft.com/office/drawing/2014/main" id="{E0AEF623-0F1C-4457-B555-14C0EF25FDD6}"/>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DE6F752E-FEE4-416A-8539-9BED3AB26B4D}"/>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E61590F-5487-47D0-A111-BA583A812A86}"/>
              </a:ext>
            </a:extLst>
          </p:cNvPr>
          <p:cNvSpPr>
            <a:spLocks xmlns:a="http://schemas.openxmlformats.org/drawingml/2006/main" noGrp="1"/>
          </p:cNvSpPr>
          <p:nvPr/>
        </p:nvSpPr>
        <p:spPr>
          <a:xfrm xmlns:a="http://schemas.openxmlformats.org/drawingml/2006/main">
            <a:off x="857250" y="2305050"/>
            <a:ext cx="2781300" cy="2571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8" name="">
            <a:extLst xmlns:a="http://schemas.openxmlformats.org/drawingml/2006/main">
              <a:ext uri="{FF2B5EF4-FFF2-40B4-BE49-F238E27FC236}">
                <a16:creationId xmlns:a16="http://schemas.microsoft.com/office/drawing/2014/main" id="{0C67918C-4A0A-4ECD-8505-A063030C7E93}"/>
              </a:ext>
            </a:extLst>
          </p:cNvPr>
          <p:cNvSpPr>
            <a:spLocks xmlns:a="http://schemas.openxmlformats.org/drawingml/2006/main" noGrp="1"/>
          </p:cNvSpPr>
          <p:nvPr/>
        </p:nvSpPr>
        <p:spPr>
          <a:xfrm xmlns:a="http://schemas.openxmlformats.org/drawingml/2006/main">
            <a:off x="1123950" y="26098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Dataset A</a:t>
            </a:r>
          </a:p>
        </p:txBody>
      </p:sp>
      <p:sp>
        <p:nvSpPr>
          <p:cNvPr id="9" name="">
            <a:extLst xmlns:a="http://schemas.openxmlformats.org/drawingml/2006/main">
              <a:ext uri="{FF2B5EF4-FFF2-40B4-BE49-F238E27FC236}">
                <a16:creationId xmlns:a16="http://schemas.microsoft.com/office/drawing/2014/main" id="{8EBAFCF0-30AA-4305-B62D-46395F2B7E23}"/>
              </a:ext>
            </a:extLst>
          </p:cNvPr>
          <p:cNvSpPr>
            <a:spLocks xmlns:a="http://schemas.openxmlformats.org/drawingml/2006/main" noGrp="1"/>
          </p:cNvSpPr>
          <p:nvPr/>
        </p:nvSpPr>
        <p:spPr>
          <a:xfrm xmlns:a="http://schemas.openxmlformats.org/drawingml/2006/main">
            <a:off x="1123950" y="28765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nearly sorted</a:t>
            </a:r>
          </a:p>
        </p:txBody>
      </p:sp>
      <p:sp>
        <p:nvSpPr>
          <p:cNvPr id="10" name="">
            <a:extLst xmlns:a="http://schemas.openxmlformats.org/drawingml/2006/main">
              <a:ext uri="{FF2B5EF4-FFF2-40B4-BE49-F238E27FC236}">
                <a16:creationId xmlns:a16="http://schemas.microsoft.com/office/drawing/2014/main" id="{6C5744E7-B8F5-4B66-8141-C32267FB65BC}"/>
              </a:ext>
            </a:extLst>
          </p:cNvPr>
          <p:cNvSpPr>
            <a:spLocks xmlns:a="http://schemas.openxmlformats.org/drawingml/2006/main" noGrp="1"/>
          </p:cNvSpPr>
          <p:nvPr/>
        </p:nvSpPr>
        <p:spPr>
          <a:xfrm xmlns:a="http://schemas.openxmlformats.org/drawingml/2006/main">
            <a:off x="1143000" y="32289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Bubble</a:t>
            </a:r>
          </a:p>
        </p:txBody>
      </p:sp>
      <p:sp>
        <p:nvSpPr>
          <p:cNvPr id="11" name="">
            <a:extLst xmlns:a="http://schemas.openxmlformats.org/drawingml/2006/main">
              <a:ext uri="{FF2B5EF4-FFF2-40B4-BE49-F238E27FC236}">
                <a16:creationId xmlns:a16="http://schemas.microsoft.com/office/drawing/2014/main" id="{D1F5AB64-86D0-4256-8A67-D4999AE8B06F}"/>
              </a:ext>
            </a:extLst>
          </p:cNvPr>
          <p:cNvSpPr>
            <a:spLocks xmlns:a="http://schemas.openxmlformats.org/drawingml/2006/main" noGrp="1"/>
          </p:cNvSpPr>
          <p:nvPr/>
        </p:nvSpPr>
        <p:spPr>
          <a:xfrm xmlns:a="http://schemas.openxmlformats.org/drawingml/2006/main">
            <a:off x="1143000" y="33909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4AB900D-EEBD-4231-A7F2-2137E4A74F7B}"/>
              </a:ext>
            </a:extLst>
          </p:cNvPr>
          <p:cNvSpPr>
            <a:spLocks xmlns:a="http://schemas.openxmlformats.org/drawingml/2006/main" noGrp="1"/>
          </p:cNvSpPr>
          <p:nvPr/>
        </p:nvSpPr>
        <p:spPr>
          <a:xfrm xmlns:a="http://schemas.openxmlformats.org/drawingml/2006/main">
            <a:off x="1143000" y="3390900"/>
            <a:ext cx="41564" cy="95250"/>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6B7180F-0A6A-43B3-BCE1-6F32AE9E5749}"/>
              </a:ext>
            </a:extLst>
          </p:cNvPr>
          <p:cNvSpPr>
            <a:spLocks xmlns:a="http://schemas.openxmlformats.org/drawingml/2006/main" noGrp="1"/>
          </p:cNvSpPr>
          <p:nvPr/>
        </p:nvSpPr>
        <p:spPr>
          <a:xfrm xmlns:a="http://schemas.openxmlformats.org/drawingml/2006/main">
            <a:off x="2667000" y="33718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0.048 ms</a:t>
            </a:r>
          </a:p>
        </p:txBody>
      </p:sp>
      <p:sp>
        <p:nvSpPr>
          <p:cNvPr id="14" name="">
            <a:extLst xmlns:a="http://schemas.openxmlformats.org/drawingml/2006/main">
              <a:ext uri="{FF2B5EF4-FFF2-40B4-BE49-F238E27FC236}">
                <a16:creationId xmlns:a16="http://schemas.microsoft.com/office/drawing/2014/main" id="{958CA887-5543-4393-AAE2-52F5D6AA8FFC}"/>
              </a:ext>
            </a:extLst>
          </p:cNvPr>
          <p:cNvSpPr>
            <a:spLocks xmlns:a="http://schemas.openxmlformats.org/drawingml/2006/main" noGrp="1"/>
          </p:cNvSpPr>
          <p:nvPr/>
        </p:nvSpPr>
        <p:spPr>
          <a:xfrm xmlns:a="http://schemas.openxmlformats.org/drawingml/2006/main">
            <a:off x="1143000" y="36290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Insertion</a:t>
            </a:r>
          </a:p>
        </p:txBody>
      </p:sp>
      <p:sp>
        <p:nvSpPr>
          <p:cNvPr id="15" name="">
            <a:extLst xmlns:a="http://schemas.openxmlformats.org/drawingml/2006/main">
              <a:ext uri="{FF2B5EF4-FFF2-40B4-BE49-F238E27FC236}">
                <a16:creationId xmlns:a16="http://schemas.microsoft.com/office/drawing/2014/main" id="{7381ADEF-1A9F-417B-AFEF-87BF9ED29C55}"/>
              </a:ext>
            </a:extLst>
          </p:cNvPr>
          <p:cNvSpPr>
            <a:spLocks xmlns:a="http://schemas.openxmlformats.org/drawingml/2006/main" noGrp="1"/>
          </p:cNvSpPr>
          <p:nvPr/>
        </p:nvSpPr>
        <p:spPr>
          <a:xfrm xmlns:a="http://schemas.openxmlformats.org/drawingml/2006/main">
            <a:off x="1143000" y="37909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BBBC4161-1A17-463D-A3C7-0AA918EA88BB}"/>
              </a:ext>
            </a:extLst>
          </p:cNvPr>
          <p:cNvSpPr>
            <a:spLocks xmlns:a="http://schemas.openxmlformats.org/drawingml/2006/main" noGrp="1"/>
          </p:cNvSpPr>
          <p:nvPr/>
        </p:nvSpPr>
        <p:spPr>
          <a:xfrm xmlns:a="http://schemas.openxmlformats.org/drawingml/2006/main">
            <a:off x="1143000" y="3790950"/>
            <a:ext cx="58016" cy="9525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3CEC5C8-B363-4EFB-B4CF-DAC736A92F16}"/>
              </a:ext>
            </a:extLst>
          </p:cNvPr>
          <p:cNvSpPr>
            <a:spLocks xmlns:a="http://schemas.openxmlformats.org/drawingml/2006/main" noGrp="1"/>
          </p:cNvSpPr>
          <p:nvPr/>
        </p:nvSpPr>
        <p:spPr>
          <a:xfrm xmlns:a="http://schemas.openxmlformats.org/drawingml/2006/main">
            <a:off x="2667000" y="37719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0.067 ms</a:t>
            </a:r>
          </a:p>
        </p:txBody>
      </p:sp>
      <p:sp>
        <p:nvSpPr>
          <p:cNvPr id="18" name="">
            <a:extLst xmlns:a="http://schemas.openxmlformats.org/drawingml/2006/main">
              <a:ext uri="{FF2B5EF4-FFF2-40B4-BE49-F238E27FC236}">
                <a16:creationId xmlns:a16="http://schemas.microsoft.com/office/drawing/2014/main" id="{8F244B82-E220-4FFB-95F8-99638D07BD45}"/>
              </a:ext>
            </a:extLst>
          </p:cNvPr>
          <p:cNvSpPr>
            <a:spLocks xmlns:a="http://schemas.openxmlformats.org/drawingml/2006/main" noGrp="1"/>
          </p:cNvSpPr>
          <p:nvPr/>
        </p:nvSpPr>
        <p:spPr>
          <a:xfrm xmlns:a="http://schemas.openxmlformats.org/drawingml/2006/main">
            <a:off x="1143000" y="40290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Quick</a:t>
            </a:r>
          </a:p>
        </p:txBody>
      </p:sp>
      <p:sp>
        <p:nvSpPr>
          <p:cNvPr id="19" name="">
            <a:extLst xmlns:a="http://schemas.openxmlformats.org/drawingml/2006/main">
              <a:ext uri="{FF2B5EF4-FFF2-40B4-BE49-F238E27FC236}">
                <a16:creationId xmlns:a16="http://schemas.microsoft.com/office/drawing/2014/main" id="{C17EAD40-6205-422E-8226-73804A7049FB}"/>
              </a:ext>
            </a:extLst>
          </p:cNvPr>
          <p:cNvSpPr>
            <a:spLocks xmlns:a="http://schemas.openxmlformats.org/drawingml/2006/main" noGrp="1"/>
          </p:cNvSpPr>
          <p:nvPr/>
        </p:nvSpPr>
        <p:spPr>
          <a:xfrm xmlns:a="http://schemas.openxmlformats.org/drawingml/2006/main">
            <a:off x="1143000" y="41910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965C258-9E73-49BD-8E49-764CB6301904}"/>
              </a:ext>
            </a:extLst>
          </p:cNvPr>
          <p:cNvSpPr>
            <a:spLocks xmlns:a="http://schemas.openxmlformats.org/drawingml/2006/main" noGrp="1"/>
          </p:cNvSpPr>
          <p:nvPr/>
        </p:nvSpPr>
        <p:spPr>
          <a:xfrm xmlns:a="http://schemas.openxmlformats.org/drawingml/2006/main">
            <a:off x="1143000" y="4191000"/>
            <a:ext cx="1416627" cy="95250"/>
          </a:xfrm>
          <a:prstGeom xmlns:a="http://schemas.openxmlformats.org/drawingml/2006/main" prst="rect">
            <a:avLst/>
          </a:prstGeom>
          <a:solidFill xmlns:a="http://schemas.openxmlformats.org/drawingml/2006/main">
            <a:srgbClr val="A85645"/>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3ED2F43-84E6-44B9-9A8E-3F384744CC77}"/>
              </a:ext>
            </a:extLst>
          </p:cNvPr>
          <p:cNvSpPr>
            <a:spLocks xmlns:a="http://schemas.openxmlformats.org/drawingml/2006/main" noGrp="1"/>
          </p:cNvSpPr>
          <p:nvPr/>
        </p:nvSpPr>
        <p:spPr>
          <a:xfrm xmlns:a="http://schemas.openxmlformats.org/drawingml/2006/main">
            <a:off x="2667000" y="41719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1.636 ms</a:t>
            </a:r>
          </a:p>
        </p:txBody>
      </p:sp>
      <p:sp>
        <p:nvSpPr>
          <p:cNvPr id="22" name="">
            <a:extLst xmlns:a="http://schemas.openxmlformats.org/drawingml/2006/main">
              <a:ext uri="{FF2B5EF4-FFF2-40B4-BE49-F238E27FC236}">
                <a16:creationId xmlns:a16="http://schemas.microsoft.com/office/drawing/2014/main" id="{4D57B5AA-0DB7-43EB-A5F0-53DA22F7CA4E}"/>
              </a:ext>
            </a:extLst>
          </p:cNvPr>
          <p:cNvSpPr>
            <a:spLocks xmlns:a="http://schemas.openxmlformats.org/drawingml/2006/main" noGrp="1"/>
          </p:cNvSpPr>
          <p:nvPr/>
        </p:nvSpPr>
        <p:spPr>
          <a:xfrm xmlns:a="http://schemas.openxmlformats.org/drawingml/2006/main">
            <a:off x="1143000" y="44291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Merge</a:t>
            </a:r>
          </a:p>
        </p:txBody>
      </p:sp>
      <p:sp>
        <p:nvSpPr>
          <p:cNvPr id="23" name="">
            <a:extLst xmlns:a="http://schemas.openxmlformats.org/drawingml/2006/main">
              <a:ext uri="{FF2B5EF4-FFF2-40B4-BE49-F238E27FC236}">
                <a16:creationId xmlns:a16="http://schemas.microsoft.com/office/drawing/2014/main" id="{B7C50A1D-32F8-4A78-9D48-C66F872DC11E}"/>
              </a:ext>
            </a:extLst>
          </p:cNvPr>
          <p:cNvSpPr>
            <a:spLocks xmlns:a="http://schemas.openxmlformats.org/drawingml/2006/main" noGrp="1"/>
          </p:cNvSpPr>
          <p:nvPr/>
        </p:nvSpPr>
        <p:spPr>
          <a:xfrm xmlns:a="http://schemas.openxmlformats.org/drawingml/2006/main">
            <a:off x="1143000" y="45910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AF42AA6-8C37-4E1F-AFFC-B4EB6EEBC92B}"/>
              </a:ext>
            </a:extLst>
          </p:cNvPr>
          <p:cNvSpPr>
            <a:spLocks xmlns:a="http://schemas.openxmlformats.org/drawingml/2006/main" noGrp="1"/>
          </p:cNvSpPr>
          <p:nvPr/>
        </p:nvSpPr>
        <p:spPr>
          <a:xfrm xmlns:a="http://schemas.openxmlformats.org/drawingml/2006/main">
            <a:off x="1143000" y="4591050"/>
            <a:ext cx="174048" cy="95250"/>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CCB0BBFB-9D11-464D-A9E8-2DFF61E1C972}"/>
              </a:ext>
            </a:extLst>
          </p:cNvPr>
          <p:cNvSpPr>
            <a:spLocks xmlns:a="http://schemas.openxmlformats.org/drawingml/2006/main" noGrp="1"/>
          </p:cNvSpPr>
          <p:nvPr/>
        </p:nvSpPr>
        <p:spPr>
          <a:xfrm xmlns:a="http://schemas.openxmlformats.org/drawingml/2006/main">
            <a:off x="2667000" y="45720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0.201 ms</a:t>
            </a:r>
          </a:p>
        </p:txBody>
      </p:sp>
      <p:sp>
        <p:nvSpPr>
          <p:cNvPr id="26" name="">
            <a:extLst xmlns:a="http://schemas.openxmlformats.org/drawingml/2006/main">
              <a:ext uri="{FF2B5EF4-FFF2-40B4-BE49-F238E27FC236}">
                <a16:creationId xmlns:a16="http://schemas.microsoft.com/office/drawing/2014/main" id="{173972E2-59F8-400D-9C51-05867C59A24D}"/>
              </a:ext>
            </a:extLst>
          </p:cNvPr>
          <p:cNvSpPr>
            <a:spLocks xmlns:a="http://schemas.openxmlformats.org/drawingml/2006/main" noGrp="1"/>
          </p:cNvSpPr>
          <p:nvPr/>
        </p:nvSpPr>
        <p:spPr>
          <a:xfrm xmlns:a="http://schemas.openxmlformats.org/drawingml/2006/main">
            <a:off x="4286250" y="2305050"/>
            <a:ext cx="2781300" cy="2571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27" name="">
            <a:extLst xmlns:a="http://schemas.openxmlformats.org/drawingml/2006/main">
              <a:ext uri="{FF2B5EF4-FFF2-40B4-BE49-F238E27FC236}">
                <a16:creationId xmlns:a16="http://schemas.microsoft.com/office/drawing/2014/main" id="{1081E5E4-05FA-41D4-8BE8-3BF9330916E4}"/>
              </a:ext>
            </a:extLst>
          </p:cNvPr>
          <p:cNvSpPr>
            <a:spLocks xmlns:a="http://schemas.openxmlformats.org/drawingml/2006/main" noGrp="1"/>
          </p:cNvSpPr>
          <p:nvPr/>
        </p:nvSpPr>
        <p:spPr>
          <a:xfrm xmlns:a="http://schemas.openxmlformats.org/drawingml/2006/main">
            <a:off x="4552950" y="26098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Dataset B</a:t>
            </a:r>
          </a:p>
        </p:txBody>
      </p:sp>
      <p:sp>
        <p:nvSpPr>
          <p:cNvPr id="28" name="">
            <a:extLst xmlns:a="http://schemas.openxmlformats.org/drawingml/2006/main">
              <a:ext uri="{FF2B5EF4-FFF2-40B4-BE49-F238E27FC236}">
                <a16:creationId xmlns:a16="http://schemas.microsoft.com/office/drawing/2014/main" id="{E01AFBE1-2CC1-4405-B9E4-EFACCF6D567D}"/>
              </a:ext>
            </a:extLst>
          </p:cNvPr>
          <p:cNvSpPr>
            <a:spLocks xmlns:a="http://schemas.openxmlformats.org/drawingml/2006/main" noGrp="1"/>
          </p:cNvSpPr>
          <p:nvPr/>
        </p:nvSpPr>
        <p:spPr>
          <a:xfrm xmlns:a="http://schemas.openxmlformats.org/drawingml/2006/main">
            <a:off x="4552950" y="28765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random order</a:t>
            </a:r>
          </a:p>
        </p:txBody>
      </p:sp>
      <p:sp>
        <p:nvSpPr>
          <p:cNvPr id="29" name="">
            <a:extLst xmlns:a="http://schemas.openxmlformats.org/drawingml/2006/main">
              <a:ext uri="{FF2B5EF4-FFF2-40B4-BE49-F238E27FC236}">
                <a16:creationId xmlns:a16="http://schemas.microsoft.com/office/drawing/2014/main" id="{94C7BF45-38E9-4BB5-A693-44915869AD99}"/>
              </a:ext>
            </a:extLst>
          </p:cNvPr>
          <p:cNvSpPr>
            <a:spLocks xmlns:a="http://schemas.openxmlformats.org/drawingml/2006/main" noGrp="1"/>
          </p:cNvSpPr>
          <p:nvPr/>
        </p:nvSpPr>
        <p:spPr>
          <a:xfrm xmlns:a="http://schemas.openxmlformats.org/drawingml/2006/main">
            <a:off x="4572000" y="32289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Bubble</a:t>
            </a:r>
          </a:p>
        </p:txBody>
      </p:sp>
      <p:sp>
        <p:nvSpPr>
          <p:cNvPr id="30" name="">
            <a:extLst xmlns:a="http://schemas.openxmlformats.org/drawingml/2006/main">
              <a:ext uri="{FF2B5EF4-FFF2-40B4-BE49-F238E27FC236}">
                <a16:creationId xmlns:a16="http://schemas.microsoft.com/office/drawing/2014/main" id="{F3D2604A-B260-4DFE-ACBC-7F0667529185}"/>
              </a:ext>
            </a:extLst>
          </p:cNvPr>
          <p:cNvSpPr>
            <a:spLocks xmlns:a="http://schemas.openxmlformats.org/drawingml/2006/main" noGrp="1"/>
          </p:cNvSpPr>
          <p:nvPr/>
        </p:nvSpPr>
        <p:spPr>
          <a:xfrm xmlns:a="http://schemas.openxmlformats.org/drawingml/2006/main">
            <a:off x="4572000" y="33909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7572B0DE-A2A4-4D34-8546-19A7C548AEF6}"/>
              </a:ext>
            </a:extLst>
          </p:cNvPr>
          <p:cNvSpPr>
            <a:spLocks xmlns:a="http://schemas.openxmlformats.org/drawingml/2006/main" noGrp="1"/>
          </p:cNvSpPr>
          <p:nvPr/>
        </p:nvSpPr>
        <p:spPr>
          <a:xfrm xmlns:a="http://schemas.openxmlformats.org/drawingml/2006/main">
            <a:off x="4572000" y="3390900"/>
            <a:ext cx="1047750" cy="95250"/>
          </a:xfrm>
          <a:prstGeom xmlns:a="http://schemas.openxmlformats.org/drawingml/2006/main" prst="rect">
            <a:avLst/>
          </a:prstGeom>
          <a:solidFill xmlns:a="http://schemas.openxmlformats.org/drawingml/2006/main">
            <a:srgbClr val="A85645"/>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179698E-CBE8-4605-BF8A-41A58AF0F872}"/>
              </a:ext>
            </a:extLst>
          </p:cNvPr>
          <p:cNvSpPr>
            <a:spLocks xmlns:a="http://schemas.openxmlformats.org/drawingml/2006/main" noGrp="1"/>
          </p:cNvSpPr>
          <p:nvPr/>
        </p:nvSpPr>
        <p:spPr>
          <a:xfrm xmlns:a="http://schemas.openxmlformats.org/drawingml/2006/main">
            <a:off x="6096000" y="33718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1.210 ms</a:t>
            </a:r>
          </a:p>
        </p:txBody>
      </p:sp>
      <p:sp>
        <p:nvSpPr>
          <p:cNvPr id="33" name="">
            <a:extLst xmlns:a="http://schemas.openxmlformats.org/drawingml/2006/main">
              <a:ext uri="{FF2B5EF4-FFF2-40B4-BE49-F238E27FC236}">
                <a16:creationId xmlns:a16="http://schemas.microsoft.com/office/drawing/2014/main" id="{B192DA64-9D79-42A1-8C3C-7BBB638E4BDB}"/>
              </a:ext>
            </a:extLst>
          </p:cNvPr>
          <p:cNvSpPr>
            <a:spLocks xmlns:a="http://schemas.openxmlformats.org/drawingml/2006/main" noGrp="1"/>
          </p:cNvSpPr>
          <p:nvPr/>
        </p:nvSpPr>
        <p:spPr>
          <a:xfrm xmlns:a="http://schemas.openxmlformats.org/drawingml/2006/main">
            <a:off x="4572000" y="36290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Insertion</a:t>
            </a:r>
          </a:p>
        </p:txBody>
      </p:sp>
      <p:sp>
        <p:nvSpPr>
          <p:cNvPr id="34" name="">
            <a:extLst xmlns:a="http://schemas.openxmlformats.org/drawingml/2006/main">
              <a:ext uri="{FF2B5EF4-FFF2-40B4-BE49-F238E27FC236}">
                <a16:creationId xmlns:a16="http://schemas.microsoft.com/office/drawing/2014/main" id="{6C315EC3-757B-4744-9045-CBDBB65100D8}"/>
              </a:ext>
            </a:extLst>
          </p:cNvPr>
          <p:cNvSpPr>
            <a:spLocks xmlns:a="http://schemas.openxmlformats.org/drawingml/2006/main" noGrp="1"/>
          </p:cNvSpPr>
          <p:nvPr/>
        </p:nvSpPr>
        <p:spPr>
          <a:xfrm xmlns:a="http://schemas.openxmlformats.org/drawingml/2006/main">
            <a:off x="4572000" y="37909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D2DF393-E8C8-475A-94B4-CE7E1FC8D8C8}"/>
              </a:ext>
            </a:extLst>
          </p:cNvPr>
          <p:cNvSpPr>
            <a:spLocks xmlns:a="http://schemas.openxmlformats.org/drawingml/2006/main" noGrp="1"/>
          </p:cNvSpPr>
          <p:nvPr/>
        </p:nvSpPr>
        <p:spPr>
          <a:xfrm xmlns:a="http://schemas.openxmlformats.org/drawingml/2006/main">
            <a:off x="4572000" y="3790950"/>
            <a:ext cx="476250" cy="9525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0DA69BF1-11FF-4D01-8276-095411CA1295}"/>
              </a:ext>
            </a:extLst>
          </p:cNvPr>
          <p:cNvSpPr>
            <a:spLocks xmlns:a="http://schemas.openxmlformats.org/drawingml/2006/main" noGrp="1"/>
          </p:cNvSpPr>
          <p:nvPr/>
        </p:nvSpPr>
        <p:spPr>
          <a:xfrm xmlns:a="http://schemas.openxmlformats.org/drawingml/2006/main">
            <a:off x="6096000" y="37719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0.550 ms</a:t>
            </a:r>
          </a:p>
        </p:txBody>
      </p:sp>
      <p:sp>
        <p:nvSpPr>
          <p:cNvPr id="37" name="">
            <a:extLst xmlns:a="http://schemas.openxmlformats.org/drawingml/2006/main">
              <a:ext uri="{FF2B5EF4-FFF2-40B4-BE49-F238E27FC236}">
                <a16:creationId xmlns:a16="http://schemas.microsoft.com/office/drawing/2014/main" id="{2669FD1D-CD97-47AA-9FC6-79C2DFA7BD39}"/>
              </a:ext>
            </a:extLst>
          </p:cNvPr>
          <p:cNvSpPr>
            <a:spLocks xmlns:a="http://schemas.openxmlformats.org/drawingml/2006/main" noGrp="1"/>
          </p:cNvSpPr>
          <p:nvPr/>
        </p:nvSpPr>
        <p:spPr>
          <a:xfrm xmlns:a="http://schemas.openxmlformats.org/drawingml/2006/main">
            <a:off x="4572000" y="40290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Quick</a:t>
            </a:r>
          </a:p>
        </p:txBody>
      </p:sp>
      <p:sp>
        <p:nvSpPr>
          <p:cNvPr id="38" name="">
            <a:extLst xmlns:a="http://schemas.openxmlformats.org/drawingml/2006/main">
              <a:ext uri="{FF2B5EF4-FFF2-40B4-BE49-F238E27FC236}">
                <a16:creationId xmlns:a16="http://schemas.microsoft.com/office/drawing/2014/main" id="{945D81B0-1E51-4E18-9D82-96DC2733D64D}"/>
              </a:ext>
            </a:extLst>
          </p:cNvPr>
          <p:cNvSpPr>
            <a:spLocks xmlns:a="http://schemas.openxmlformats.org/drawingml/2006/main" noGrp="1"/>
          </p:cNvSpPr>
          <p:nvPr/>
        </p:nvSpPr>
        <p:spPr>
          <a:xfrm xmlns:a="http://schemas.openxmlformats.org/drawingml/2006/main">
            <a:off x="4572000" y="41910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BC3672E-EC6F-4C6A-A128-C3800CAB0EB9}"/>
              </a:ext>
            </a:extLst>
          </p:cNvPr>
          <p:cNvSpPr>
            <a:spLocks xmlns:a="http://schemas.openxmlformats.org/drawingml/2006/main" noGrp="1"/>
          </p:cNvSpPr>
          <p:nvPr/>
        </p:nvSpPr>
        <p:spPr>
          <a:xfrm xmlns:a="http://schemas.openxmlformats.org/drawingml/2006/main">
            <a:off x="4572000" y="4191000"/>
            <a:ext cx="28575" cy="95250"/>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0A6E21DE-6E56-4E08-8889-FEA30AFD4484}"/>
              </a:ext>
            </a:extLst>
          </p:cNvPr>
          <p:cNvSpPr>
            <a:spLocks xmlns:a="http://schemas.openxmlformats.org/drawingml/2006/main" noGrp="1"/>
          </p:cNvSpPr>
          <p:nvPr/>
        </p:nvSpPr>
        <p:spPr>
          <a:xfrm xmlns:a="http://schemas.openxmlformats.org/drawingml/2006/main">
            <a:off x="6096000" y="41719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0.028 ms</a:t>
            </a:r>
          </a:p>
        </p:txBody>
      </p:sp>
      <p:sp>
        <p:nvSpPr>
          <p:cNvPr id="41" name="">
            <a:extLst xmlns:a="http://schemas.openxmlformats.org/drawingml/2006/main">
              <a:ext uri="{FF2B5EF4-FFF2-40B4-BE49-F238E27FC236}">
                <a16:creationId xmlns:a16="http://schemas.microsoft.com/office/drawing/2014/main" id="{73707AF8-AEBF-4DB4-A264-AC719EE9DAEA}"/>
              </a:ext>
            </a:extLst>
          </p:cNvPr>
          <p:cNvSpPr>
            <a:spLocks xmlns:a="http://schemas.openxmlformats.org/drawingml/2006/main" noGrp="1"/>
          </p:cNvSpPr>
          <p:nvPr/>
        </p:nvSpPr>
        <p:spPr>
          <a:xfrm xmlns:a="http://schemas.openxmlformats.org/drawingml/2006/main">
            <a:off x="4572000" y="44291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Merge</a:t>
            </a:r>
          </a:p>
        </p:txBody>
      </p:sp>
      <p:sp>
        <p:nvSpPr>
          <p:cNvPr id="42" name="">
            <a:extLst xmlns:a="http://schemas.openxmlformats.org/drawingml/2006/main">
              <a:ext uri="{FF2B5EF4-FFF2-40B4-BE49-F238E27FC236}">
                <a16:creationId xmlns:a16="http://schemas.microsoft.com/office/drawing/2014/main" id="{B104CA28-8D31-434F-B5FD-608231762437}"/>
              </a:ext>
            </a:extLst>
          </p:cNvPr>
          <p:cNvSpPr>
            <a:spLocks xmlns:a="http://schemas.openxmlformats.org/drawingml/2006/main" noGrp="1"/>
          </p:cNvSpPr>
          <p:nvPr/>
        </p:nvSpPr>
        <p:spPr>
          <a:xfrm xmlns:a="http://schemas.openxmlformats.org/drawingml/2006/main">
            <a:off x="4572000" y="45910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18F3EE2-5396-4841-B39D-E86737F55EAA}"/>
              </a:ext>
            </a:extLst>
          </p:cNvPr>
          <p:cNvSpPr>
            <a:spLocks xmlns:a="http://schemas.openxmlformats.org/drawingml/2006/main" noGrp="1"/>
          </p:cNvSpPr>
          <p:nvPr/>
        </p:nvSpPr>
        <p:spPr>
          <a:xfrm xmlns:a="http://schemas.openxmlformats.org/drawingml/2006/main">
            <a:off x="4572000" y="4591050"/>
            <a:ext cx="90055" cy="95250"/>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A391E7ED-7B92-4791-9A0A-159A90D4673B}"/>
              </a:ext>
            </a:extLst>
          </p:cNvPr>
          <p:cNvSpPr>
            <a:spLocks xmlns:a="http://schemas.openxmlformats.org/drawingml/2006/main" noGrp="1"/>
          </p:cNvSpPr>
          <p:nvPr/>
        </p:nvSpPr>
        <p:spPr>
          <a:xfrm xmlns:a="http://schemas.openxmlformats.org/drawingml/2006/main">
            <a:off x="6096000" y="45720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0.104 ms</a:t>
            </a:r>
          </a:p>
        </p:txBody>
      </p:sp>
      <p:sp>
        <p:nvSpPr>
          <p:cNvPr id="45" name="">
            <a:extLst xmlns:a="http://schemas.openxmlformats.org/drawingml/2006/main">
              <a:ext uri="{FF2B5EF4-FFF2-40B4-BE49-F238E27FC236}">
                <a16:creationId xmlns:a16="http://schemas.microsoft.com/office/drawing/2014/main" id="{8166297F-E5A2-4197-9233-73E58A503AAA}"/>
              </a:ext>
            </a:extLst>
          </p:cNvPr>
          <p:cNvSpPr>
            <a:spLocks xmlns:a="http://schemas.openxmlformats.org/drawingml/2006/main" noGrp="1"/>
          </p:cNvSpPr>
          <p:nvPr/>
        </p:nvSpPr>
        <p:spPr>
          <a:xfrm xmlns:a="http://schemas.openxmlformats.org/drawingml/2006/main">
            <a:off x="7715250" y="2305050"/>
            <a:ext cx="2781300" cy="25717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46" name="">
            <a:extLst xmlns:a="http://schemas.openxmlformats.org/drawingml/2006/main">
              <a:ext uri="{FF2B5EF4-FFF2-40B4-BE49-F238E27FC236}">
                <a16:creationId xmlns:a16="http://schemas.microsoft.com/office/drawing/2014/main" id="{0C04914D-5339-47CC-85ED-06C42E42AAD3}"/>
              </a:ext>
            </a:extLst>
          </p:cNvPr>
          <p:cNvSpPr>
            <a:spLocks xmlns:a="http://schemas.openxmlformats.org/drawingml/2006/main" noGrp="1"/>
          </p:cNvSpPr>
          <p:nvPr/>
        </p:nvSpPr>
        <p:spPr>
          <a:xfrm xmlns:a="http://schemas.openxmlformats.org/drawingml/2006/main">
            <a:off x="7981950" y="26098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02326"/>
                </a:solidFill>
                <a:latin typeface="Aptos"/>
                <a:ea typeface="Aptos"/>
                <a:cs typeface="Aptos"/>
              </a:defRPr>
            </a:pPr>
            <a:r>
              <a:rPr sz="1350" b="1">
                <a:solidFill>
                  <a:srgbClr val="202326"/>
                </a:solidFill>
                <a:latin typeface="Aptos"/>
                <a:ea typeface="Aptos"/>
                <a:cs typeface="Aptos"/>
              </a:rPr>
              <a:t>Dataset C</a:t>
            </a:r>
          </a:p>
        </p:txBody>
      </p:sp>
      <p:sp>
        <p:nvSpPr>
          <p:cNvPr id="47" name="">
            <a:extLst xmlns:a="http://schemas.openxmlformats.org/drawingml/2006/main">
              <a:ext uri="{FF2B5EF4-FFF2-40B4-BE49-F238E27FC236}">
                <a16:creationId xmlns:a16="http://schemas.microsoft.com/office/drawing/2014/main" id="{38D9C93C-9218-4E7D-B9D4-FD02D1DB0E6F}"/>
              </a:ext>
            </a:extLst>
          </p:cNvPr>
          <p:cNvSpPr>
            <a:spLocks xmlns:a="http://schemas.openxmlformats.org/drawingml/2006/main" noGrp="1"/>
          </p:cNvSpPr>
          <p:nvPr/>
        </p:nvSpPr>
        <p:spPr>
          <a:xfrm xmlns:a="http://schemas.openxmlformats.org/drawingml/2006/main">
            <a:off x="7981950" y="28765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many equal scores</a:t>
            </a:r>
          </a:p>
        </p:txBody>
      </p:sp>
      <p:sp>
        <p:nvSpPr>
          <p:cNvPr id="48" name="">
            <a:extLst xmlns:a="http://schemas.openxmlformats.org/drawingml/2006/main">
              <a:ext uri="{FF2B5EF4-FFF2-40B4-BE49-F238E27FC236}">
                <a16:creationId xmlns:a16="http://schemas.microsoft.com/office/drawing/2014/main" id="{C1AA0F0B-2ADB-4692-9E21-8FBFD4690700}"/>
              </a:ext>
            </a:extLst>
          </p:cNvPr>
          <p:cNvSpPr>
            <a:spLocks xmlns:a="http://schemas.openxmlformats.org/drawingml/2006/main" noGrp="1"/>
          </p:cNvSpPr>
          <p:nvPr/>
        </p:nvSpPr>
        <p:spPr>
          <a:xfrm xmlns:a="http://schemas.openxmlformats.org/drawingml/2006/main">
            <a:off x="8001000" y="32289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Bubble</a:t>
            </a:r>
          </a:p>
        </p:txBody>
      </p:sp>
      <p:sp>
        <p:nvSpPr>
          <p:cNvPr id="49" name="">
            <a:extLst xmlns:a="http://schemas.openxmlformats.org/drawingml/2006/main">
              <a:ext uri="{FF2B5EF4-FFF2-40B4-BE49-F238E27FC236}">
                <a16:creationId xmlns:a16="http://schemas.microsoft.com/office/drawing/2014/main" id="{03EBD112-FCBA-4B7F-8383-FB580B21EFBC}"/>
              </a:ext>
            </a:extLst>
          </p:cNvPr>
          <p:cNvSpPr>
            <a:spLocks xmlns:a="http://schemas.openxmlformats.org/drawingml/2006/main" noGrp="1"/>
          </p:cNvSpPr>
          <p:nvPr/>
        </p:nvSpPr>
        <p:spPr>
          <a:xfrm xmlns:a="http://schemas.openxmlformats.org/drawingml/2006/main">
            <a:off x="8001000" y="33909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FDA54604-B1EB-4E85-B0BF-EB5BB04827B3}"/>
              </a:ext>
            </a:extLst>
          </p:cNvPr>
          <p:cNvSpPr>
            <a:spLocks xmlns:a="http://schemas.openxmlformats.org/drawingml/2006/main" noGrp="1"/>
          </p:cNvSpPr>
          <p:nvPr/>
        </p:nvSpPr>
        <p:spPr>
          <a:xfrm xmlns:a="http://schemas.openxmlformats.org/drawingml/2006/main">
            <a:off x="8001000" y="3390900"/>
            <a:ext cx="193964" cy="9525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B8D8C128-2203-4836-BDA6-F58E0D088A7A}"/>
              </a:ext>
            </a:extLst>
          </p:cNvPr>
          <p:cNvSpPr>
            <a:spLocks xmlns:a="http://schemas.openxmlformats.org/drawingml/2006/main" noGrp="1"/>
          </p:cNvSpPr>
          <p:nvPr/>
        </p:nvSpPr>
        <p:spPr>
          <a:xfrm xmlns:a="http://schemas.openxmlformats.org/drawingml/2006/main">
            <a:off x="9525000" y="33718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0.224 ms</a:t>
            </a:r>
          </a:p>
        </p:txBody>
      </p:sp>
      <p:sp>
        <p:nvSpPr>
          <p:cNvPr id="52" name="">
            <a:extLst xmlns:a="http://schemas.openxmlformats.org/drawingml/2006/main">
              <a:ext uri="{FF2B5EF4-FFF2-40B4-BE49-F238E27FC236}">
                <a16:creationId xmlns:a16="http://schemas.microsoft.com/office/drawing/2014/main" id="{E28A2158-BDFA-4027-AD75-AF22D2D85BEA}"/>
              </a:ext>
            </a:extLst>
          </p:cNvPr>
          <p:cNvSpPr>
            <a:spLocks xmlns:a="http://schemas.openxmlformats.org/drawingml/2006/main" noGrp="1"/>
          </p:cNvSpPr>
          <p:nvPr/>
        </p:nvSpPr>
        <p:spPr>
          <a:xfrm xmlns:a="http://schemas.openxmlformats.org/drawingml/2006/main">
            <a:off x="8001000" y="36290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Insertion</a:t>
            </a:r>
          </a:p>
        </p:txBody>
      </p:sp>
      <p:sp>
        <p:nvSpPr>
          <p:cNvPr id="53" name="">
            <a:extLst xmlns:a="http://schemas.openxmlformats.org/drawingml/2006/main">
              <a:ext uri="{FF2B5EF4-FFF2-40B4-BE49-F238E27FC236}">
                <a16:creationId xmlns:a16="http://schemas.microsoft.com/office/drawing/2014/main" id="{A51D816C-A6AC-4128-A07E-83E4463664E6}"/>
              </a:ext>
            </a:extLst>
          </p:cNvPr>
          <p:cNvSpPr>
            <a:spLocks xmlns:a="http://schemas.openxmlformats.org/drawingml/2006/main" noGrp="1"/>
          </p:cNvSpPr>
          <p:nvPr/>
        </p:nvSpPr>
        <p:spPr>
          <a:xfrm xmlns:a="http://schemas.openxmlformats.org/drawingml/2006/main">
            <a:off x="8001000" y="37909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D7E3866D-D6E6-4A7A-89F5-F0F4FAAC57E0}"/>
              </a:ext>
            </a:extLst>
          </p:cNvPr>
          <p:cNvSpPr>
            <a:spLocks xmlns:a="http://schemas.openxmlformats.org/drawingml/2006/main" noGrp="1"/>
          </p:cNvSpPr>
          <p:nvPr/>
        </p:nvSpPr>
        <p:spPr>
          <a:xfrm xmlns:a="http://schemas.openxmlformats.org/drawingml/2006/main">
            <a:off x="8001000" y="3790950"/>
            <a:ext cx="101311" cy="95250"/>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3484F4E4-2675-4A74-9625-027B69CEAEFA}"/>
              </a:ext>
            </a:extLst>
          </p:cNvPr>
          <p:cNvSpPr>
            <a:spLocks xmlns:a="http://schemas.openxmlformats.org/drawingml/2006/main" noGrp="1"/>
          </p:cNvSpPr>
          <p:nvPr/>
        </p:nvSpPr>
        <p:spPr>
          <a:xfrm xmlns:a="http://schemas.openxmlformats.org/drawingml/2006/main">
            <a:off x="9525000" y="37719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0.117 ms</a:t>
            </a:r>
          </a:p>
        </p:txBody>
      </p:sp>
      <p:sp>
        <p:nvSpPr>
          <p:cNvPr id="56" name="">
            <a:extLst xmlns:a="http://schemas.openxmlformats.org/drawingml/2006/main">
              <a:ext uri="{FF2B5EF4-FFF2-40B4-BE49-F238E27FC236}">
                <a16:creationId xmlns:a16="http://schemas.microsoft.com/office/drawing/2014/main" id="{620679E1-6889-4319-A739-FC1A9CEAB1DC}"/>
              </a:ext>
            </a:extLst>
          </p:cNvPr>
          <p:cNvSpPr>
            <a:spLocks xmlns:a="http://schemas.openxmlformats.org/drawingml/2006/main" noGrp="1"/>
          </p:cNvSpPr>
          <p:nvPr/>
        </p:nvSpPr>
        <p:spPr>
          <a:xfrm xmlns:a="http://schemas.openxmlformats.org/drawingml/2006/main">
            <a:off x="8001000" y="40290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Quick</a:t>
            </a:r>
          </a:p>
        </p:txBody>
      </p:sp>
      <p:sp>
        <p:nvSpPr>
          <p:cNvPr id="57" name="">
            <a:extLst xmlns:a="http://schemas.openxmlformats.org/drawingml/2006/main">
              <a:ext uri="{FF2B5EF4-FFF2-40B4-BE49-F238E27FC236}">
                <a16:creationId xmlns:a16="http://schemas.microsoft.com/office/drawing/2014/main" id="{525BC562-87EE-4DCE-8DA9-AF9A5886A021}"/>
              </a:ext>
            </a:extLst>
          </p:cNvPr>
          <p:cNvSpPr>
            <a:spLocks xmlns:a="http://schemas.openxmlformats.org/drawingml/2006/main" noGrp="1"/>
          </p:cNvSpPr>
          <p:nvPr/>
        </p:nvSpPr>
        <p:spPr>
          <a:xfrm xmlns:a="http://schemas.openxmlformats.org/drawingml/2006/main">
            <a:off x="8001000" y="419100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C0AB5E70-763C-41AB-8BEA-9C2B3F4A940B}"/>
              </a:ext>
            </a:extLst>
          </p:cNvPr>
          <p:cNvSpPr>
            <a:spLocks xmlns:a="http://schemas.openxmlformats.org/drawingml/2006/main" noGrp="1"/>
          </p:cNvSpPr>
          <p:nvPr/>
        </p:nvSpPr>
        <p:spPr>
          <a:xfrm xmlns:a="http://schemas.openxmlformats.org/drawingml/2006/main">
            <a:off x="8001000" y="4191000"/>
            <a:ext cx="242455" cy="95250"/>
          </a:xfrm>
          <a:prstGeom xmlns:a="http://schemas.openxmlformats.org/drawingml/2006/main" prst="rect">
            <a:avLst/>
          </a:prstGeom>
          <a:solidFill xmlns:a="http://schemas.openxmlformats.org/drawingml/2006/main">
            <a:srgbClr val="A85645"/>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56986E60-CE26-4E4E-A735-05206DFFE7C9}"/>
              </a:ext>
            </a:extLst>
          </p:cNvPr>
          <p:cNvSpPr>
            <a:spLocks xmlns:a="http://schemas.openxmlformats.org/drawingml/2006/main" noGrp="1"/>
          </p:cNvSpPr>
          <p:nvPr/>
        </p:nvSpPr>
        <p:spPr>
          <a:xfrm xmlns:a="http://schemas.openxmlformats.org/drawingml/2006/main">
            <a:off x="9525000" y="417195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0.280 ms</a:t>
            </a:r>
          </a:p>
        </p:txBody>
      </p:sp>
      <p:sp>
        <p:nvSpPr>
          <p:cNvPr id="60" name="">
            <a:extLst xmlns:a="http://schemas.openxmlformats.org/drawingml/2006/main">
              <a:ext uri="{FF2B5EF4-FFF2-40B4-BE49-F238E27FC236}">
                <a16:creationId xmlns:a16="http://schemas.microsoft.com/office/drawing/2014/main" id="{01557A2E-B002-4A58-A2EC-0517B131E9F3}"/>
              </a:ext>
            </a:extLst>
          </p:cNvPr>
          <p:cNvSpPr>
            <a:spLocks xmlns:a="http://schemas.openxmlformats.org/drawingml/2006/main" noGrp="1"/>
          </p:cNvSpPr>
          <p:nvPr/>
        </p:nvSpPr>
        <p:spPr>
          <a:xfrm xmlns:a="http://schemas.openxmlformats.org/drawingml/2006/main">
            <a:off x="8001000" y="442912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202326"/>
                </a:solidFill>
                <a:latin typeface="Aptos"/>
                <a:ea typeface="Aptos"/>
                <a:cs typeface="Aptos"/>
              </a:defRPr>
            </a:pPr>
            <a:r>
              <a:rPr sz="660" b="1">
                <a:solidFill>
                  <a:srgbClr val="202326"/>
                </a:solidFill>
                <a:latin typeface="Aptos"/>
                <a:ea typeface="Aptos"/>
                <a:cs typeface="Aptos"/>
              </a:rPr>
              <a:t>Merge</a:t>
            </a:r>
          </a:p>
        </p:txBody>
      </p:sp>
      <p:sp>
        <p:nvSpPr>
          <p:cNvPr id="61" name="">
            <a:extLst xmlns:a="http://schemas.openxmlformats.org/drawingml/2006/main">
              <a:ext uri="{FF2B5EF4-FFF2-40B4-BE49-F238E27FC236}">
                <a16:creationId xmlns:a16="http://schemas.microsoft.com/office/drawing/2014/main" id="{AEC91B75-6220-487A-9B02-60E3F5112138}"/>
              </a:ext>
            </a:extLst>
          </p:cNvPr>
          <p:cNvSpPr>
            <a:spLocks xmlns:a="http://schemas.openxmlformats.org/drawingml/2006/main" noGrp="1"/>
          </p:cNvSpPr>
          <p:nvPr/>
        </p:nvSpPr>
        <p:spPr>
          <a:xfrm xmlns:a="http://schemas.openxmlformats.org/drawingml/2006/main">
            <a:off x="8001000" y="4591050"/>
            <a:ext cx="1428750" cy="95250"/>
          </a:xfrm>
          <a:prstGeom xmlns:a="http://schemas.openxmlformats.org/drawingml/2006/main" prst="rect">
            <a:avLst/>
          </a:prstGeom>
          <a:solidFill xmlns:a="http://schemas.openxmlformats.org/drawingml/2006/main">
            <a:srgbClr val="DDD6C9"/>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CBFE87DD-DE91-4D76-9000-256AF63FD283}"/>
              </a:ext>
            </a:extLst>
          </p:cNvPr>
          <p:cNvSpPr>
            <a:spLocks xmlns:a="http://schemas.openxmlformats.org/drawingml/2006/main" noGrp="1"/>
          </p:cNvSpPr>
          <p:nvPr/>
        </p:nvSpPr>
        <p:spPr>
          <a:xfrm xmlns:a="http://schemas.openxmlformats.org/drawingml/2006/main">
            <a:off x="8001000" y="4591050"/>
            <a:ext cx="138545" cy="95250"/>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7098C436-3662-4651-B229-6371AE3FC0C7}"/>
              </a:ext>
            </a:extLst>
          </p:cNvPr>
          <p:cNvSpPr>
            <a:spLocks xmlns:a="http://schemas.openxmlformats.org/drawingml/2006/main" noGrp="1"/>
          </p:cNvSpPr>
          <p:nvPr/>
        </p:nvSpPr>
        <p:spPr>
          <a:xfrm xmlns:a="http://schemas.openxmlformats.org/drawingml/2006/main">
            <a:off x="9525000" y="4572000"/>
            <a:ext cx="666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6C7178"/>
                </a:solidFill>
                <a:latin typeface="Aptos"/>
                <a:ea typeface="Aptos"/>
                <a:cs typeface="Aptos"/>
              </a:defRPr>
            </a:pPr>
            <a:r>
              <a:rPr sz="660" b="0">
                <a:solidFill>
                  <a:srgbClr val="6C7178"/>
                </a:solidFill>
                <a:latin typeface="Aptos"/>
                <a:ea typeface="Aptos"/>
                <a:cs typeface="Aptos"/>
              </a:rPr>
              <a:t>0.160 ms</a:t>
            </a:r>
          </a:p>
        </p:txBody>
      </p:sp>
      <p:sp>
        <p:nvSpPr>
          <p:cNvPr id="64" name="">
            <a:extLst xmlns:a="http://schemas.openxmlformats.org/drawingml/2006/main">
              <a:ext uri="{FF2B5EF4-FFF2-40B4-BE49-F238E27FC236}">
                <a16:creationId xmlns:a16="http://schemas.microsoft.com/office/drawing/2014/main" id="{962B59F3-F928-4870-B29E-B1EF1F04EED0}"/>
              </a:ext>
            </a:extLst>
          </p:cNvPr>
          <p:cNvSpPr>
            <a:spLocks xmlns:a="http://schemas.openxmlformats.org/drawingml/2006/main" noGrp="1"/>
          </p:cNvSpPr>
          <p:nvPr/>
        </p:nvSpPr>
        <p:spPr>
          <a:xfrm xmlns:a="http://schemas.openxmlformats.org/drawingml/2006/main">
            <a:off x="1219200" y="5334000"/>
            <a:ext cx="38100" cy="533400"/>
          </a:xfrm>
          <a:prstGeom xmlns:a="http://schemas.openxmlformats.org/drawingml/2006/main" prst="rect">
            <a:avLst/>
          </a:prstGeom>
          <a:solidFill xmlns:a="http://schemas.openxmlformats.org/drawingml/2006/main">
            <a:srgbClr val="246B57"/>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A22B8D1E-F656-4506-AC3E-E1B557A62122}"/>
              </a:ext>
            </a:extLst>
          </p:cNvPr>
          <p:cNvSpPr>
            <a:spLocks xmlns:a="http://schemas.openxmlformats.org/drawingml/2006/main" noGrp="1"/>
          </p:cNvSpPr>
          <p:nvPr/>
        </p:nvSpPr>
        <p:spPr>
          <a:xfrm xmlns:a="http://schemas.openxmlformats.org/drawingml/2006/main">
            <a:off x="1390650" y="5353050"/>
            <a:ext cx="84010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Final choice: Merge Sort is not always the fastest, but it gives the most predictable O(n log n) runtime across changing dataset order. That makes it the safest single choice for the system.</a:t>
            </a:r>
          </a:p>
        </p:txBody>
      </p:sp>
      <p:sp>
        <p:nvSpPr>
          <p:cNvPr id="66" name="">
            <a:extLst xmlns:a="http://schemas.openxmlformats.org/drawingml/2006/main">
              <a:ext uri="{FF2B5EF4-FFF2-40B4-BE49-F238E27FC236}">
                <a16:creationId xmlns:a16="http://schemas.microsoft.com/office/drawing/2014/main" id="{5F831E21-95FF-4383-AC0E-8038B73C1582}"/>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67" name="">
            <a:extLst xmlns:a="http://schemas.openxmlformats.org/drawingml/2006/main">
              <a:ext uri="{FF2B5EF4-FFF2-40B4-BE49-F238E27FC236}">
                <a16:creationId xmlns:a16="http://schemas.microsoft.com/office/drawing/2014/main" id="{71E81781-F6F3-4005-A2F3-E48CEBC4A68A}"/>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04</a:t>
            </a:r>
          </a:p>
        </p:txBody>
      </p:sp>
    </p:spTree>
    <p:extLst>
      <p:ext uri="{BB962C8B-B14F-4D97-AF65-F5344CB8AC3E}">
        <p14:creationId xmlns:p14="http://schemas.microsoft.com/office/powerpoint/2010/main" val="13328097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D18970-E6C8-438E-9D95-FB919DF074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7C87002-732B-4453-B9D5-F9D72E965436}"/>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EE6F1299-57AC-4264-A791-AD611F212E35}"/>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WEIGHTED GRAPH</a:t>
            </a:r>
          </a:p>
        </p:txBody>
      </p:sp>
      <p:sp>
        <p:nvSpPr>
          <p:cNvPr id="4" name="">
            <a:extLst xmlns:a="http://schemas.openxmlformats.org/drawingml/2006/main">
              <a:ext uri="{FF2B5EF4-FFF2-40B4-BE49-F238E27FC236}">
                <a16:creationId xmlns:a16="http://schemas.microsoft.com/office/drawing/2014/main" id="{996B6550-B211-45C9-A609-6CD34D6DA343}"/>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The selected targets become nodes inside a larger infrastructure network.</a:t>
            </a:r>
          </a:p>
        </p:txBody>
      </p:sp>
      <p:sp>
        <p:nvSpPr>
          <p:cNvPr id="5" name="">
            <a:extLst xmlns:a="http://schemas.openxmlformats.org/drawingml/2006/main">
              <a:ext uri="{FF2B5EF4-FFF2-40B4-BE49-F238E27FC236}">
                <a16:creationId xmlns:a16="http://schemas.microsoft.com/office/drawing/2014/main" id="{04D38B76-3C70-4226-9392-E935FE3775D5}"/>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A952C8B5-D1C7-4448-BCF9-3A095308B837}"/>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1DD1F60-A1C8-44CE-9C9E-F148E5CFF153}"/>
              </a:ext>
            </a:extLst>
          </p:cNvPr>
          <p:cNvSpPr>
            <a:spLocks xmlns:a="http://schemas.openxmlformats.org/drawingml/2006/main" noGrp="1"/>
          </p:cNvSpPr>
          <p:nvPr/>
        </p:nvSpPr>
        <p:spPr>
          <a:xfrm xmlns:a="http://schemas.openxmlformats.org/drawingml/2006/main">
            <a:off x="838200" y="2305050"/>
            <a:ext cx="4171950" cy="26670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8" name="">
            <a:extLst xmlns:a="http://schemas.openxmlformats.org/drawingml/2006/main">
              <a:ext uri="{FF2B5EF4-FFF2-40B4-BE49-F238E27FC236}">
                <a16:creationId xmlns:a16="http://schemas.microsoft.com/office/drawing/2014/main" id="{C4EC2147-F434-4199-A3B9-89BAD4A09FA0}"/>
              </a:ext>
            </a:extLst>
          </p:cNvPr>
          <p:cNvSpPr>
            <a:spLocks xmlns:a="http://schemas.openxmlformats.org/drawingml/2006/main" noGrp="1"/>
          </p:cNvSpPr>
          <p:nvPr/>
        </p:nvSpPr>
        <p:spPr>
          <a:xfrm xmlns:a="http://schemas.openxmlformats.org/drawingml/2006/main">
            <a:off x="1181100" y="260985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02326"/>
                </a:solidFill>
                <a:latin typeface="Aptos"/>
                <a:ea typeface="Aptos"/>
                <a:cs typeface="Aptos"/>
              </a:defRPr>
            </a:pPr>
            <a:r>
              <a:rPr sz="1500" b="1">
                <a:solidFill>
                  <a:srgbClr val="202326"/>
                </a:solidFill>
                <a:latin typeface="Aptos"/>
                <a:ea typeface="Aptos"/>
                <a:cs typeface="Aptos"/>
              </a:rPr>
              <a:t>Graph model</a:t>
            </a:r>
          </a:p>
        </p:txBody>
      </p:sp>
      <p:sp>
        <p:nvSpPr>
          <p:cNvPr id="9" name="">
            <a:extLst xmlns:a="http://schemas.openxmlformats.org/drawingml/2006/main">
              <a:ext uri="{FF2B5EF4-FFF2-40B4-BE49-F238E27FC236}">
                <a16:creationId xmlns:a16="http://schemas.microsoft.com/office/drawing/2014/main" id="{EADDD45D-4C63-443E-BC15-A6513132BF6F}"/>
              </a:ext>
            </a:extLst>
          </p:cNvPr>
          <p:cNvSpPr>
            <a:spLocks xmlns:a="http://schemas.openxmlformats.org/drawingml/2006/main" noGrp="1"/>
          </p:cNvSpPr>
          <p:nvPr/>
        </p:nvSpPr>
        <p:spPr>
          <a:xfrm xmlns:a="http://schemas.openxmlformats.org/drawingml/2006/main">
            <a:off x="1181100" y="3105150"/>
            <a:ext cx="2952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Vertex stores a location ID. Edge stores from, to, and weight. The graph uses HashMap lookup plus an adjacency list.</a:t>
            </a:r>
          </a:p>
        </p:txBody>
      </p:sp>
      <p:sp>
        <p:nvSpPr>
          <p:cNvPr id="10" name="">
            <a:extLst xmlns:a="http://schemas.openxmlformats.org/drawingml/2006/main">
              <a:ext uri="{FF2B5EF4-FFF2-40B4-BE49-F238E27FC236}">
                <a16:creationId xmlns:a16="http://schemas.microsoft.com/office/drawing/2014/main" id="{612132A1-BBF2-4ADC-B7CF-30407B361925}"/>
              </a:ext>
            </a:extLst>
          </p:cNvPr>
          <p:cNvSpPr>
            <a:spLocks xmlns:a="http://schemas.openxmlformats.org/drawingml/2006/main" noGrp="1"/>
          </p:cNvSpPr>
          <p:nvPr/>
        </p:nvSpPr>
        <p:spPr>
          <a:xfrm xmlns:a="http://schemas.openxmlformats.org/drawingml/2006/main">
            <a:off x="1181100" y="4133850"/>
            <a:ext cx="28575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5B163B9-E9F0-496F-B161-5AC2C11CC150}"/>
              </a:ext>
            </a:extLst>
          </p:cNvPr>
          <p:cNvSpPr>
            <a:spLocks xmlns:a="http://schemas.openxmlformats.org/drawingml/2006/main" noGrp="1"/>
          </p:cNvSpPr>
          <p:nvPr/>
        </p:nvSpPr>
        <p:spPr>
          <a:xfrm xmlns:a="http://schemas.openxmlformats.org/drawingml/2006/main">
            <a:off x="1181100" y="434340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C7178"/>
                </a:solidFill>
                <a:latin typeface="Aptos"/>
                <a:ea typeface="Aptos"/>
                <a:cs typeface="Aptos"/>
              </a:defRPr>
            </a:pPr>
            <a:r>
              <a:rPr sz="938" b="0">
                <a:solidFill>
                  <a:srgbClr val="6C7178"/>
                </a:solidFill>
                <a:latin typeface="Aptos"/>
                <a:ea typeface="Aptos"/>
                <a:cs typeface="Aptos"/>
              </a:rPr>
              <a:t>Because paths.csv is undirected, every path is inserted in both directions.</a:t>
            </a:r>
          </a:p>
        </p:txBody>
      </p:sp>
      <p:sp>
        <p:nvSpPr>
          <p:cNvPr id="12" name="">
            <a:extLst xmlns:a="http://schemas.openxmlformats.org/drawingml/2006/main">
              <a:ext uri="{FF2B5EF4-FFF2-40B4-BE49-F238E27FC236}">
                <a16:creationId xmlns:a16="http://schemas.microsoft.com/office/drawing/2014/main" id="{8905F61E-D26A-453C-A051-84AFC8F0FA56}"/>
              </a:ext>
            </a:extLst>
          </p:cNvPr>
          <p:cNvSpPr>
            <a:spLocks xmlns:a="http://schemas.openxmlformats.org/drawingml/2006/main" noGrp="1"/>
          </p:cNvSpPr>
          <p:nvPr/>
        </p:nvSpPr>
        <p:spPr>
          <a:xfrm xmlns:a="http://schemas.openxmlformats.org/drawingml/2006/main">
            <a:off x="5905500" y="2305050"/>
            <a:ext cx="4171950" cy="26670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3" name="">
            <a:extLst xmlns:a="http://schemas.openxmlformats.org/drawingml/2006/main">
              <a:ext uri="{FF2B5EF4-FFF2-40B4-BE49-F238E27FC236}">
                <a16:creationId xmlns:a16="http://schemas.microsoft.com/office/drawing/2014/main" id="{8D9F262A-1E8B-4A10-9975-059E47E7EFDF}"/>
              </a:ext>
            </a:extLst>
          </p:cNvPr>
          <p:cNvSpPr>
            <a:spLocks xmlns:a="http://schemas.openxmlformats.org/drawingml/2006/main" noGrp="1"/>
          </p:cNvSpPr>
          <p:nvPr/>
        </p:nvSpPr>
        <p:spPr>
          <a:xfrm xmlns:a="http://schemas.openxmlformats.org/drawingml/2006/main">
            <a:off x="6248400" y="2609850"/>
            <a:ext cx="1905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02326"/>
                </a:solidFill>
                <a:latin typeface="Aptos"/>
                <a:ea typeface="Aptos"/>
                <a:cs typeface="Aptos"/>
              </a:defRPr>
            </a:pPr>
            <a:r>
              <a:rPr sz="1500" b="1">
                <a:solidFill>
                  <a:srgbClr val="202326"/>
                </a:solidFill>
                <a:latin typeface="Aptos"/>
                <a:ea typeface="Aptos"/>
                <a:cs typeface="Aptos"/>
              </a:rPr>
              <a:t>Algorithm choice</a:t>
            </a:r>
          </a:p>
        </p:txBody>
      </p:sp>
      <p:sp>
        <p:nvSpPr>
          <p:cNvPr id="14" name="">
            <a:extLst xmlns:a="http://schemas.openxmlformats.org/drawingml/2006/main">
              <a:ext uri="{FF2B5EF4-FFF2-40B4-BE49-F238E27FC236}">
                <a16:creationId xmlns:a16="http://schemas.microsoft.com/office/drawing/2014/main" id="{83606860-FCB2-4EEF-8CE9-13B165AE5479}"/>
              </a:ext>
            </a:extLst>
          </p:cNvPr>
          <p:cNvSpPr>
            <a:spLocks xmlns:a="http://schemas.openxmlformats.org/drawingml/2006/main" noGrp="1"/>
          </p:cNvSpPr>
          <p:nvPr/>
        </p:nvSpPr>
        <p:spPr>
          <a:xfrm xmlns:a="http://schemas.openxmlformats.org/drawingml/2006/main">
            <a:off x="6248400" y="3105150"/>
            <a:ext cx="30861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Dijkstra is suitable because edge weights are non-negative distances. BFS ignores weights; Bellman-Ford is useful for negative edges but adds unnecessary overhead here.</a:t>
            </a:r>
          </a:p>
        </p:txBody>
      </p:sp>
      <p:sp>
        <p:nvSpPr>
          <p:cNvPr id="15" name="">
            <a:extLst xmlns:a="http://schemas.openxmlformats.org/drawingml/2006/main">
              <a:ext uri="{FF2B5EF4-FFF2-40B4-BE49-F238E27FC236}">
                <a16:creationId xmlns:a16="http://schemas.microsoft.com/office/drawing/2014/main" id="{B8A1FA5D-2F49-45F3-B0C5-C86609DA5502}"/>
              </a:ext>
            </a:extLst>
          </p:cNvPr>
          <p:cNvSpPr>
            <a:spLocks xmlns:a="http://schemas.openxmlformats.org/drawingml/2006/main" noGrp="1"/>
          </p:cNvSpPr>
          <p:nvPr/>
        </p:nvSpPr>
        <p:spPr>
          <a:xfrm xmlns:a="http://schemas.openxmlformats.org/drawingml/2006/main">
            <a:off x="6248400" y="403860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15E91"/>
                </a:solidFill>
                <a:latin typeface="Aptos Display"/>
                <a:ea typeface="Aptos Display"/>
                <a:cs typeface="Aptos Display"/>
              </a:defRPr>
            </a:pPr>
            <a:r>
              <a:rPr sz="2250" b="1">
                <a:solidFill>
                  <a:srgbClr val="315E91"/>
                </a:solidFill>
                <a:latin typeface="Aptos Display"/>
                <a:ea typeface="Aptos Display"/>
                <a:cs typeface="Aptos Display"/>
              </a:rPr>
              <a:t>O(EV)</a:t>
            </a:r>
          </a:p>
        </p:txBody>
      </p:sp>
      <p:sp>
        <p:nvSpPr>
          <p:cNvPr id="16" name="">
            <a:extLst xmlns:a="http://schemas.openxmlformats.org/drawingml/2006/main">
              <a:ext uri="{FF2B5EF4-FFF2-40B4-BE49-F238E27FC236}">
                <a16:creationId xmlns:a16="http://schemas.microsoft.com/office/drawing/2014/main" id="{452213B3-E24D-4579-83C7-2BFD3E8AD99B}"/>
              </a:ext>
            </a:extLst>
          </p:cNvPr>
          <p:cNvSpPr>
            <a:spLocks xmlns:a="http://schemas.openxmlformats.org/drawingml/2006/main" noGrp="1"/>
          </p:cNvSpPr>
          <p:nvPr/>
        </p:nvSpPr>
        <p:spPr>
          <a:xfrm xmlns:a="http://schemas.openxmlformats.org/drawingml/2006/main">
            <a:off x="6248400" y="4457700"/>
            <a:ext cx="1809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C7178"/>
                </a:solidFill>
                <a:latin typeface="Aptos"/>
                <a:ea typeface="Aptos"/>
                <a:cs typeface="Aptos"/>
              </a:defRPr>
            </a:pPr>
            <a:r>
              <a:rPr sz="788" b="0">
                <a:solidFill>
                  <a:srgbClr val="6C7178"/>
                </a:solidFill>
                <a:latin typeface="Aptos"/>
                <a:ea typeface="Aptos"/>
                <a:cs typeface="Aptos"/>
              </a:rPr>
              <a:t>time in the Java priority-queue update implementation</a:t>
            </a:r>
          </a:p>
        </p:txBody>
      </p:sp>
      <p:sp>
        <p:nvSpPr>
          <p:cNvPr id="17" name="">
            <a:extLst xmlns:a="http://schemas.openxmlformats.org/drawingml/2006/main">
              <a:ext uri="{FF2B5EF4-FFF2-40B4-BE49-F238E27FC236}">
                <a16:creationId xmlns:a16="http://schemas.microsoft.com/office/drawing/2014/main" id="{54ECF7CF-15CE-4463-BDED-D7079471AD46}"/>
              </a:ext>
            </a:extLst>
          </p:cNvPr>
          <p:cNvSpPr>
            <a:spLocks xmlns:a="http://schemas.openxmlformats.org/drawingml/2006/main" noGrp="1"/>
          </p:cNvSpPr>
          <p:nvPr/>
        </p:nvSpPr>
        <p:spPr>
          <a:xfrm xmlns:a="http://schemas.openxmlformats.org/drawingml/2006/main">
            <a:off x="4667250" y="3600450"/>
            <a:ext cx="342900" cy="9525"/>
          </a:xfrm>
          <a:prstGeom xmlns:a="http://schemas.openxmlformats.org/drawingml/2006/main" prst="rect">
            <a:avLst/>
          </a:prstGeom>
          <a:solidFill xmlns:a="http://schemas.openxmlformats.org/drawingml/2006/main">
            <a:srgbClr val="BDB4A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C4E4CD8-CD3A-4A15-BB27-5D43721538FD}"/>
              </a:ext>
            </a:extLst>
          </p:cNvPr>
          <p:cNvSpPr>
            <a:spLocks xmlns:a="http://schemas.openxmlformats.org/drawingml/2006/main" noGrp="1"/>
          </p:cNvSpPr>
          <p:nvPr/>
        </p:nvSpPr>
        <p:spPr>
          <a:xfrm xmlns:a="http://schemas.openxmlformats.org/drawingml/2006/main">
            <a:off x="5010150" y="3533775"/>
            <a:ext cx="95250" cy="133350"/>
          </a:xfrm>
          <a:prstGeom xmlns:a="http://schemas.openxmlformats.org/drawingml/2006/main" prst="rect">
            <a:avLst/>
          </a:prstGeom>
          <a:solidFill xmlns:a="http://schemas.openxmlformats.org/drawingml/2006/main">
            <a:srgbClr val="BDB4A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7622A9E-208D-48FB-B013-5E7D57B72BD6}"/>
              </a:ext>
            </a:extLst>
          </p:cNvPr>
          <p:cNvSpPr>
            <a:spLocks xmlns:a="http://schemas.openxmlformats.org/drawingml/2006/main" noGrp="1"/>
          </p:cNvSpPr>
          <p:nvPr/>
        </p:nvSpPr>
        <p:spPr>
          <a:xfrm xmlns:a="http://schemas.openxmlformats.org/drawingml/2006/main">
            <a:off x="1219200" y="5334000"/>
            <a:ext cx="38100" cy="53340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8839825-5955-4391-95E9-FFC81B60AFCB}"/>
              </a:ext>
            </a:extLst>
          </p:cNvPr>
          <p:cNvSpPr>
            <a:spLocks xmlns:a="http://schemas.openxmlformats.org/drawingml/2006/main" noGrp="1"/>
          </p:cNvSpPr>
          <p:nvPr/>
        </p:nvSpPr>
        <p:spPr>
          <a:xfrm xmlns:a="http://schemas.openxmlformats.org/drawingml/2006/main">
            <a:off x="1390650" y="5353050"/>
            <a:ext cx="8210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The graph task evaluates fixed route queries, not the global travelling order for all 30 targets.</a:t>
            </a:r>
          </a:p>
        </p:txBody>
      </p:sp>
      <p:sp>
        <p:nvSpPr>
          <p:cNvPr id="21" name="">
            <a:extLst xmlns:a="http://schemas.openxmlformats.org/drawingml/2006/main">
              <a:ext uri="{FF2B5EF4-FFF2-40B4-BE49-F238E27FC236}">
                <a16:creationId xmlns:a16="http://schemas.microsoft.com/office/drawing/2014/main" id="{11B5F299-6934-40E6-B570-198B790CCE5E}"/>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2" name="">
            <a:extLst xmlns:a="http://schemas.openxmlformats.org/drawingml/2006/main">
              <a:ext uri="{FF2B5EF4-FFF2-40B4-BE49-F238E27FC236}">
                <a16:creationId xmlns:a16="http://schemas.microsoft.com/office/drawing/2014/main" id="{0E8062F2-6589-4670-A95C-221028AF7DDF}"/>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05</a:t>
            </a:r>
          </a:p>
        </p:txBody>
      </p:sp>
    </p:spTree>
    <p:extLst>
      <p:ext uri="{BB962C8B-B14F-4D97-AF65-F5344CB8AC3E}">
        <p14:creationId xmlns:p14="http://schemas.microsoft.com/office/powerpoint/2010/main" val="20997450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190F1F-9F53-42FD-9082-6EA2FECA0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F84FA49-9332-417A-B2A1-5EFD5CFD1BBE}"/>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165E98E5-7D6F-4735-9AF9-3DBFE7C5ACDB}"/>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SHORTEST-PATH CASES</a:t>
            </a:r>
          </a:p>
        </p:txBody>
      </p:sp>
      <p:sp>
        <p:nvSpPr>
          <p:cNvPr id="4" name="">
            <a:extLst xmlns:a="http://schemas.openxmlformats.org/drawingml/2006/main">
              <a:ext uri="{FF2B5EF4-FFF2-40B4-BE49-F238E27FC236}">
                <a16:creationId xmlns:a16="http://schemas.microsoft.com/office/drawing/2014/main" id="{434A7F01-0F73-45D9-9E64-C8BDEAF59377}"/>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Waypoint constraints are solved by chaining Dijkstra searches.</a:t>
            </a:r>
          </a:p>
        </p:txBody>
      </p:sp>
      <p:sp>
        <p:nvSpPr>
          <p:cNvPr id="5" name="">
            <a:extLst xmlns:a="http://schemas.openxmlformats.org/drawingml/2006/main">
              <a:ext uri="{FF2B5EF4-FFF2-40B4-BE49-F238E27FC236}">
                <a16:creationId xmlns:a16="http://schemas.microsoft.com/office/drawing/2014/main" id="{1722C978-690D-4A7B-8A32-AD522726B855}"/>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F35B7A57-546A-4D0B-AFAE-8ABF3D51B68B}"/>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0705568-987C-483E-9744-08A21AD29C50}"/>
              </a:ext>
            </a:extLst>
          </p:cNvPr>
          <p:cNvSpPr>
            <a:spLocks xmlns:a="http://schemas.openxmlformats.org/drawingml/2006/main" noGrp="1"/>
          </p:cNvSpPr>
          <p:nvPr/>
        </p:nvSpPr>
        <p:spPr>
          <a:xfrm xmlns:a="http://schemas.openxmlformats.org/drawingml/2006/main">
            <a:off x="762000" y="2266950"/>
            <a:ext cx="9810750" cy="29908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8" name="">
            <a:extLst xmlns:a="http://schemas.openxmlformats.org/drawingml/2006/main">
              <a:ext uri="{FF2B5EF4-FFF2-40B4-BE49-F238E27FC236}">
                <a16:creationId xmlns:a16="http://schemas.microsoft.com/office/drawing/2014/main" id="{13C93510-67C9-42E6-A015-9A20BA374446}"/>
              </a:ext>
            </a:extLst>
          </p:cNvPr>
          <p:cNvSpPr>
            <a:spLocks xmlns:a="http://schemas.openxmlformats.org/drawingml/2006/main" noGrp="1"/>
          </p:cNvSpPr>
          <p:nvPr/>
        </p:nvSpPr>
        <p:spPr>
          <a:xfrm xmlns:a="http://schemas.openxmlformats.org/drawingml/2006/main">
            <a:off x="971550" y="2533650"/>
            <a:ext cx="704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Case</a:t>
            </a:r>
          </a:p>
        </p:txBody>
      </p:sp>
      <p:sp>
        <p:nvSpPr>
          <p:cNvPr id="9" name="">
            <a:extLst xmlns:a="http://schemas.openxmlformats.org/drawingml/2006/main">
              <a:ext uri="{FF2B5EF4-FFF2-40B4-BE49-F238E27FC236}">
                <a16:creationId xmlns:a16="http://schemas.microsoft.com/office/drawing/2014/main" id="{D091546F-C3F5-411B-9A50-76366AA86900}"/>
              </a:ext>
            </a:extLst>
          </p:cNvPr>
          <p:cNvSpPr>
            <a:spLocks xmlns:a="http://schemas.openxmlformats.org/drawingml/2006/main" noGrp="1"/>
          </p:cNvSpPr>
          <p:nvPr/>
        </p:nvSpPr>
        <p:spPr>
          <a:xfrm xmlns:a="http://schemas.openxmlformats.org/drawingml/2006/main">
            <a:off x="1790700" y="2533650"/>
            <a:ext cx="117157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Start</a:t>
            </a:r>
          </a:p>
        </p:txBody>
      </p:sp>
      <p:sp>
        <p:nvSpPr>
          <p:cNvPr id="10" name="">
            <a:extLst xmlns:a="http://schemas.openxmlformats.org/drawingml/2006/main">
              <a:ext uri="{FF2B5EF4-FFF2-40B4-BE49-F238E27FC236}">
                <a16:creationId xmlns:a16="http://schemas.microsoft.com/office/drawing/2014/main" id="{E0CEB4BF-E1E6-4BBA-8FE9-A12D472A559A}"/>
              </a:ext>
            </a:extLst>
          </p:cNvPr>
          <p:cNvSpPr>
            <a:spLocks xmlns:a="http://schemas.openxmlformats.org/drawingml/2006/main" noGrp="1"/>
          </p:cNvSpPr>
          <p:nvPr/>
        </p:nvSpPr>
        <p:spPr>
          <a:xfrm xmlns:a="http://schemas.openxmlformats.org/drawingml/2006/main">
            <a:off x="3076575" y="25336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Destination</a:t>
            </a:r>
          </a:p>
        </p:txBody>
      </p:sp>
      <p:sp>
        <p:nvSpPr>
          <p:cNvPr id="11" name="">
            <a:extLst xmlns:a="http://schemas.openxmlformats.org/drawingml/2006/main">
              <a:ext uri="{FF2B5EF4-FFF2-40B4-BE49-F238E27FC236}">
                <a16:creationId xmlns:a16="http://schemas.microsoft.com/office/drawing/2014/main" id="{43DCCBD9-575E-4535-9179-E646A25A68C8}"/>
              </a:ext>
            </a:extLst>
          </p:cNvPr>
          <p:cNvSpPr>
            <a:spLocks xmlns:a="http://schemas.openxmlformats.org/drawingml/2006/main" noGrp="1"/>
          </p:cNvSpPr>
          <p:nvPr/>
        </p:nvSpPr>
        <p:spPr>
          <a:xfrm xmlns:a="http://schemas.openxmlformats.org/drawingml/2006/main">
            <a:off x="4505325" y="2533650"/>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Via</a:t>
            </a:r>
          </a:p>
        </p:txBody>
      </p:sp>
      <p:sp>
        <p:nvSpPr>
          <p:cNvPr id="12" name="">
            <a:extLst xmlns:a="http://schemas.openxmlformats.org/drawingml/2006/main">
              <a:ext uri="{FF2B5EF4-FFF2-40B4-BE49-F238E27FC236}">
                <a16:creationId xmlns:a16="http://schemas.microsoft.com/office/drawing/2014/main" id="{1FFA2AA8-57AD-4552-8EC5-72E704061446}"/>
              </a:ext>
            </a:extLst>
          </p:cNvPr>
          <p:cNvSpPr>
            <a:spLocks xmlns:a="http://schemas.openxmlformats.org/drawingml/2006/main" noGrp="1"/>
          </p:cNvSpPr>
          <p:nvPr/>
        </p:nvSpPr>
        <p:spPr>
          <a:xfrm xmlns:a="http://schemas.openxmlformats.org/drawingml/2006/main">
            <a:off x="6124575" y="2533650"/>
            <a:ext cx="704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A85645"/>
                </a:solidFill>
                <a:latin typeface="Aptos"/>
                <a:ea typeface="Aptos"/>
                <a:cs typeface="Aptos"/>
              </a:defRPr>
            </a:pPr>
            <a:r>
              <a:rPr sz="713" b="1">
                <a:solidFill>
                  <a:srgbClr val="A85645"/>
                </a:solidFill>
                <a:latin typeface="Aptos"/>
                <a:ea typeface="Aptos"/>
                <a:cs typeface="Aptos"/>
              </a:rPr>
              <a:t>Cost</a:t>
            </a:r>
          </a:p>
        </p:txBody>
      </p:sp>
      <p:sp>
        <p:nvSpPr>
          <p:cNvPr id="13" name="">
            <a:extLst xmlns:a="http://schemas.openxmlformats.org/drawingml/2006/main">
              <a:ext uri="{FF2B5EF4-FFF2-40B4-BE49-F238E27FC236}">
                <a16:creationId xmlns:a16="http://schemas.microsoft.com/office/drawing/2014/main" id="{A0136E4E-4C7C-4E98-B8EF-DE7051D6A31F}"/>
              </a:ext>
            </a:extLst>
          </p:cNvPr>
          <p:cNvSpPr>
            <a:spLocks xmlns:a="http://schemas.openxmlformats.org/drawingml/2006/main" noGrp="1"/>
          </p:cNvSpPr>
          <p:nvPr/>
        </p:nvSpPr>
        <p:spPr>
          <a:xfrm xmlns:a="http://schemas.openxmlformats.org/drawingml/2006/main">
            <a:off x="6943725" y="2533650"/>
            <a:ext cx="3314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Result</a:t>
            </a:r>
          </a:p>
        </p:txBody>
      </p:sp>
      <p:sp>
        <p:nvSpPr>
          <p:cNvPr id="14" name="">
            <a:extLst xmlns:a="http://schemas.openxmlformats.org/drawingml/2006/main">
              <a:ext uri="{FF2B5EF4-FFF2-40B4-BE49-F238E27FC236}">
                <a16:creationId xmlns:a16="http://schemas.microsoft.com/office/drawing/2014/main" id="{3A273B67-5B16-45BD-AC65-C7B585B95AB9}"/>
              </a:ext>
            </a:extLst>
          </p:cNvPr>
          <p:cNvSpPr>
            <a:spLocks xmlns:a="http://schemas.openxmlformats.org/drawingml/2006/main" noGrp="1"/>
          </p:cNvSpPr>
          <p:nvPr/>
        </p:nvSpPr>
        <p:spPr>
          <a:xfrm xmlns:a="http://schemas.openxmlformats.org/drawingml/2006/main">
            <a:off x="971550" y="2781300"/>
            <a:ext cx="93726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C2FEA4F-A587-4DDE-8917-020E7FBCE737}"/>
              </a:ext>
            </a:extLst>
          </p:cNvPr>
          <p:cNvSpPr>
            <a:spLocks xmlns:a="http://schemas.openxmlformats.org/drawingml/2006/main" noGrp="1"/>
          </p:cNvSpPr>
          <p:nvPr/>
        </p:nvSpPr>
        <p:spPr>
          <a:xfrm xmlns:a="http://schemas.openxmlformats.org/drawingml/2006/main">
            <a:off x="971550" y="300990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02326"/>
                </a:solidFill>
                <a:latin typeface="Aptos"/>
                <a:ea typeface="Aptos"/>
                <a:cs typeface="Aptos"/>
              </a:defRPr>
            </a:pPr>
            <a:r>
              <a:rPr sz="900" b="1">
                <a:solidFill>
                  <a:srgbClr val="202326"/>
                </a:solidFill>
                <a:latin typeface="Aptos"/>
                <a:ea typeface="Aptos"/>
                <a:cs typeface="Aptos"/>
              </a:rPr>
              <a:t>1</a:t>
            </a:r>
          </a:p>
        </p:txBody>
      </p:sp>
      <p:sp>
        <p:nvSpPr>
          <p:cNvPr id="16" name="">
            <a:extLst xmlns:a="http://schemas.openxmlformats.org/drawingml/2006/main">
              <a:ext uri="{FF2B5EF4-FFF2-40B4-BE49-F238E27FC236}">
                <a16:creationId xmlns:a16="http://schemas.microsoft.com/office/drawing/2014/main" id="{3515B3E8-7743-4C24-B20F-55C9F17F71C4}"/>
              </a:ext>
            </a:extLst>
          </p:cNvPr>
          <p:cNvSpPr>
            <a:spLocks xmlns:a="http://schemas.openxmlformats.org/drawingml/2006/main" noGrp="1"/>
          </p:cNvSpPr>
          <p:nvPr/>
        </p:nvSpPr>
        <p:spPr>
          <a:xfrm xmlns:a="http://schemas.openxmlformats.org/drawingml/2006/main">
            <a:off x="1790700" y="3009900"/>
            <a:ext cx="11715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L0001</a:t>
            </a:r>
          </a:p>
        </p:txBody>
      </p:sp>
      <p:sp>
        <p:nvSpPr>
          <p:cNvPr id="17" name="">
            <a:extLst xmlns:a="http://schemas.openxmlformats.org/drawingml/2006/main">
              <a:ext uri="{FF2B5EF4-FFF2-40B4-BE49-F238E27FC236}">
                <a16:creationId xmlns:a16="http://schemas.microsoft.com/office/drawing/2014/main" id="{FE58D121-D0DF-47E5-BD42-C7C5F9683CC9}"/>
              </a:ext>
            </a:extLst>
          </p:cNvPr>
          <p:cNvSpPr>
            <a:spLocks xmlns:a="http://schemas.openxmlformats.org/drawingml/2006/main" noGrp="1"/>
          </p:cNvSpPr>
          <p:nvPr/>
        </p:nvSpPr>
        <p:spPr>
          <a:xfrm xmlns:a="http://schemas.openxmlformats.org/drawingml/2006/main">
            <a:off x="3076575" y="3009900"/>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L0001</a:t>
            </a:r>
          </a:p>
        </p:txBody>
      </p:sp>
      <p:sp>
        <p:nvSpPr>
          <p:cNvPr id="18" name="">
            <a:extLst xmlns:a="http://schemas.openxmlformats.org/drawingml/2006/main">
              <a:ext uri="{FF2B5EF4-FFF2-40B4-BE49-F238E27FC236}">
                <a16:creationId xmlns:a16="http://schemas.microsoft.com/office/drawing/2014/main" id="{E990FC81-E722-481E-A7A5-8A008E08D400}"/>
              </a:ext>
            </a:extLst>
          </p:cNvPr>
          <p:cNvSpPr>
            <a:spLocks xmlns:a="http://schemas.openxmlformats.org/drawingml/2006/main" noGrp="1"/>
          </p:cNvSpPr>
          <p:nvPr/>
        </p:nvSpPr>
        <p:spPr>
          <a:xfrm xmlns:a="http://schemas.openxmlformats.org/drawingml/2006/main">
            <a:off x="4505325" y="30099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None</a:t>
            </a:r>
          </a:p>
        </p:txBody>
      </p:sp>
      <p:sp>
        <p:nvSpPr>
          <p:cNvPr id="19" name="">
            <a:extLst xmlns:a="http://schemas.openxmlformats.org/drawingml/2006/main">
              <a:ext uri="{FF2B5EF4-FFF2-40B4-BE49-F238E27FC236}">
                <a16:creationId xmlns:a16="http://schemas.microsoft.com/office/drawing/2014/main" id="{50E9C8AF-EDC0-4625-953C-A26850BDAD89}"/>
              </a:ext>
            </a:extLst>
          </p:cNvPr>
          <p:cNvSpPr>
            <a:spLocks xmlns:a="http://schemas.openxmlformats.org/drawingml/2006/main" noGrp="1"/>
          </p:cNvSpPr>
          <p:nvPr/>
        </p:nvSpPr>
        <p:spPr>
          <a:xfrm xmlns:a="http://schemas.openxmlformats.org/drawingml/2006/main">
            <a:off x="6124575" y="300990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A85645"/>
                </a:solidFill>
                <a:latin typeface="Aptos"/>
                <a:ea typeface="Aptos"/>
                <a:cs typeface="Aptos"/>
              </a:defRPr>
            </a:pPr>
            <a:r>
              <a:rPr sz="900" b="1">
                <a:solidFill>
                  <a:srgbClr val="A85645"/>
                </a:solidFill>
                <a:latin typeface="Aptos"/>
                <a:ea typeface="Aptos"/>
                <a:cs typeface="Aptos"/>
              </a:rPr>
              <a:t>0</a:t>
            </a:r>
          </a:p>
        </p:txBody>
      </p:sp>
      <p:sp>
        <p:nvSpPr>
          <p:cNvPr id="20" name="">
            <a:extLst xmlns:a="http://schemas.openxmlformats.org/drawingml/2006/main">
              <a:ext uri="{FF2B5EF4-FFF2-40B4-BE49-F238E27FC236}">
                <a16:creationId xmlns:a16="http://schemas.microsoft.com/office/drawing/2014/main" id="{48D2D423-B726-4134-9F3F-89CE1636F2FC}"/>
              </a:ext>
            </a:extLst>
          </p:cNvPr>
          <p:cNvSpPr>
            <a:spLocks xmlns:a="http://schemas.openxmlformats.org/drawingml/2006/main" noGrp="1"/>
          </p:cNvSpPr>
          <p:nvPr/>
        </p:nvSpPr>
        <p:spPr>
          <a:xfrm xmlns:a="http://schemas.openxmlformats.org/drawingml/2006/main">
            <a:off x="6943725" y="300990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202326"/>
                </a:solidFill>
                <a:latin typeface="Aptos"/>
                <a:ea typeface="Aptos"/>
                <a:cs typeface="Aptos"/>
              </a:defRPr>
            </a:pPr>
            <a:r>
              <a:rPr sz="788" b="0">
                <a:solidFill>
                  <a:srgbClr val="202326"/>
                </a:solidFill>
                <a:latin typeface="Aptos"/>
                <a:ea typeface="Aptos"/>
                <a:cs typeface="Aptos"/>
              </a:rPr>
              <a:t>Self-to-self base case</a:t>
            </a:r>
          </a:p>
        </p:txBody>
      </p:sp>
      <p:sp>
        <p:nvSpPr>
          <p:cNvPr id="21" name="">
            <a:extLst xmlns:a="http://schemas.openxmlformats.org/drawingml/2006/main">
              <a:ext uri="{FF2B5EF4-FFF2-40B4-BE49-F238E27FC236}">
                <a16:creationId xmlns:a16="http://schemas.microsoft.com/office/drawing/2014/main" id="{FD9D165B-34D0-4473-9ABD-7CC6910E3248}"/>
              </a:ext>
            </a:extLst>
          </p:cNvPr>
          <p:cNvSpPr>
            <a:spLocks xmlns:a="http://schemas.openxmlformats.org/drawingml/2006/main" noGrp="1"/>
          </p:cNvSpPr>
          <p:nvPr/>
        </p:nvSpPr>
        <p:spPr>
          <a:xfrm xmlns:a="http://schemas.openxmlformats.org/drawingml/2006/main">
            <a:off x="971550" y="3333750"/>
            <a:ext cx="9372600" cy="9525"/>
          </a:xfrm>
          <a:prstGeom xmlns:a="http://schemas.openxmlformats.org/drawingml/2006/main" prst="rect">
            <a:avLst/>
          </a:prstGeom>
          <a:solidFill xmlns:a="http://schemas.openxmlformats.org/drawingml/2006/main">
            <a:srgbClr val="E4DED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E2E81E3-7F3C-445B-A9F7-582F567BEE98}"/>
              </a:ext>
            </a:extLst>
          </p:cNvPr>
          <p:cNvSpPr>
            <a:spLocks xmlns:a="http://schemas.openxmlformats.org/drawingml/2006/main" noGrp="1"/>
          </p:cNvSpPr>
          <p:nvPr/>
        </p:nvSpPr>
        <p:spPr>
          <a:xfrm xmlns:a="http://schemas.openxmlformats.org/drawingml/2006/main">
            <a:off x="971550" y="35242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02326"/>
                </a:solidFill>
                <a:latin typeface="Aptos"/>
                <a:ea typeface="Aptos"/>
                <a:cs typeface="Aptos"/>
              </a:defRPr>
            </a:pPr>
            <a:r>
              <a:rPr sz="900" b="1">
                <a:solidFill>
                  <a:srgbClr val="202326"/>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7184BD72-3FC6-4FCF-BC39-2F60215000F9}"/>
              </a:ext>
            </a:extLst>
          </p:cNvPr>
          <p:cNvSpPr>
            <a:spLocks xmlns:a="http://schemas.openxmlformats.org/drawingml/2006/main" noGrp="1"/>
          </p:cNvSpPr>
          <p:nvPr/>
        </p:nvSpPr>
        <p:spPr>
          <a:xfrm xmlns:a="http://schemas.openxmlformats.org/drawingml/2006/main">
            <a:off x="1790700" y="3524250"/>
            <a:ext cx="11715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L0001</a:t>
            </a:r>
          </a:p>
        </p:txBody>
      </p:sp>
      <p:sp>
        <p:nvSpPr>
          <p:cNvPr id="24" name="">
            <a:extLst xmlns:a="http://schemas.openxmlformats.org/drawingml/2006/main">
              <a:ext uri="{FF2B5EF4-FFF2-40B4-BE49-F238E27FC236}">
                <a16:creationId xmlns:a16="http://schemas.microsoft.com/office/drawing/2014/main" id="{F86B3B9E-60F8-41DD-84C3-4C5D799F3E21}"/>
              </a:ext>
            </a:extLst>
          </p:cNvPr>
          <p:cNvSpPr>
            <a:spLocks xmlns:a="http://schemas.openxmlformats.org/drawingml/2006/main" noGrp="1"/>
          </p:cNvSpPr>
          <p:nvPr/>
        </p:nvSpPr>
        <p:spPr>
          <a:xfrm xmlns:a="http://schemas.openxmlformats.org/drawingml/2006/main">
            <a:off x="3076575" y="3524250"/>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L0010</a:t>
            </a:r>
          </a:p>
        </p:txBody>
      </p:sp>
      <p:sp>
        <p:nvSpPr>
          <p:cNvPr id="25" name="">
            <a:extLst xmlns:a="http://schemas.openxmlformats.org/drawingml/2006/main">
              <a:ext uri="{FF2B5EF4-FFF2-40B4-BE49-F238E27FC236}">
                <a16:creationId xmlns:a16="http://schemas.microsoft.com/office/drawing/2014/main" id="{D87D1482-0F3F-4E39-AA4F-4A12F7525DBD}"/>
              </a:ext>
            </a:extLst>
          </p:cNvPr>
          <p:cNvSpPr>
            <a:spLocks xmlns:a="http://schemas.openxmlformats.org/drawingml/2006/main" noGrp="1"/>
          </p:cNvSpPr>
          <p:nvPr/>
        </p:nvSpPr>
        <p:spPr>
          <a:xfrm xmlns:a="http://schemas.openxmlformats.org/drawingml/2006/main">
            <a:off x="4505325" y="352425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None</a:t>
            </a:r>
          </a:p>
        </p:txBody>
      </p:sp>
      <p:sp>
        <p:nvSpPr>
          <p:cNvPr id="26" name="">
            <a:extLst xmlns:a="http://schemas.openxmlformats.org/drawingml/2006/main">
              <a:ext uri="{FF2B5EF4-FFF2-40B4-BE49-F238E27FC236}">
                <a16:creationId xmlns:a16="http://schemas.microsoft.com/office/drawing/2014/main" id="{F39E3012-0F2D-4A82-A426-81A5A45C63D5}"/>
              </a:ext>
            </a:extLst>
          </p:cNvPr>
          <p:cNvSpPr>
            <a:spLocks xmlns:a="http://schemas.openxmlformats.org/drawingml/2006/main" noGrp="1"/>
          </p:cNvSpPr>
          <p:nvPr/>
        </p:nvSpPr>
        <p:spPr>
          <a:xfrm xmlns:a="http://schemas.openxmlformats.org/drawingml/2006/main">
            <a:off x="6124575" y="35242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A85645"/>
                </a:solidFill>
                <a:latin typeface="Aptos"/>
                <a:ea typeface="Aptos"/>
                <a:cs typeface="Aptos"/>
              </a:defRPr>
            </a:pPr>
            <a:r>
              <a:rPr sz="900" b="1">
                <a:solidFill>
                  <a:srgbClr val="A85645"/>
                </a:solidFill>
                <a:latin typeface="Aptos"/>
                <a:ea typeface="Aptos"/>
                <a:cs typeface="Aptos"/>
              </a:rPr>
              <a:t>27</a:t>
            </a:r>
          </a:p>
        </p:txBody>
      </p:sp>
      <p:sp>
        <p:nvSpPr>
          <p:cNvPr id="27" name="">
            <a:extLst xmlns:a="http://schemas.openxmlformats.org/drawingml/2006/main">
              <a:ext uri="{FF2B5EF4-FFF2-40B4-BE49-F238E27FC236}">
                <a16:creationId xmlns:a16="http://schemas.microsoft.com/office/drawing/2014/main" id="{5385560F-A6A0-4872-9C5C-64DCE6E7EBFD}"/>
              </a:ext>
            </a:extLst>
          </p:cNvPr>
          <p:cNvSpPr>
            <a:spLocks xmlns:a="http://schemas.openxmlformats.org/drawingml/2006/main" noGrp="1"/>
          </p:cNvSpPr>
          <p:nvPr/>
        </p:nvSpPr>
        <p:spPr>
          <a:xfrm xmlns:a="http://schemas.openxmlformats.org/drawingml/2006/main">
            <a:off x="6943725" y="352425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202326"/>
                </a:solidFill>
                <a:latin typeface="Aptos"/>
                <a:ea typeface="Aptos"/>
                <a:cs typeface="Aptos"/>
              </a:defRPr>
            </a:pPr>
            <a:r>
              <a:rPr sz="788" b="0">
                <a:solidFill>
                  <a:srgbClr val="202326"/>
                </a:solidFill>
                <a:latin typeface="Aptos"/>
                <a:ea typeface="Aptos"/>
                <a:cs typeface="Aptos"/>
              </a:rPr>
              <a:t>L0001 -&gt; ... -&gt; L0010</a:t>
            </a:r>
          </a:p>
        </p:txBody>
      </p:sp>
      <p:sp>
        <p:nvSpPr>
          <p:cNvPr id="28" name="">
            <a:extLst xmlns:a="http://schemas.openxmlformats.org/drawingml/2006/main">
              <a:ext uri="{FF2B5EF4-FFF2-40B4-BE49-F238E27FC236}">
                <a16:creationId xmlns:a16="http://schemas.microsoft.com/office/drawing/2014/main" id="{ECC9E7C5-3AB5-44A4-906C-451F1761F313}"/>
              </a:ext>
            </a:extLst>
          </p:cNvPr>
          <p:cNvSpPr>
            <a:spLocks xmlns:a="http://schemas.openxmlformats.org/drawingml/2006/main" noGrp="1"/>
          </p:cNvSpPr>
          <p:nvPr/>
        </p:nvSpPr>
        <p:spPr>
          <a:xfrm xmlns:a="http://schemas.openxmlformats.org/drawingml/2006/main">
            <a:off x="971550" y="3848100"/>
            <a:ext cx="9372600" cy="9525"/>
          </a:xfrm>
          <a:prstGeom xmlns:a="http://schemas.openxmlformats.org/drawingml/2006/main" prst="rect">
            <a:avLst/>
          </a:prstGeom>
          <a:solidFill xmlns:a="http://schemas.openxmlformats.org/drawingml/2006/main">
            <a:srgbClr val="E4DED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1982573-09AB-469B-9777-B16BB0098CDF}"/>
              </a:ext>
            </a:extLst>
          </p:cNvPr>
          <p:cNvSpPr>
            <a:spLocks xmlns:a="http://schemas.openxmlformats.org/drawingml/2006/main" noGrp="1"/>
          </p:cNvSpPr>
          <p:nvPr/>
        </p:nvSpPr>
        <p:spPr>
          <a:xfrm xmlns:a="http://schemas.openxmlformats.org/drawingml/2006/main">
            <a:off x="971550" y="403860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02326"/>
                </a:solidFill>
                <a:latin typeface="Aptos"/>
                <a:ea typeface="Aptos"/>
                <a:cs typeface="Aptos"/>
              </a:defRPr>
            </a:pPr>
            <a:r>
              <a:rPr sz="900" b="1">
                <a:solidFill>
                  <a:srgbClr val="202326"/>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A2BCAF83-44BB-4BF3-934D-EC60DB13EF1F}"/>
              </a:ext>
            </a:extLst>
          </p:cNvPr>
          <p:cNvSpPr>
            <a:spLocks xmlns:a="http://schemas.openxmlformats.org/drawingml/2006/main" noGrp="1"/>
          </p:cNvSpPr>
          <p:nvPr/>
        </p:nvSpPr>
        <p:spPr>
          <a:xfrm xmlns:a="http://schemas.openxmlformats.org/drawingml/2006/main">
            <a:off x="1790700" y="4038600"/>
            <a:ext cx="11715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L0001</a:t>
            </a:r>
          </a:p>
        </p:txBody>
      </p:sp>
      <p:sp>
        <p:nvSpPr>
          <p:cNvPr id="31" name="">
            <a:extLst xmlns:a="http://schemas.openxmlformats.org/drawingml/2006/main">
              <a:ext uri="{FF2B5EF4-FFF2-40B4-BE49-F238E27FC236}">
                <a16:creationId xmlns:a16="http://schemas.microsoft.com/office/drawing/2014/main" id="{750A0B96-8209-445A-96A3-96B52CAD9490}"/>
              </a:ext>
            </a:extLst>
          </p:cNvPr>
          <p:cNvSpPr>
            <a:spLocks xmlns:a="http://schemas.openxmlformats.org/drawingml/2006/main" noGrp="1"/>
          </p:cNvSpPr>
          <p:nvPr/>
        </p:nvSpPr>
        <p:spPr>
          <a:xfrm xmlns:a="http://schemas.openxmlformats.org/drawingml/2006/main">
            <a:off x="3076575" y="4038600"/>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L0101</a:t>
            </a:r>
          </a:p>
        </p:txBody>
      </p:sp>
      <p:sp>
        <p:nvSpPr>
          <p:cNvPr id="32" name="">
            <a:extLst xmlns:a="http://schemas.openxmlformats.org/drawingml/2006/main">
              <a:ext uri="{FF2B5EF4-FFF2-40B4-BE49-F238E27FC236}">
                <a16:creationId xmlns:a16="http://schemas.microsoft.com/office/drawing/2014/main" id="{9CA52806-9B9D-4B20-BCE1-3E4A1CDB2909}"/>
              </a:ext>
            </a:extLst>
          </p:cNvPr>
          <p:cNvSpPr>
            <a:spLocks xmlns:a="http://schemas.openxmlformats.org/drawingml/2006/main" noGrp="1"/>
          </p:cNvSpPr>
          <p:nvPr/>
        </p:nvSpPr>
        <p:spPr>
          <a:xfrm xmlns:a="http://schemas.openxmlformats.org/drawingml/2006/main">
            <a:off x="4505325" y="40386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L0105</a:t>
            </a:r>
          </a:p>
        </p:txBody>
      </p:sp>
      <p:sp>
        <p:nvSpPr>
          <p:cNvPr id="33" name="">
            <a:extLst xmlns:a="http://schemas.openxmlformats.org/drawingml/2006/main">
              <a:ext uri="{FF2B5EF4-FFF2-40B4-BE49-F238E27FC236}">
                <a16:creationId xmlns:a16="http://schemas.microsoft.com/office/drawing/2014/main" id="{0329E960-7BEA-46FB-BA2C-5D02ECD792C1}"/>
              </a:ext>
            </a:extLst>
          </p:cNvPr>
          <p:cNvSpPr>
            <a:spLocks xmlns:a="http://schemas.openxmlformats.org/drawingml/2006/main" noGrp="1"/>
          </p:cNvSpPr>
          <p:nvPr/>
        </p:nvSpPr>
        <p:spPr>
          <a:xfrm xmlns:a="http://schemas.openxmlformats.org/drawingml/2006/main">
            <a:off x="6124575" y="403860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A85645"/>
                </a:solidFill>
                <a:latin typeface="Aptos"/>
                <a:ea typeface="Aptos"/>
                <a:cs typeface="Aptos"/>
              </a:defRPr>
            </a:pPr>
            <a:r>
              <a:rPr sz="900" b="1">
                <a:solidFill>
                  <a:srgbClr val="A85645"/>
                </a:solidFill>
                <a:latin typeface="Aptos"/>
                <a:ea typeface="Aptos"/>
                <a:cs typeface="Aptos"/>
              </a:rPr>
              <a:t>39</a:t>
            </a:r>
          </a:p>
        </p:txBody>
      </p:sp>
      <p:sp>
        <p:nvSpPr>
          <p:cNvPr id="34" name="">
            <a:extLst xmlns:a="http://schemas.openxmlformats.org/drawingml/2006/main">
              <a:ext uri="{FF2B5EF4-FFF2-40B4-BE49-F238E27FC236}">
                <a16:creationId xmlns:a16="http://schemas.microsoft.com/office/drawing/2014/main" id="{DA72008F-2104-46F9-A793-33F08A2833C9}"/>
              </a:ext>
            </a:extLst>
          </p:cNvPr>
          <p:cNvSpPr>
            <a:spLocks xmlns:a="http://schemas.openxmlformats.org/drawingml/2006/main" noGrp="1"/>
          </p:cNvSpPr>
          <p:nvPr/>
        </p:nvSpPr>
        <p:spPr>
          <a:xfrm xmlns:a="http://schemas.openxmlformats.org/drawingml/2006/main">
            <a:off x="6943725" y="403860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202326"/>
                </a:solidFill>
                <a:latin typeface="Aptos"/>
                <a:ea typeface="Aptos"/>
                <a:cs typeface="Aptos"/>
              </a:defRPr>
            </a:pPr>
            <a:r>
              <a:rPr sz="788" b="0">
                <a:solidFill>
                  <a:srgbClr val="202326"/>
                </a:solidFill>
                <a:latin typeface="Aptos"/>
                <a:ea typeface="Aptos"/>
                <a:cs typeface="Aptos"/>
              </a:rPr>
              <a:t>L0001 -&gt; ... -&gt; L0105 -&gt; ... -&gt; L0101</a:t>
            </a:r>
          </a:p>
        </p:txBody>
      </p:sp>
      <p:sp>
        <p:nvSpPr>
          <p:cNvPr id="35" name="">
            <a:extLst xmlns:a="http://schemas.openxmlformats.org/drawingml/2006/main">
              <a:ext uri="{FF2B5EF4-FFF2-40B4-BE49-F238E27FC236}">
                <a16:creationId xmlns:a16="http://schemas.microsoft.com/office/drawing/2014/main" id="{07E4FF39-D461-4E10-A926-08CED9D1A923}"/>
              </a:ext>
            </a:extLst>
          </p:cNvPr>
          <p:cNvSpPr>
            <a:spLocks xmlns:a="http://schemas.openxmlformats.org/drawingml/2006/main" noGrp="1"/>
          </p:cNvSpPr>
          <p:nvPr/>
        </p:nvSpPr>
        <p:spPr>
          <a:xfrm xmlns:a="http://schemas.openxmlformats.org/drawingml/2006/main">
            <a:off x="971550" y="4362450"/>
            <a:ext cx="9372600" cy="9525"/>
          </a:xfrm>
          <a:prstGeom xmlns:a="http://schemas.openxmlformats.org/drawingml/2006/main" prst="rect">
            <a:avLst/>
          </a:prstGeom>
          <a:solidFill xmlns:a="http://schemas.openxmlformats.org/drawingml/2006/main">
            <a:srgbClr val="E4DED2"/>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BDED579B-3C78-4F7C-A9A6-9F96D709ECBF}"/>
              </a:ext>
            </a:extLst>
          </p:cNvPr>
          <p:cNvSpPr>
            <a:spLocks xmlns:a="http://schemas.openxmlformats.org/drawingml/2006/main" noGrp="1"/>
          </p:cNvSpPr>
          <p:nvPr/>
        </p:nvSpPr>
        <p:spPr>
          <a:xfrm xmlns:a="http://schemas.openxmlformats.org/drawingml/2006/main">
            <a:off x="971550" y="45529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02326"/>
                </a:solidFill>
                <a:latin typeface="Aptos"/>
                <a:ea typeface="Aptos"/>
                <a:cs typeface="Aptos"/>
              </a:defRPr>
            </a:pPr>
            <a:r>
              <a:rPr sz="900" b="1">
                <a:solidFill>
                  <a:srgbClr val="202326"/>
                </a:solidFill>
                <a:latin typeface="Aptos"/>
                <a:ea typeface="Aptos"/>
                <a:cs typeface="Aptos"/>
              </a:rPr>
              <a:t>4</a:t>
            </a:r>
          </a:p>
        </p:txBody>
      </p:sp>
      <p:sp>
        <p:nvSpPr>
          <p:cNvPr id="37" name="">
            <a:extLst xmlns:a="http://schemas.openxmlformats.org/drawingml/2006/main">
              <a:ext uri="{FF2B5EF4-FFF2-40B4-BE49-F238E27FC236}">
                <a16:creationId xmlns:a16="http://schemas.microsoft.com/office/drawing/2014/main" id="{E8E1C959-0598-45D3-82A5-3A76013C82EB}"/>
              </a:ext>
            </a:extLst>
          </p:cNvPr>
          <p:cNvSpPr>
            <a:spLocks xmlns:a="http://schemas.openxmlformats.org/drawingml/2006/main" noGrp="1"/>
          </p:cNvSpPr>
          <p:nvPr/>
        </p:nvSpPr>
        <p:spPr>
          <a:xfrm xmlns:a="http://schemas.openxmlformats.org/drawingml/2006/main">
            <a:off x="1790700" y="4552950"/>
            <a:ext cx="11715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L0001</a:t>
            </a:r>
          </a:p>
        </p:txBody>
      </p:sp>
      <p:sp>
        <p:nvSpPr>
          <p:cNvPr id="38" name="">
            <a:extLst xmlns:a="http://schemas.openxmlformats.org/drawingml/2006/main">
              <a:ext uri="{FF2B5EF4-FFF2-40B4-BE49-F238E27FC236}">
                <a16:creationId xmlns:a16="http://schemas.microsoft.com/office/drawing/2014/main" id="{A686A5EA-76AB-4642-95C0-92BE8A250265}"/>
              </a:ext>
            </a:extLst>
          </p:cNvPr>
          <p:cNvSpPr>
            <a:spLocks xmlns:a="http://schemas.openxmlformats.org/drawingml/2006/main" noGrp="1"/>
          </p:cNvSpPr>
          <p:nvPr/>
        </p:nvSpPr>
        <p:spPr>
          <a:xfrm xmlns:a="http://schemas.openxmlformats.org/drawingml/2006/main">
            <a:off x="3076575" y="4552950"/>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L0201</a:t>
            </a:r>
          </a:p>
        </p:txBody>
      </p:sp>
      <p:sp>
        <p:nvSpPr>
          <p:cNvPr id="39" name="">
            <a:extLst xmlns:a="http://schemas.openxmlformats.org/drawingml/2006/main">
              <a:ext uri="{FF2B5EF4-FFF2-40B4-BE49-F238E27FC236}">
                <a16:creationId xmlns:a16="http://schemas.microsoft.com/office/drawing/2014/main" id="{C0C626D5-0E2B-42F0-95E0-50041ADD8C3C}"/>
              </a:ext>
            </a:extLst>
          </p:cNvPr>
          <p:cNvSpPr>
            <a:spLocks xmlns:a="http://schemas.openxmlformats.org/drawingml/2006/main" noGrp="1"/>
          </p:cNvSpPr>
          <p:nvPr/>
        </p:nvSpPr>
        <p:spPr>
          <a:xfrm xmlns:a="http://schemas.openxmlformats.org/drawingml/2006/main">
            <a:off x="4505325" y="455295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02326"/>
                </a:solidFill>
                <a:latin typeface="Aptos"/>
                <a:ea typeface="Aptos"/>
                <a:cs typeface="Aptos"/>
              </a:defRPr>
            </a:pPr>
            <a:r>
              <a:rPr sz="900" b="0">
                <a:solidFill>
                  <a:srgbClr val="202326"/>
                </a:solidFill>
                <a:latin typeface="Aptos"/>
                <a:ea typeface="Aptos"/>
                <a:cs typeface="Aptos"/>
              </a:rPr>
              <a:t>L0105, L0205</a:t>
            </a:r>
          </a:p>
        </p:txBody>
      </p:sp>
      <p:sp>
        <p:nvSpPr>
          <p:cNvPr id="40" name="">
            <a:extLst xmlns:a="http://schemas.openxmlformats.org/drawingml/2006/main">
              <a:ext uri="{FF2B5EF4-FFF2-40B4-BE49-F238E27FC236}">
                <a16:creationId xmlns:a16="http://schemas.microsoft.com/office/drawing/2014/main" id="{B24CFE8C-39C9-4022-923B-31962FC76C69}"/>
              </a:ext>
            </a:extLst>
          </p:cNvPr>
          <p:cNvSpPr>
            <a:spLocks xmlns:a="http://schemas.openxmlformats.org/drawingml/2006/main" noGrp="1"/>
          </p:cNvSpPr>
          <p:nvPr/>
        </p:nvSpPr>
        <p:spPr>
          <a:xfrm xmlns:a="http://schemas.openxmlformats.org/drawingml/2006/main">
            <a:off x="6124575" y="45529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A85645"/>
                </a:solidFill>
                <a:latin typeface="Aptos"/>
                <a:ea typeface="Aptos"/>
                <a:cs typeface="Aptos"/>
              </a:defRPr>
            </a:pPr>
            <a:r>
              <a:rPr sz="900" b="1">
                <a:solidFill>
                  <a:srgbClr val="A85645"/>
                </a:solidFill>
                <a:latin typeface="Aptos"/>
                <a:ea typeface="Aptos"/>
                <a:cs typeface="Aptos"/>
              </a:rPr>
              <a:t>48</a:t>
            </a:r>
          </a:p>
        </p:txBody>
      </p:sp>
      <p:sp>
        <p:nvSpPr>
          <p:cNvPr id="41" name="">
            <a:extLst xmlns:a="http://schemas.openxmlformats.org/drawingml/2006/main">
              <a:ext uri="{FF2B5EF4-FFF2-40B4-BE49-F238E27FC236}">
                <a16:creationId xmlns:a16="http://schemas.microsoft.com/office/drawing/2014/main" id="{E6AD4467-4F8C-45AC-90AD-A3EA32CDD132}"/>
              </a:ext>
            </a:extLst>
          </p:cNvPr>
          <p:cNvSpPr>
            <a:spLocks xmlns:a="http://schemas.openxmlformats.org/drawingml/2006/main" noGrp="1"/>
          </p:cNvSpPr>
          <p:nvPr/>
        </p:nvSpPr>
        <p:spPr>
          <a:xfrm xmlns:a="http://schemas.openxmlformats.org/drawingml/2006/main">
            <a:off x="6943725" y="455295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202326"/>
                </a:solidFill>
                <a:latin typeface="Aptos"/>
                <a:ea typeface="Aptos"/>
                <a:cs typeface="Aptos"/>
              </a:defRPr>
            </a:pPr>
            <a:r>
              <a:rPr sz="788" b="0">
                <a:solidFill>
                  <a:srgbClr val="202326"/>
                </a:solidFill>
                <a:latin typeface="Aptos"/>
                <a:ea typeface="Aptos"/>
                <a:cs typeface="Aptos"/>
              </a:rPr>
              <a:t>L0001 -&gt; ... -&gt; L0105 -&gt; ... -&gt; L0205 -&gt; L0201</a:t>
            </a:r>
          </a:p>
        </p:txBody>
      </p:sp>
      <p:sp>
        <p:nvSpPr>
          <p:cNvPr id="42" name="">
            <a:extLst xmlns:a="http://schemas.openxmlformats.org/drawingml/2006/main">
              <a:ext uri="{FF2B5EF4-FFF2-40B4-BE49-F238E27FC236}">
                <a16:creationId xmlns:a16="http://schemas.microsoft.com/office/drawing/2014/main" id="{730612A5-1F8F-4852-ABFD-04107D50CD89}"/>
              </a:ext>
            </a:extLst>
          </p:cNvPr>
          <p:cNvSpPr>
            <a:spLocks xmlns:a="http://schemas.openxmlformats.org/drawingml/2006/main" noGrp="1"/>
          </p:cNvSpPr>
          <p:nvPr/>
        </p:nvSpPr>
        <p:spPr>
          <a:xfrm xmlns:a="http://schemas.openxmlformats.org/drawingml/2006/main">
            <a:off x="971550" y="4876800"/>
            <a:ext cx="9372600" cy="9525"/>
          </a:xfrm>
          <a:prstGeom xmlns:a="http://schemas.openxmlformats.org/drawingml/2006/main" prst="rect">
            <a:avLst/>
          </a:prstGeom>
          <a:solidFill xmlns:a="http://schemas.openxmlformats.org/drawingml/2006/main">
            <a:srgbClr val="E4DED2"/>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7DAA0E91-5541-4DA6-AE76-C0839706F96A}"/>
              </a:ext>
            </a:extLst>
          </p:cNvPr>
          <p:cNvSpPr>
            <a:spLocks xmlns:a="http://schemas.openxmlformats.org/drawingml/2006/main" noGrp="1"/>
          </p:cNvSpPr>
          <p:nvPr/>
        </p:nvSpPr>
        <p:spPr>
          <a:xfrm xmlns:a="http://schemas.openxmlformats.org/drawingml/2006/main">
            <a:off x="971550" y="55245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28736"/>
                </a:solidFill>
                <a:latin typeface="Aptos"/>
                <a:ea typeface="Aptos"/>
                <a:cs typeface="Aptos"/>
              </a:defRPr>
            </a:pPr>
            <a:r>
              <a:rPr sz="900" b="1">
                <a:solidFill>
                  <a:srgbClr val="B28736"/>
                </a:solidFill>
                <a:latin typeface="Aptos"/>
                <a:ea typeface="Aptos"/>
                <a:cs typeface="Aptos"/>
              </a:rPr>
              <a:t>Important limitation</a:t>
            </a:r>
          </a:p>
        </p:txBody>
      </p:sp>
      <p:sp>
        <p:nvSpPr>
          <p:cNvPr id="44" name="">
            <a:extLst xmlns:a="http://schemas.openxmlformats.org/drawingml/2006/main">
              <a:ext uri="{FF2B5EF4-FFF2-40B4-BE49-F238E27FC236}">
                <a16:creationId xmlns:a16="http://schemas.microsoft.com/office/drawing/2014/main" id="{98807712-015D-4FFF-AAC0-B5DD13D2F8A9}"/>
              </a:ext>
            </a:extLst>
          </p:cNvPr>
          <p:cNvSpPr>
            <a:spLocks xmlns:a="http://schemas.openxmlformats.org/drawingml/2006/main" noGrp="1"/>
          </p:cNvSpPr>
          <p:nvPr/>
        </p:nvSpPr>
        <p:spPr>
          <a:xfrm xmlns:a="http://schemas.openxmlformats.org/drawingml/2006/main">
            <a:off x="2724150" y="552450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C7178"/>
                </a:solidFill>
                <a:latin typeface="Aptos"/>
                <a:ea typeface="Aptos"/>
                <a:cs typeface="Aptos"/>
              </a:defRPr>
            </a:pPr>
            <a:r>
              <a:rPr sz="975" b="0">
                <a:solidFill>
                  <a:srgbClr val="6C7178"/>
                </a:solidFill>
                <a:latin typeface="Aptos"/>
                <a:ea typeface="Aptos"/>
                <a:cs typeface="Aptos"/>
              </a:rPr>
              <a:t>These paths are optimal for fixed start, destination and waypoint order. They do not automatically solve the full inspection planning problem globally.</a:t>
            </a:r>
          </a:p>
        </p:txBody>
      </p:sp>
      <p:sp>
        <p:nvSpPr>
          <p:cNvPr id="45" name="">
            <a:extLst xmlns:a="http://schemas.openxmlformats.org/drawingml/2006/main">
              <a:ext uri="{FF2B5EF4-FFF2-40B4-BE49-F238E27FC236}">
                <a16:creationId xmlns:a16="http://schemas.microsoft.com/office/drawing/2014/main" id="{754B2FB6-2074-4B23-B80E-4630560691B0}"/>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46" name="">
            <a:extLst xmlns:a="http://schemas.openxmlformats.org/drawingml/2006/main">
              <a:ext uri="{FF2B5EF4-FFF2-40B4-BE49-F238E27FC236}">
                <a16:creationId xmlns:a16="http://schemas.microsoft.com/office/drawing/2014/main" id="{5C0845E2-53CB-4397-8F7D-08AE29CF1F57}"/>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06</a:t>
            </a:r>
          </a:p>
        </p:txBody>
      </p:sp>
    </p:spTree>
    <p:extLst>
      <p:ext uri="{BB962C8B-B14F-4D97-AF65-F5344CB8AC3E}">
        <p14:creationId xmlns:p14="http://schemas.microsoft.com/office/powerpoint/2010/main" val="1555434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3A2763-83E0-4446-B365-9B08DD8309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6C20E60-CC49-4588-85C0-FC66AFF8D78B}"/>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89F63F99-1168-4FB9-A5B9-D45C00F33DE5}"/>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OBJECT-ORIENTED DESIGN</a:t>
            </a:r>
          </a:p>
        </p:txBody>
      </p:sp>
      <p:sp>
        <p:nvSpPr>
          <p:cNvPr id="4" name="">
            <a:extLst xmlns:a="http://schemas.openxmlformats.org/drawingml/2006/main">
              <a:ext uri="{FF2B5EF4-FFF2-40B4-BE49-F238E27FC236}">
                <a16:creationId xmlns:a16="http://schemas.microsoft.com/office/drawing/2014/main" id="{E98F3A48-8D8A-4941-85D6-9605B72F8C9F}"/>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The system is organised around replaceable behaviours.</a:t>
            </a:r>
          </a:p>
        </p:txBody>
      </p:sp>
      <p:sp>
        <p:nvSpPr>
          <p:cNvPr id="5" name="">
            <a:extLst xmlns:a="http://schemas.openxmlformats.org/drawingml/2006/main">
              <a:ext uri="{FF2B5EF4-FFF2-40B4-BE49-F238E27FC236}">
                <a16:creationId xmlns:a16="http://schemas.microsoft.com/office/drawing/2014/main" id="{72317E38-3765-4031-BE50-FCFB8BBEB14F}"/>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733FA11D-82F8-470A-9527-BE477E57F71E}"/>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04D405E-26EA-46DC-89A3-0F9C6DFAFFBD}"/>
              </a:ext>
            </a:extLst>
          </p:cNvPr>
          <p:cNvSpPr>
            <a:spLocks xmlns:a="http://schemas.openxmlformats.org/drawingml/2006/main" noGrp="1"/>
          </p:cNvSpPr>
          <p:nvPr/>
        </p:nvSpPr>
        <p:spPr>
          <a:xfrm xmlns:a="http://schemas.openxmlformats.org/drawingml/2006/main">
            <a:off x="1066800" y="2247900"/>
            <a:ext cx="10287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A85645"/>
            </a:solidFill>
            <a:prstDash val="solid"/>
          </a:ln>
        </p:spPr>
      </p:sp>
      <p:sp>
        <p:nvSpPr>
          <p:cNvPr id="8" name="">
            <a:extLst xmlns:a="http://schemas.openxmlformats.org/drawingml/2006/main">
              <a:ext uri="{FF2B5EF4-FFF2-40B4-BE49-F238E27FC236}">
                <a16:creationId xmlns:a16="http://schemas.microsoft.com/office/drawing/2014/main" id="{45E5B576-0D39-4FBF-BDDD-5149200390C6}"/>
              </a:ext>
            </a:extLst>
          </p:cNvPr>
          <p:cNvSpPr>
            <a:spLocks xmlns:a="http://schemas.openxmlformats.org/drawingml/2006/main" noGrp="1"/>
          </p:cNvSpPr>
          <p:nvPr/>
        </p:nvSpPr>
        <p:spPr>
          <a:xfrm xmlns:a="http://schemas.openxmlformats.org/drawingml/2006/main">
            <a:off x="1162050" y="2324100"/>
            <a:ext cx="8382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A85645"/>
                </a:solidFill>
                <a:latin typeface="Aptos"/>
                <a:ea typeface="Aptos"/>
                <a:cs typeface="Aptos"/>
              </a:defRPr>
            </a:pPr>
            <a:r>
              <a:rPr sz="675" b="1">
                <a:solidFill>
                  <a:srgbClr val="A85645"/>
                </a:solidFill>
                <a:latin typeface="Aptos"/>
                <a:ea typeface="Aptos"/>
                <a:cs typeface="Aptos"/>
              </a:rPr>
              <a:t>UI</a:t>
            </a:r>
          </a:p>
        </p:txBody>
      </p:sp>
      <p:sp>
        <p:nvSpPr>
          <p:cNvPr id="9" name="">
            <a:extLst xmlns:a="http://schemas.openxmlformats.org/drawingml/2006/main">
              <a:ext uri="{FF2B5EF4-FFF2-40B4-BE49-F238E27FC236}">
                <a16:creationId xmlns:a16="http://schemas.microsoft.com/office/drawing/2014/main" id="{EFA44438-79DE-475D-8651-2331E9149720}"/>
              </a:ext>
            </a:extLst>
          </p:cNvPr>
          <p:cNvSpPr>
            <a:spLocks xmlns:a="http://schemas.openxmlformats.org/drawingml/2006/main" noGrp="1"/>
          </p:cNvSpPr>
          <p:nvPr/>
        </p:nvSpPr>
        <p:spPr>
          <a:xfrm xmlns:a="http://schemas.openxmlformats.org/drawingml/2006/main">
            <a:off x="2381250" y="2381250"/>
            <a:ext cx="485775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6E51199-754F-49B4-B6DC-4005CCDDCDD1}"/>
              </a:ext>
            </a:extLst>
          </p:cNvPr>
          <p:cNvSpPr>
            <a:spLocks xmlns:a="http://schemas.openxmlformats.org/drawingml/2006/main" noGrp="1"/>
          </p:cNvSpPr>
          <p:nvPr/>
        </p:nvSpPr>
        <p:spPr>
          <a:xfrm xmlns:a="http://schemas.openxmlformats.org/drawingml/2006/main">
            <a:off x="7524750" y="22288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MainFrame, TaskAPanel,</a:t>
            </a:r>
          </a:p>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ShortestPathPanel</a:t>
            </a:r>
          </a:p>
        </p:txBody>
      </p:sp>
      <p:sp>
        <p:nvSpPr>
          <p:cNvPr id="11" name="">
            <a:extLst xmlns:a="http://schemas.openxmlformats.org/drawingml/2006/main">
              <a:ext uri="{FF2B5EF4-FFF2-40B4-BE49-F238E27FC236}">
                <a16:creationId xmlns:a16="http://schemas.microsoft.com/office/drawing/2014/main" id="{0DF71117-B585-4C3D-AB38-9B09F0C72F98}"/>
              </a:ext>
            </a:extLst>
          </p:cNvPr>
          <p:cNvSpPr>
            <a:spLocks xmlns:a="http://schemas.openxmlformats.org/drawingml/2006/main" noGrp="1"/>
          </p:cNvSpPr>
          <p:nvPr/>
        </p:nvSpPr>
        <p:spPr>
          <a:xfrm xmlns:a="http://schemas.openxmlformats.org/drawingml/2006/main">
            <a:off x="1066800" y="2933700"/>
            <a:ext cx="10287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B28736"/>
            </a:solidFill>
            <a:prstDash val="solid"/>
          </a:ln>
        </p:spPr>
      </p:sp>
      <p:sp>
        <p:nvSpPr>
          <p:cNvPr id="12" name="">
            <a:extLst xmlns:a="http://schemas.openxmlformats.org/drawingml/2006/main">
              <a:ext uri="{FF2B5EF4-FFF2-40B4-BE49-F238E27FC236}">
                <a16:creationId xmlns:a16="http://schemas.microsoft.com/office/drawing/2014/main" id="{3FEAEE2B-C138-4BE9-A563-2F03E59B694A}"/>
              </a:ext>
            </a:extLst>
          </p:cNvPr>
          <p:cNvSpPr>
            <a:spLocks xmlns:a="http://schemas.openxmlformats.org/drawingml/2006/main" noGrp="1"/>
          </p:cNvSpPr>
          <p:nvPr/>
        </p:nvSpPr>
        <p:spPr>
          <a:xfrm xmlns:a="http://schemas.openxmlformats.org/drawingml/2006/main">
            <a:off x="1162050" y="3009900"/>
            <a:ext cx="8382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B28736"/>
                </a:solidFill>
                <a:latin typeface="Aptos"/>
                <a:ea typeface="Aptos"/>
                <a:cs typeface="Aptos"/>
              </a:defRPr>
            </a:pPr>
            <a:r>
              <a:rPr sz="675" b="1">
                <a:solidFill>
                  <a:srgbClr val="B28736"/>
                </a:solidFill>
                <a:latin typeface="Aptos"/>
                <a:ea typeface="Aptos"/>
                <a:cs typeface="Aptos"/>
              </a:rPr>
              <a:t>Services</a:t>
            </a:r>
          </a:p>
        </p:txBody>
      </p:sp>
      <p:sp>
        <p:nvSpPr>
          <p:cNvPr id="13" name="">
            <a:extLst xmlns:a="http://schemas.openxmlformats.org/drawingml/2006/main">
              <a:ext uri="{FF2B5EF4-FFF2-40B4-BE49-F238E27FC236}">
                <a16:creationId xmlns:a16="http://schemas.microsoft.com/office/drawing/2014/main" id="{91197DF4-0C91-4907-BFD8-5D65E45999D3}"/>
              </a:ext>
            </a:extLst>
          </p:cNvPr>
          <p:cNvSpPr>
            <a:spLocks xmlns:a="http://schemas.openxmlformats.org/drawingml/2006/main" noGrp="1"/>
          </p:cNvSpPr>
          <p:nvPr/>
        </p:nvSpPr>
        <p:spPr>
          <a:xfrm xmlns:a="http://schemas.openxmlformats.org/drawingml/2006/main">
            <a:off x="2381250" y="3067050"/>
            <a:ext cx="485775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D6E10E7-2C86-4583-A36B-8401461761AE}"/>
              </a:ext>
            </a:extLst>
          </p:cNvPr>
          <p:cNvSpPr>
            <a:spLocks xmlns:a="http://schemas.openxmlformats.org/drawingml/2006/main" noGrp="1"/>
          </p:cNvSpPr>
          <p:nvPr/>
        </p:nvSpPr>
        <p:spPr>
          <a:xfrm xmlns:a="http://schemas.openxmlformats.org/drawingml/2006/main">
            <a:off x="7524750" y="29146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SortingService,</a:t>
            </a:r>
          </a:p>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BenchmarkService,</a:t>
            </a:r>
          </a:p>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GraphService</a:t>
            </a:r>
          </a:p>
        </p:txBody>
      </p:sp>
      <p:sp>
        <p:nvSpPr>
          <p:cNvPr id="15" name="">
            <a:extLst xmlns:a="http://schemas.openxmlformats.org/drawingml/2006/main">
              <a:ext uri="{FF2B5EF4-FFF2-40B4-BE49-F238E27FC236}">
                <a16:creationId xmlns:a16="http://schemas.microsoft.com/office/drawing/2014/main" id="{A29CB99C-0254-462B-A383-1BCAE04590B6}"/>
              </a:ext>
            </a:extLst>
          </p:cNvPr>
          <p:cNvSpPr>
            <a:spLocks xmlns:a="http://schemas.openxmlformats.org/drawingml/2006/main" noGrp="1"/>
          </p:cNvSpPr>
          <p:nvPr/>
        </p:nvSpPr>
        <p:spPr>
          <a:xfrm xmlns:a="http://schemas.openxmlformats.org/drawingml/2006/main">
            <a:off x="1066800" y="3619500"/>
            <a:ext cx="10287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315E91"/>
            </a:solidFill>
            <a:prstDash val="solid"/>
          </a:ln>
        </p:spPr>
      </p:sp>
      <p:sp>
        <p:nvSpPr>
          <p:cNvPr id="16" name="">
            <a:extLst xmlns:a="http://schemas.openxmlformats.org/drawingml/2006/main">
              <a:ext uri="{FF2B5EF4-FFF2-40B4-BE49-F238E27FC236}">
                <a16:creationId xmlns:a16="http://schemas.microsoft.com/office/drawing/2014/main" id="{2928D143-8C63-428F-BB85-454B1E74AC61}"/>
              </a:ext>
            </a:extLst>
          </p:cNvPr>
          <p:cNvSpPr>
            <a:spLocks xmlns:a="http://schemas.openxmlformats.org/drawingml/2006/main" noGrp="1"/>
          </p:cNvSpPr>
          <p:nvPr/>
        </p:nvSpPr>
        <p:spPr>
          <a:xfrm xmlns:a="http://schemas.openxmlformats.org/drawingml/2006/main">
            <a:off x="1162050" y="3695700"/>
            <a:ext cx="8382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315E91"/>
                </a:solidFill>
                <a:latin typeface="Aptos"/>
                <a:ea typeface="Aptos"/>
                <a:cs typeface="Aptos"/>
              </a:defRPr>
            </a:pPr>
            <a:r>
              <a:rPr sz="675" b="1">
                <a:solidFill>
                  <a:srgbClr val="315E91"/>
                </a:solidFill>
                <a:latin typeface="Aptos"/>
                <a:ea typeface="Aptos"/>
                <a:cs typeface="Aptos"/>
              </a:rPr>
              <a:t>Algorithms</a:t>
            </a:r>
          </a:p>
        </p:txBody>
      </p:sp>
      <p:sp>
        <p:nvSpPr>
          <p:cNvPr id="17" name="">
            <a:extLst xmlns:a="http://schemas.openxmlformats.org/drawingml/2006/main">
              <a:ext uri="{FF2B5EF4-FFF2-40B4-BE49-F238E27FC236}">
                <a16:creationId xmlns:a16="http://schemas.microsoft.com/office/drawing/2014/main" id="{F41AEE1E-C8C9-4999-B6E9-C289F36F00A0}"/>
              </a:ext>
            </a:extLst>
          </p:cNvPr>
          <p:cNvSpPr>
            <a:spLocks xmlns:a="http://schemas.openxmlformats.org/drawingml/2006/main" noGrp="1"/>
          </p:cNvSpPr>
          <p:nvPr/>
        </p:nvSpPr>
        <p:spPr>
          <a:xfrm xmlns:a="http://schemas.openxmlformats.org/drawingml/2006/main">
            <a:off x="2381250" y="3752850"/>
            <a:ext cx="485775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426E6FA-E2F4-410B-B53D-B8027CFA8EA8}"/>
              </a:ext>
            </a:extLst>
          </p:cNvPr>
          <p:cNvSpPr>
            <a:spLocks xmlns:a="http://schemas.openxmlformats.org/drawingml/2006/main" noGrp="1"/>
          </p:cNvSpPr>
          <p:nvPr/>
        </p:nvSpPr>
        <p:spPr>
          <a:xfrm xmlns:a="http://schemas.openxmlformats.org/drawingml/2006/main">
            <a:off x="7524750" y="36004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SortAlgorithm,</a:t>
            </a:r>
          </a:p>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PathAlgorithm</a:t>
            </a:r>
          </a:p>
        </p:txBody>
      </p:sp>
      <p:sp>
        <p:nvSpPr>
          <p:cNvPr id="19" name="">
            <a:extLst xmlns:a="http://schemas.openxmlformats.org/drawingml/2006/main">
              <a:ext uri="{FF2B5EF4-FFF2-40B4-BE49-F238E27FC236}">
                <a16:creationId xmlns:a16="http://schemas.microsoft.com/office/drawing/2014/main" id="{53B02C62-D90D-46D2-B157-FAE0E1FEF720}"/>
              </a:ext>
            </a:extLst>
          </p:cNvPr>
          <p:cNvSpPr>
            <a:spLocks xmlns:a="http://schemas.openxmlformats.org/drawingml/2006/main" noGrp="1"/>
          </p:cNvSpPr>
          <p:nvPr/>
        </p:nvSpPr>
        <p:spPr>
          <a:xfrm xmlns:a="http://schemas.openxmlformats.org/drawingml/2006/main">
            <a:off x="1066800" y="4305300"/>
            <a:ext cx="10287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246B57"/>
            </a:solidFill>
            <a:prstDash val="solid"/>
          </a:ln>
        </p:spPr>
      </p:sp>
      <p:sp>
        <p:nvSpPr>
          <p:cNvPr id="20" name="">
            <a:extLst xmlns:a="http://schemas.openxmlformats.org/drawingml/2006/main">
              <a:ext uri="{FF2B5EF4-FFF2-40B4-BE49-F238E27FC236}">
                <a16:creationId xmlns:a16="http://schemas.microsoft.com/office/drawing/2014/main" id="{A694AA26-9144-4250-AB37-9E586A2FBC24}"/>
              </a:ext>
            </a:extLst>
          </p:cNvPr>
          <p:cNvSpPr>
            <a:spLocks xmlns:a="http://schemas.openxmlformats.org/drawingml/2006/main" noGrp="1"/>
          </p:cNvSpPr>
          <p:nvPr/>
        </p:nvSpPr>
        <p:spPr>
          <a:xfrm xmlns:a="http://schemas.openxmlformats.org/drawingml/2006/main">
            <a:off x="1162050" y="4381500"/>
            <a:ext cx="8382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246B57"/>
                </a:solidFill>
                <a:latin typeface="Aptos"/>
                <a:ea typeface="Aptos"/>
                <a:cs typeface="Aptos"/>
              </a:defRPr>
            </a:pPr>
            <a:r>
              <a:rPr sz="675" b="1">
                <a:solidFill>
                  <a:srgbClr val="246B57"/>
                </a:solidFill>
                <a:latin typeface="Aptos"/>
                <a:ea typeface="Aptos"/>
                <a:cs typeface="Aptos"/>
              </a:rPr>
              <a:t>Models</a:t>
            </a:r>
          </a:p>
        </p:txBody>
      </p:sp>
      <p:sp>
        <p:nvSpPr>
          <p:cNvPr id="21" name="">
            <a:extLst xmlns:a="http://schemas.openxmlformats.org/drawingml/2006/main">
              <a:ext uri="{FF2B5EF4-FFF2-40B4-BE49-F238E27FC236}">
                <a16:creationId xmlns:a16="http://schemas.microsoft.com/office/drawing/2014/main" id="{9FE8EF06-AE8E-44E7-8D0B-813ECD085888}"/>
              </a:ext>
            </a:extLst>
          </p:cNvPr>
          <p:cNvSpPr>
            <a:spLocks xmlns:a="http://schemas.openxmlformats.org/drawingml/2006/main" noGrp="1"/>
          </p:cNvSpPr>
          <p:nvPr/>
        </p:nvSpPr>
        <p:spPr>
          <a:xfrm xmlns:a="http://schemas.openxmlformats.org/drawingml/2006/main">
            <a:off x="2381250" y="4438650"/>
            <a:ext cx="485775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8779A4B-58F9-432C-867A-EA8338870D29}"/>
              </a:ext>
            </a:extLst>
          </p:cNvPr>
          <p:cNvSpPr>
            <a:spLocks xmlns:a="http://schemas.openxmlformats.org/drawingml/2006/main" noGrp="1"/>
          </p:cNvSpPr>
          <p:nvPr/>
        </p:nvSpPr>
        <p:spPr>
          <a:xfrm xmlns:a="http://schemas.openxmlformats.org/drawingml/2006/main">
            <a:off x="7524750" y="42862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Candidate, Graph,</a:t>
            </a:r>
          </a:p>
          <a:p xmlns:a="http://schemas.openxmlformats.org/drawingml/2006/main">
            <a:pPr algn="l">
              <a:defRPr sz="900" b="0">
                <a:solidFill>
                  <a:srgbClr val="6C7178"/>
                </a:solidFill>
                <a:latin typeface="Aptos"/>
                <a:ea typeface="Aptos"/>
                <a:cs typeface="Aptos"/>
              </a:defRPr>
            </a:pPr>
            <a:r>
              <a:rPr sz="900" b="0">
                <a:solidFill>
                  <a:srgbClr val="6C7178"/>
                </a:solidFill>
                <a:latin typeface="Aptos"/>
                <a:ea typeface="Aptos"/>
                <a:cs typeface="Aptos"/>
              </a:rPr>
              <a:t>Vertex, Edge, PathResult</a:t>
            </a:r>
          </a:p>
        </p:txBody>
      </p:sp>
      <p:sp>
        <p:nvSpPr>
          <p:cNvPr id="23" name="">
            <a:extLst xmlns:a="http://schemas.openxmlformats.org/drawingml/2006/main">
              <a:ext uri="{FF2B5EF4-FFF2-40B4-BE49-F238E27FC236}">
                <a16:creationId xmlns:a16="http://schemas.microsoft.com/office/drawing/2014/main" id="{5AA074EF-0A42-4D48-9EA0-7A7B2CF124B8}"/>
              </a:ext>
            </a:extLst>
          </p:cNvPr>
          <p:cNvSpPr>
            <a:spLocks xmlns:a="http://schemas.openxmlformats.org/drawingml/2006/main" noGrp="1"/>
          </p:cNvSpPr>
          <p:nvPr/>
        </p:nvSpPr>
        <p:spPr>
          <a:xfrm xmlns:a="http://schemas.openxmlformats.org/drawingml/2006/main">
            <a:off x="1104900" y="5219700"/>
            <a:ext cx="8477250" cy="5524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24" name="">
            <a:extLst xmlns:a="http://schemas.openxmlformats.org/drawingml/2006/main">
              <a:ext uri="{FF2B5EF4-FFF2-40B4-BE49-F238E27FC236}">
                <a16:creationId xmlns:a16="http://schemas.microsoft.com/office/drawing/2014/main" id="{9D6F028B-52F1-42A2-B473-C2B26301426F}"/>
              </a:ext>
            </a:extLst>
          </p:cNvPr>
          <p:cNvSpPr>
            <a:spLocks xmlns:a="http://schemas.openxmlformats.org/drawingml/2006/main" noGrp="1"/>
          </p:cNvSpPr>
          <p:nvPr/>
        </p:nvSpPr>
        <p:spPr>
          <a:xfrm xmlns:a="http://schemas.openxmlformats.org/drawingml/2006/main">
            <a:off x="1371600" y="5391150"/>
            <a:ext cx="123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6B57"/>
                </a:solidFill>
                <a:latin typeface="Aptos"/>
                <a:ea typeface="Aptos"/>
                <a:cs typeface="Aptos"/>
              </a:defRPr>
            </a:pPr>
            <a:r>
              <a:rPr sz="825" b="1">
                <a:solidFill>
                  <a:srgbClr val="246B57"/>
                </a:solidFill>
                <a:latin typeface="Aptos"/>
                <a:ea typeface="Aptos"/>
                <a:cs typeface="Aptos"/>
              </a:rPr>
              <a:t>OOP principles</a:t>
            </a:r>
          </a:p>
        </p:txBody>
      </p:sp>
      <p:sp>
        <p:nvSpPr>
          <p:cNvPr id="25" name="">
            <a:extLst xmlns:a="http://schemas.openxmlformats.org/drawingml/2006/main">
              <a:ext uri="{FF2B5EF4-FFF2-40B4-BE49-F238E27FC236}">
                <a16:creationId xmlns:a16="http://schemas.microsoft.com/office/drawing/2014/main" id="{E2A58DFE-E84C-4E4D-833E-EB38929A4CA5}"/>
              </a:ext>
            </a:extLst>
          </p:cNvPr>
          <p:cNvSpPr>
            <a:spLocks xmlns:a="http://schemas.openxmlformats.org/drawingml/2006/main" noGrp="1"/>
          </p:cNvSpPr>
          <p:nvPr/>
        </p:nvSpPr>
        <p:spPr>
          <a:xfrm xmlns:a="http://schemas.openxmlformats.org/drawingml/2006/main">
            <a:off x="2857500" y="5372100"/>
            <a:ext cx="619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202326"/>
                </a:solidFill>
                <a:latin typeface="Aptos"/>
                <a:ea typeface="Aptos"/>
                <a:cs typeface="Aptos"/>
              </a:defRPr>
            </a:pPr>
            <a:r>
              <a:rPr sz="863" b="0">
                <a:solidFill>
                  <a:srgbClr val="202326"/>
                </a:solidFill>
                <a:latin typeface="Aptos"/>
                <a:ea typeface="Aptos"/>
                <a:cs typeface="Aptos"/>
              </a:rPr>
              <a:t>Encapsulation protects state; abstraction hides algorithm details; polymorphism lets services call different algorithms through the same interface; inheritance supports the Swing UI.</a:t>
            </a:r>
          </a:p>
        </p:txBody>
      </p:sp>
      <p:sp>
        <p:nvSpPr>
          <p:cNvPr id="26" name="">
            <a:extLst xmlns:a="http://schemas.openxmlformats.org/drawingml/2006/main">
              <a:ext uri="{FF2B5EF4-FFF2-40B4-BE49-F238E27FC236}">
                <a16:creationId xmlns:a16="http://schemas.microsoft.com/office/drawing/2014/main" id="{35F7FCD6-35FA-43FA-82AE-CBF53ABF85CB}"/>
              </a:ext>
            </a:extLst>
          </p:cNvPr>
          <p:cNvSpPr>
            <a:spLocks xmlns:a="http://schemas.openxmlformats.org/drawingml/2006/main" noGrp="1"/>
          </p:cNvSpPr>
          <p:nvPr/>
        </p:nvSpPr>
        <p:spPr>
          <a:xfrm xmlns:a="http://schemas.openxmlformats.org/drawingml/2006/main">
            <a:off x="1219200" y="5924550"/>
            <a:ext cx="38100" cy="285750"/>
          </a:xfrm>
          <a:prstGeom xmlns:a="http://schemas.openxmlformats.org/drawingml/2006/main" prst="rect">
            <a:avLst/>
          </a:prstGeom>
          <a:solidFill xmlns:a="http://schemas.openxmlformats.org/drawingml/2006/main">
            <a:srgbClr val="315E9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8086BA7-5E8B-4907-B5A6-1F8282F07DEB}"/>
              </a:ext>
            </a:extLst>
          </p:cNvPr>
          <p:cNvSpPr>
            <a:spLocks xmlns:a="http://schemas.openxmlformats.org/drawingml/2006/main" noGrp="1"/>
          </p:cNvSpPr>
          <p:nvPr/>
        </p:nvSpPr>
        <p:spPr>
          <a:xfrm xmlns:a="http://schemas.openxmlformats.org/drawingml/2006/main">
            <a:off x="1409700" y="59436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02326"/>
                </a:solidFill>
                <a:latin typeface="Aptos"/>
                <a:ea typeface="Aptos"/>
                <a:cs typeface="Aptos"/>
              </a:defRPr>
            </a:pPr>
            <a:r>
              <a:rPr sz="975" b="0">
                <a:solidFill>
                  <a:srgbClr val="202326"/>
                </a:solidFill>
                <a:latin typeface="Aptos"/>
                <a:ea typeface="Aptos"/>
                <a:cs typeface="Aptos"/>
              </a:rPr>
              <a:t>Practical value: adding a new sorting or path algorithm should not require rewriting the main workflow.</a:t>
            </a:r>
          </a:p>
        </p:txBody>
      </p:sp>
      <p:sp>
        <p:nvSpPr>
          <p:cNvPr id="28" name="">
            <a:extLst xmlns:a="http://schemas.openxmlformats.org/drawingml/2006/main">
              <a:ext uri="{FF2B5EF4-FFF2-40B4-BE49-F238E27FC236}">
                <a16:creationId xmlns:a16="http://schemas.microsoft.com/office/drawing/2014/main" id="{1B8AF382-1318-4869-B67C-29B7B55AF370}"/>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9" name="">
            <a:extLst xmlns:a="http://schemas.openxmlformats.org/drawingml/2006/main">
              <a:ext uri="{FF2B5EF4-FFF2-40B4-BE49-F238E27FC236}">
                <a16:creationId xmlns:a16="http://schemas.microsoft.com/office/drawing/2014/main" id="{DCF4E3A9-5E49-415A-AD9C-9CC133A4E5EE}"/>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07</a:t>
            </a:r>
          </a:p>
        </p:txBody>
      </p:sp>
    </p:spTree>
    <p:extLst>
      <p:ext uri="{BB962C8B-B14F-4D97-AF65-F5344CB8AC3E}">
        <p14:creationId xmlns:p14="http://schemas.microsoft.com/office/powerpoint/2010/main" val="12569004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1793F7-057C-455E-812B-6CD18BE663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27DB1E2-6D09-4BFE-BDE4-1362316E5F9A}"/>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D02CE307-9900-4218-BD45-C0D0A9386B31}"/>
              </a:ext>
            </a:extLst>
          </p:cNvPr>
          <p:cNvSpPr>
            <a:spLocks xmlns:a="http://schemas.openxmlformats.org/drawingml/2006/main" noGrp="1"/>
          </p:cNvSpPr>
          <p:nvPr/>
        </p:nvSpPr>
        <p:spPr>
          <a:xfrm xmlns:a="http://schemas.openxmlformats.org/drawingml/2006/main">
            <a:off x="666750" y="6096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46B57"/>
                </a:solidFill>
                <a:latin typeface="Aptos"/>
                <a:ea typeface="Aptos"/>
                <a:cs typeface="Aptos"/>
              </a:defRPr>
            </a:pPr>
            <a:r>
              <a:rPr sz="713" b="1">
                <a:solidFill>
                  <a:srgbClr val="246B57"/>
                </a:solidFill>
                <a:latin typeface="Aptos"/>
                <a:ea typeface="Aptos"/>
                <a:cs typeface="Aptos"/>
              </a:rPr>
              <a:t>PROJECT REFLECTION</a:t>
            </a:r>
          </a:p>
        </p:txBody>
      </p:sp>
      <p:sp>
        <p:nvSpPr>
          <p:cNvPr id="4" name="">
            <a:extLst xmlns:a="http://schemas.openxmlformats.org/drawingml/2006/main">
              <a:ext uri="{FF2B5EF4-FFF2-40B4-BE49-F238E27FC236}">
                <a16:creationId xmlns:a16="http://schemas.microsoft.com/office/drawing/2014/main" id="{FC832818-8366-4DE5-8720-1016B9EFC6BC}"/>
              </a:ext>
            </a:extLst>
          </p:cNvPr>
          <p:cNvSpPr>
            <a:spLocks xmlns:a="http://schemas.openxmlformats.org/drawingml/2006/main" noGrp="1"/>
          </p:cNvSpPr>
          <p:nvPr/>
        </p:nvSpPr>
        <p:spPr>
          <a:xfrm xmlns:a="http://schemas.openxmlformats.org/drawingml/2006/main">
            <a:off x="666750" y="9334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326"/>
                </a:solidFill>
                <a:latin typeface="Aptos Display"/>
                <a:ea typeface="Aptos Display"/>
                <a:cs typeface="Aptos Display"/>
              </a:defRPr>
            </a:pPr>
            <a:r>
              <a:rPr sz="2550" b="1">
                <a:solidFill>
                  <a:srgbClr val="202326"/>
                </a:solidFill>
                <a:latin typeface="Aptos Display"/>
                <a:ea typeface="Aptos Display"/>
                <a:cs typeface="Aptos Display"/>
              </a:rPr>
              <a:t>A technical inspection system still has human constraints.</a:t>
            </a:r>
          </a:p>
        </p:txBody>
      </p:sp>
      <p:sp>
        <p:nvSpPr>
          <p:cNvPr id="5" name="">
            <a:extLst xmlns:a="http://schemas.openxmlformats.org/drawingml/2006/main">
              <a:ext uri="{FF2B5EF4-FFF2-40B4-BE49-F238E27FC236}">
                <a16:creationId xmlns:a16="http://schemas.microsoft.com/office/drawing/2014/main" id="{B8B29FC5-FA14-456E-A2DC-2AF093328C08}"/>
              </a:ext>
            </a:extLst>
          </p:cNvPr>
          <p:cNvSpPr>
            <a:spLocks xmlns:a="http://schemas.openxmlformats.org/drawingml/2006/main" noGrp="1"/>
          </p:cNvSpPr>
          <p:nvPr/>
        </p:nvSpPr>
        <p:spPr>
          <a:xfrm xmlns:a="http://schemas.openxmlformats.org/drawingml/2006/main">
            <a:off x="10896600" y="685800"/>
            <a:ext cx="609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6C7178"/>
                </a:solidFill>
                <a:latin typeface="Aptos"/>
                <a:ea typeface="Aptos"/>
                <a:cs typeface="Aptos"/>
              </a:defRPr>
            </a:pPr>
            <a:r>
              <a:rPr sz="1200" b="0">
                <a:solidFill>
                  <a:srgbClr val="6C7178"/>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4C96DBC-AC80-4FF5-A117-E2FDC365597E}"/>
              </a:ext>
            </a:extLst>
          </p:cNvPr>
          <p:cNvSpPr>
            <a:spLocks xmlns:a="http://schemas.openxmlformats.org/drawingml/2006/main" noGrp="1"/>
          </p:cNvSpPr>
          <p:nvPr/>
        </p:nvSpPr>
        <p:spPr>
          <a:xfrm xmlns:a="http://schemas.openxmlformats.org/drawingml/2006/main">
            <a:off x="666750" y="1866900"/>
            <a:ext cx="10287000" cy="9525"/>
          </a:xfrm>
          <a:prstGeom xmlns:a="http://schemas.openxmlformats.org/drawingml/2006/main" prst="rect">
            <a:avLst/>
          </a:prstGeom>
          <a:solidFill xmlns:a="http://schemas.openxmlformats.org/drawingml/2006/main">
            <a:srgbClr val="D9D2C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E540883-7C07-40A8-84FA-85F89517678F}"/>
              </a:ext>
            </a:extLst>
          </p:cNvPr>
          <p:cNvSpPr>
            <a:spLocks xmlns:a="http://schemas.openxmlformats.org/drawingml/2006/main" noGrp="1"/>
          </p:cNvSpPr>
          <p:nvPr/>
        </p:nvSpPr>
        <p:spPr>
          <a:xfrm xmlns:a="http://schemas.openxmlformats.org/drawingml/2006/main">
            <a:off x="838200" y="2305050"/>
            <a:ext cx="2781300" cy="22479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8" name="">
            <a:extLst xmlns:a="http://schemas.openxmlformats.org/drawingml/2006/main">
              <a:ext uri="{FF2B5EF4-FFF2-40B4-BE49-F238E27FC236}">
                <a16:creationId xmlns:a16="http://schemas.microsoft.com/office/drawing/2014/main" id="{2C2D7C15-1BA6-4D19-8E26-EDAB4A22526D}"/>
              </a:ext>
            </a:extLst>
          </p:cNvPr>
          <p:cNvSpPr>
            <a:spLocks xmlns:a="http://schemas.openxmlformats.org/drawingml/2006/main" noGrp="1"/>
          </p:cNvSpPr>
          <p:nvPr/>
        </p:nvSpPr>
        <p:spPr>
          <a:xfrm xmlns:a="http://schemas.openxmlformats.org/drawingml/2006/main">
            <a:off x="1104900" y="26289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46B57"/>
                </a:solidFill>
                <a:latin typeface="Aptos"/>
                <a:ea typeface="Aptos"/>
                <a:cs typeface="Aptos"/>
              </a:defRPr>
            </a:pPr>
            <a:r>
              <a:rPr sz="1425" b="1">
                <a:solidFill>
                  <a:srgbClr val="246B57"/>
                </a:solidFill>
                <a:latin typeface="Aptos"/>
                <a:ea typeface="Aptos"/>
                <a:cs typeface="Aptos"/>
              </a:rPr>
              <a:t>Planning</a:t>
            </a:r>
          </a:p>
        </p:txBody>
      </p:sp>
      <p:sp>
        <p:nvSpPr>
          <p:cNvPr id="9" name="">
            <a:extLst xmlns:a="http://schemas.openxmlformats.org/drawingml/2006/main">
              <a:ext uri="{FF2B5EF4-FFF2-40B4-BE49-F238E27FC236}">
                <a16:creationId xmlns:a16="http://schemas.microsoft.com/office/drawing/2014/main" id="{633504A2-E710-4E93-985C-8DD0D633CC89}"/>
              </a:ext>
            </a:extLst>
          </p:cNvPr>
          <p:cNvSpPr>
            <a:spLocks xmlns:a="http://schemas.openxmlformats.org/drawingml/2006/main" noGrp="1"/>
          </p:cNvSpPr>
          <p:nvPr/>
        </p:nvSpPr>
        <p:spPr>
          <a:xfrm xmlns:a="http://schemas.openxmlformats.org/drawingml/2006/main">
            <a:off x="1104900" y="3124200"/>
            <a:ext cx="21526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202326"/>
                </a:solidFill>
                <a:latin typeface="Aptos"/>
                <a:ea typeface="Aptos"/>
                <a:cs typeface="Aptos"/>
              </a:defRPr>
            </a:pPr>
            <a:r>
              <a:rPr sz="990" b="0">
                <a:solidFill>
                  <a:srgbClr val="202326"/>
                </a:solidFill>
                <a:latin typeface="Aptos"/>
                <a:ea typeface="Aptos"/>
                <a:cs typeface="Aptos"/>
              </a:rPr>
              <a:t>Jira helped divide sorting, path finding, GUI, and report tasks. It improved visibility, but some process overhead was heavy for a two-person team.</a:t>
            </a:r>
          </a:p>
        </p:txBody>
      </p:sp>
      <p:sp>
        <p:nvSpPr>
          <p:cNvPr id="10" name="">
            <a:extLst xmlns:a="http://schemas.openxmlformats.org/drawingml/2006/main">
              <a:ext uri="{FF2B5EF4-FFF2-40B4-BE49-F238E27FC236}">
                <a16:creationId xmlns:a16="http://schemas.microsoft.com/office/drawing/2014/main" id="{B43FE588-FEF1-402D-9D2A-8D8BE17C2282}"/>
              </a:ext>
            </a:extLst>
          </p:cNvPr>
          <p:cNvSpPr>
            <a:spLocks xmlns:a="http://schemas.openxmlformats.org/drawingml/2006/main" noGrp="1"/>
          </p:cNvSpPr>
          <p:nvPr/>
        </p:nvSpPr>
        <p:spPr>
          <a:xfrm xmlns:a="http://schemas.openxmlformats.org/drawingml/2006/main">
            <a:off x="4267200" y="2305050"/>
            <a:ext cx="2781300" cy="22479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1" name="">
            <a:extLst xmlns:a="http://schemas.openxmlformats.org/drawingml/2006/main">
              <a:ext uri="{FF2B5EF4-FFF2-40B4-BE49-F238E27FC236}">
                <a16:creationId xmlns:a16="http://schemas.microsoft.com/office/drawing/2014/main" id="{259A247F-F329-4FA4-9D07-2AF17EF22064}"/>
              </a:ext>
            </a:extLst>
          </p:cNvPr>
          <p:cNvSpPr>
            <a:spLocks xmlns:a="http://schemas.openxmlformats.org/drawingml/2006/main" noGrp="1"/>
          </p:cNvSpPr>
          <p:nvPr/>
        </p:nvSpPr>
        <p:spPr>
          <a:xfrm xmlns:a="http://schemas.openxmlformats.org/drawingml/2006/main">
            <a:off x="4533900" y="26289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15E91"/>
                </a:solidFill>
                <a:latin typeface="Aptos"/>
                <a:ea typeface="Aptos"/>
                <a:cs typeface="Aptos"/>
              </a:defRPr>
            </a:pPr>
            <a:r>
              <a:rPr sz="1425" b="1">
                <a:solidFill>
                  <a:srgbClr val="315E91"/>
                </a:solidFill>
                <a:latin typeface="Aptos"/>
                <a:ea typeface="Aptos"/>
                <a:cs typeface="Aptos"/>
              </a:rPr>
              <a:t>EDI</a:t>
            </a:r>
          </a:p>
        </p:txBody>
      </p:sp>
      <p:sp>
        <p:nvSpPr>
          <p:cNvPr id="12" name="">
            <a:extLst xmlns:a="http://schemas.openxmlformats.org/drawingml/2006/main">
              <a:ext uri="{FF2B5EF4-FFF2-40B4-BE49-F238E27FC236}">
                <a16:creationId xmlns:a16="http://schemas.microsoft.com/office/drawing/2014/main" id="{C7EADF5E-7853-4642-8CBF-12F00575E323}"/>
              </a:ext>
            </a:extLst>
          </p:cNvPr>
          <p:cNvSpPr>
            <a:spLocks xmlns:a="http://schemas.openxmlformats.org/drawingml/2006/main" noGrp="1"/>
          </p:cNvSpPr>
          <p:nvPr/>
        </p:nvSpPr>
        <p:spPr>
          <a:xfrm xmlns:a="http://schemas.openxmlformats.org/drawingml/2006/main">
            <a:off x="4533900" y="3124200"/>
            <a:ext cx="21526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202326"/>
                </a:solidFill>
                <a:latin typeface="Aptos"/>
                <a:ea typeface="Aptos"/>
                <a:cs typeface="Aptos"/>
              </a:defRPr>
            </a:pPr>
            <a:r>
              <a:rPr sz="990" b="0">
                <a:solidFill>
                  <a:srgbClr val="202326"/>
                </a:solidFill>
                <a:latin typeface="Aptos"/>
                <a:ea typeface="Aptos"/>
                <a:cs typeface="Aptos"/>
              </a:rPr>
              <a:t>Future users may have different abilities, languages, devices, and field conditions. Accessibility is part of system quality, not decoration.</a:t>
            </a:r>
          </a:p>
        </p:txBody>
      </p:sp>
      <p:sp>
        <p:nvSpPr>
          <p:cNvPr id="13" name="">
            <a:extLst xmlns:a="http://schemas.openxmlformats.org/drawingml/2006/main">
              <a:ext uri="{FF2B5EF4-FFF2-40B4-BE49-F238E27FC236}">
                <a16:creationId xmlns:a16="http://schemas.microsoft.com/office/drawing/2014/main" id="{E5F784AA-7E1C-4659-A67E-D25091784EB2}"/>
              </a:ext>
            </a:extLst>
          </p:cNvPr>
          <p:cNvSpPr>
            <a:spLocks xmlns:a="http://schemas.openxmlformats.org/drawingml/2006/main" noGrp="1"/>
          </p:cNvSpPr>
          <p:nvPr/>
        </p:nvSpPr>
        <p:spPr>
          <a:xfrm xmlns:a="http://schemas.openxmlformats.org/drawingml/2006/main">
            <a:off x="7696200" y="2305050"/>
            <a:ext cx="2781300" cy="22479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14" name="">
            <a:extLst xmlns:a="http://schemas.openxmlformats.org/drawingml/2006/main">
              <a:ext uri="{FF2B5EF4-FFF2-40B4-BE49-F238E27FC236}">
                <a16:creationId xmlns:a16="http://schemas.microsoft.com/office/drawing/2014/main" id="{7C07F02E-3E0D-479B-9538-403FFC95FFDE}"/>
              </a:ext>
            </a:extLst>
          </p:cNvPr>
          <p:cNvSpPr>
            <a:spLocks xmlns:a="http://schemas.openxmlformats.org/drawingml/2006/main" noGrp="1"/>
          </p:cNvSpPr>
          <p:nvPr/>
        </p:nvSpPr>
        <p:spPr>
          <a:xfrm xmlns:a="http://schemas.openxmlformats.org/drawingml/2006/main">
            <a:off x="7962900" y="26289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A85645"/>
                </a:solidFill>
                <a:latin typeface="Aptos"/>
                <a:ea typeface="Aptos"/>
                <a:cs typeface="Aptos"/>
              </a:defRPr>
            </a:pPr>
            <a:r>
              <a:rPr sz="1425" b="1">
                <a:solidFill>
                  <a:srgbClr val="A85645"/>
                </a:solidFill>
                <a:latin typeface="Aptos"/>
                <a:ea typeface="Aptos"/>
                <a:cs typeface="Aptos"/>
              </a:rPr>
              <a:t>Learning</a:t>
            </a:r>
          </a:p>
        </p:txBody>
      </p:sp>
      <p:sp>
        <p:nvSpPr>
          <p:cNvPr id="15" name="">
            <a:extLst xmlns:a="http://schemas.openxmlformats.org/drawingml/2006/main">
              <a:ext uri="{FF2B5EF4-FFF2-40B4-BE49-F238E27FC236}">
                <a16:creationId xmlns:a16="http://schemas.microsoft.com/office/drawing/2014/main" id="{85C9A63E-1500-4602-A634-1F6850C44B09}"/>
              </a:ext>
            </a:extLst>
          </p:cNvPr>
          <p:cNvSpPr>
            <a:spLocks xmlns:a="http://schemas.openxmlformats.org/drawingml/2006/main" noGrp="1"/>
          </p:cNvSpPr>
          <p:nvPr/>
        </p:nvSpPr>
        <p:spPr>
          <a:xfrm xmlns:a="http://schemas.openxmlformats.org/drawingml/2006/main">
            <a:off x="7962900" y="3124200"/>
            <a:ext cx="21526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202326"/>
                </a:solidFill>
                <a:latin typeface="Aptos"/>
                <a:ea typeface="Aptos"/>
                <a:cs typeface="Aptos"/>
              </a:defRPr>
            </a:pPr>
            <a:r>
              <a:rPr sz="990" b="0">
                <a:solidFill>
                  <a:srgbClr val="202326"/>
                </a:solidFill>
                <a:latin typeface="Aptos"/>
                <a:ea typeface="Aptos"/>
                <a:cs typeface="Aptos"/>
              </a:rPr>
              <a:t>The project required algorithm implementation, Java Swing, benchmarking, data visualisation, and integration across modules.</a:t>
            </a:r>
          </a:p>
        </p:txBody>
      </p:sp>
      <p:sp>
        <p:nvSpPr>
          <p:cNvPr id="16" name="">
            <a:extLst xmlns:a="http://schemas.openxmlformats.org/drawingml/2006/main">
              <a:ext uri="{FF2B5EF4-FFF2-40B4-BE49-F238E27FC236}">
                <a16:creationId xmlns:a16="http://schemas.microsoft.com/office/drawing/2014/main" id="{273C70BB-AC36-4A2D-89CF-C35E88C63340}"/>
              </a:ext>
            </a:extLst>
          </p:cNvPr>
          <p:cNvSpPr>
            <a:spLocks xmlns:a="http://schemas.openxmlformats.org/drawingml/2006/main" noGrp="1"/>
          </p:cNvSpPr>
          <p:nvPr/>
        </p:nvSpPr>
        <p:spPr>
          <a:xfrm xmlns:a="http://schemas.openxmlformats.org/drawingml/2006/main">
            <a:off x="1219200" y="5219700"/>
            <a:ext cx="38100" cy="533400"/>
          </a:xfrm>
          <a:prstGeom xmlns:a="http://schemas.openxmlformats.org/drawingml/2006/main" prst="rect">
            <a:avLst/>
          </a:prstGeom>
          <a:solidFill xmlns:a="http://schemas.openxmlformats.org/drawingml/2006/main">
            <a:srgbClr val="B2873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7726802-4646-4BDB-9289-3E93B95EA37F}"/>
              </a:ext>
            </a:extLst>
          </p:cNvPr>
          <p:cNvSpPr>
            <a:spLocks xmlns:a="http://schemas.openxmlformats.org/drawingml/2006/main" noGrp="1"/>
          </p:cNvSpPr>
          <p:nvPr/>
        </p:nvSpPr>
        <p:spPr>
          <a:xfrm xmlns:a="http://schemas.openxmlformats.org/drawingml/2006/main">
            <a:off x="1390650" y="5238750"/>
            <a:ext cx="8210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326"/>
                </a:solidFill>
                <a:latin typeface="Aptos"/>
                <a:ea typeface="Aptos"/>
                <a:cs typeface="Aptos"/>
              </a:defRPr>
            </a:pPr>
            <a:r>
              <a:rPr sz="1125" b="0">
                <a:solidFill>
                  <a:srgbClr val="202326"/>
                </a:solidFill>
                <a:latin typeface="Aptos"/>
                <a:ea typeface="Aptos"/>
                <a:cs typeface="Aptos"/>
              </a:rPr>
              <a:t>Next improvements: custom start/end points, dynamic priorities, more path algorithms, text-to-speech, multilingual support, and colour-blind-friendly UI.</a:t>
            </a:r>
          </a:p>
        </p:txBody>
      </p:sp>
      <p:sp>
        <p:nvSpPr>
          <p:cNvPr id="18" name="">
            <a:extLst xmlns:a="http://schemas.openxmlformats.org/drawingml/2006/main">
              <a:ext uri="{FF2B5EF4-FFF2-40B4-BE49-F238E27FC236}">
                <a16:creationId xmlns:a16="http://schemas.microsoft.com/office/drawing/2014/main" id="{9FE534F8-DF64-4890-AEED-E97150A48A89}"/>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19" name="">
            <a:extLst xmlns:a="http://schemas.openxmlformats.org/drawingml/2006/main">
              <a:ext uri="{FF2B5EF4-FFF2-40B4-BE49-F238E27FC236}">
                <a16:creationId xmlns:a16="http://schemas.microsoft.com/office/drawing/2014/main" id="{5DB1EB9C-3084-4AAA-ACA5-ECBE06FD8DBA}"/>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08</a:t>
            </a:r>
          </a:p>
        </p:txBody>
      </p:sp>
    </p:spTree>
    <p:extLst>
      <p:ext uri="{BB962C8B-B14F-4D97-AF65-F5344CB8AC3E}">
        <p14:creationId xmlns:p14="http://schemas.microsoft.com/office/powerpoint/2010/main" val="15871757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AEBBF8-5E48-46A5-825F-5D3A32E790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1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4B94908-C97E-4A49-BEAA-5BD5D6B37DCE}"/>
              </a:ext>
            </a:extLst>
          </p:cNvPr>
          <p:cNvSpPr>
            <a:spLocks xmlns:a="http://schemas.openxmlformats.org/drawingml/2006/main" noGrp="1"/>
          </p:cNvSpPr>
          <p:nvPr/>
        </p:nvSpPr>
        <p:spPr>
          <a:xfrm xmlns:a="http://schemas.openxmlformats.org/drawingml/2006/main">
            <a:off x="361950" y="361950"/>
            <a:ext cx="11468100" cy="6134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FD7C9"/>
            </a:solidFill>
            <a:prstDash val="solid"/>
          </a:ln>
        </p:spPr>
      </p:sp>
      <p:sp>
        <p:nvSpPr>
          <p:cNvPr id="3" name="">
            <a:extLst xmlns:a="http://schemas.openxmlformats.org/drawingml/2006/main">
              <a:ext uri="{FF2B5EF4-FFF2-40B4-BE49-F238E27FC236}">
                <a16:creationId xmlns:a16="http://schemas.microsoft.com/office/drawing/2014/main" id="{1E778517-C901-48A4-B8B1-3EF374FC519B}"/>
              </a:ext>
            </a:extLst>
          </p:cNvPr>
          <p:cNvSpPr>
            <a:spLocks xmlns:a="http://schemas.openxmlformats.org/drawingml/2006/main" noGrp="1"/>
          </p:cNvSpPr>
          <p:nvPr/>
        </p:nvSpPr>
        <p:spPr>
          <a:xfrm xmlns:a="http://schemas.openxmlformats.org/drawingml/2006/main">
            <a:off x="666750" y="6667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246B57"/>
                </a:solidFill>
                <a:latin typeface="Aptos"/>
                <a:ea typeface="Aptos"/>
                <a:cs typeface="Aptos"/>
              </a:defRPr>
            </a:pPr>
            <a:r>
              <a:rPr sz="750" b="1">
                <a:solidFill>
                  <a:srgbClr val="246B57"/>
                </a:solidFill>
                <a:latin typeface="Aptos"/>
                <a:ea typeface="Aptos"/>
                <a:cs typeface="Aptos"/>
              </a:rPr>
              <a:t>Closing</a:t>
            </a:r>
          </a:p>
        </p:txBody>
      </p:sp>
      <p:sp>
        <p:nvSpPr>
          <p:cNvPr id="4" name="">
            <a:extLst xmlns:a="http://schemas.openxmlformats.org/drawingml/2006/main">
              <a:ext uri="{FF2B5EF4-FFF2-40B4-BE49-F238E27FC236}">
                <a16:creationId xmlns:a16="http://schemas.microsoft.com/office/drawing/2014/main" id="{EEC5FD6B-EB73-4523-9021-C0501024B653}"/>
              </a:ext>
            </a:extLst>
          </p:cNvPr>
          <p:cNvSpPr>
            <a:spLocks xmlns:a="http://schemas.openxmlformats.org/drawingml/2006/main" noGrp="1"/>
          </p:cNvSpPr>
          <p:nvPr/>
        </p:nvSpPr>
        <p:spPr>
          <a:xfrm xmlns:a="http://schemas.openxmlformats.org/drawingml/2006/main">
            <a:off x="666750" y="148590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02326"/>
                </a:solidFill>
                <a:latin typeface="Aptos Display"/>
                <a:ea typeface="Aptos Display"/>
                <a:cs typeface="Aptos Display"/>
              </a:defRPr>
            </a:pPr>
            <a:r>
              <a:rPr sz="3150" b="1">
                <a:solidFill>
                  <a:srgbClr val="202326"/>
                </a:solidFill>
                <a:latin typeface="Aptos Display"/>
                <a:ea typeface="Aptos Display"/>
                <a:cs typeface="Aptos Display"/>
              </a:rPr>
              <a:t>A useful inspection system is both algorithmic and maintainable.</a:t>
            </a:r>
          </a:p>
        </p:txBody>
      </p:sp>
      <p:sp>
        <p:nvSpPr>
          <p:cNvPr id="5" name="">
            <a:extLst xmlns:a="http://schemas.openxmlformats.org/drawingml/2006/main">
              <a:ext uri="{FF2B5EF4-FFF2-40B4-BE49-F238E27FC236}">
                <a16:creationId xmlns:a16="http://schemas.microsoft.com/office/drawing/2014/main" id="{74CC8092-5EB3-42A5-8180-113773AB2C09}"/>
              </a:ext>
            </a:extLst>
          </p:cNvPr>
          <p:cNvSpPr>
            <a:spLocks xmlns:a="http://schemas.openxmlformats.org/drawingml/2006/main" noGrp="1"/>
          </p:cNvSpPr>
          <p:nvPr/>
        </p:nvSpPr>
        <p:spPr>
          <a:xfrm xmlns:a="http://schemas.openxmlformats.org/drawingml/2006/main">
            <a:off x="704850" y="2914650"/>
            <a:ext cx="5715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C7178"/>
                </a:solidFill>
                <a:latin typeface="Aptos"/>
                <a:ea typeface="Aptos"/>
                <a:cs typeface="Aptos"/>
              </a:defRPr>
            </a:pPr>
            <a:r>
              <a:rPr sz="1200" b="0">
                <a:solidFill>
                  <a:srgbClr val="6C7178"/>
                </a:solidFill>
                <a:latin typeface="Aptos"/>
                <a:ea typeface="Aptos"/>
                <a:cs typeface="Aptos"/>
              </a:rPr>
              <a:t>The final design ranks targets consistently, solves weighted route queries, and keeps algorithm implementations behind clean Java interfaces.</a:t>
            </a:r>
          </a:p>
        </p:txBody>
      </p:sp>
      <p:sp>
        <p:nvSpPr>
          <p:cNvPr id="6" name="">
            <a:extLst xmlns:a="http://schemas.openxmlformats.org/drawingml/2006/main">
              <a:ext uri="{FF2B5EF4-FFF2-40B4-BE49-F238E27FC236}">
                <a16:creationId xmlns:a16="http://schemas.microsoft.com/office/drawing/2014/main" id="{F0B32121-58AB-461E-A237-82CC09FB93EF}"/>
              </a:ext>
            </a:extLst>
          </p:cNvPr>
          <p:cNvSpPr>
            <a:spLocks xmlns:a="http://schemas.openxmlformats.org/drawingml/2006/main" noGrp="1"/>
          </p:cNvSpPr>
          <p:nvPr/>
        </p:nvSpPr>
        <p:spPr>
          <a:xfrm xmlns:a="http://schemas.openxmlformats.org/drawingml/2006/main">
            <a:off x="7715250" y="1295400"/>
            <a:ext cx="2857500" cy="14097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4"/>
            </a:solidFill>
            <a:prstDash val="solid"/>
          </a:ln>
        </p:spPr>
      </p:sp>
      <p:sp>
        <p:nvSpPr>
          <p:cNvPr id="7" name="">
            <a:extLst xmlns:a="http://schemas.openxmlformats.org/drawingml/2006/main">
              <a:ext uri="{FF2B5EF4-FFF2-40B4-BE49-F238E27FC236}">
                <a16:creationId xmlns:a16="http://schemas.microsoft.com/office/drawing/2014/main" id="{81C0DBDF-879B-408C-B262-36124111ACED}"/>
              </a:ext>
            </a:extLst>
          </p:cNvPr>
          <p:cNvSpPr>
            <a:spLocks xmlns:a="http://schemas.openxmlformats.org/drawingml/2006/main" noGrp="1"/>
          </p:cNvSpPr>
          <p:nvPr/>
        </p:nvSpPr>
        <p:spPr>
          <a:xfrm xmlns:a="http://schemas.openxmlformats.org/drawingml/2006/main">
            <a:off x="8020050" y="1581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202326"/>
                </a:solidFill>
                <a:latin typeface="Aptos"/>
                <a:ea typeface="Aptos"/>
                <a:cs typeface="Aptos"/>
              </a:defRPr>
            </a:pPr>
            <a:r>
              <a:rPr sz="1013" b="1">
                <a:solidFill>
                  <a:srgbClr val="202326"/>
                </a:solidFill>
                <a:latin typeface="Aptos"/>
                <a:ea typeface="Aptos"/>
                <a:cs typeface="Aptos"/>
              </a:rPr>
              <a:t>Suggested speaking split</a:t>
            </a:r>
          </a:p>
        </p:txBody>
      </p:sp>
      <p:sp>
        <p:nvSpPr>
          <p:cNvPr id="8" name="">
            <a:extLst xmlns:a="http://schemas.openxmlformats.org/drawingml/2006/main">
              <a:ext uri="{FF2B5EF4-FFF2-40B4-BE49-F238E27FC236}">
                <a16:creationId xmlns:a16="http://schemas.microsoft.com/office/drawing/2014/main" id="{58DFB26C-899C-40B4-9D9C-A04E9A74476E}"/>
              </a:ext>
            </a:extLst>
          </p:cNvPr>
          <p:cNvSpPr>
            <a:spLocks xmlns:a="http://schemas.openxmlformats.org/drawingml/2006/main" noGrp="1"/>
          </p:cNvSpPr>
          <p:nvPr/>
        </p:nvSpPr>
        <p:spPr>
          <a:xfrm xmlns:a="http://schemas.openxmlformats.org/drawingml/2006/main">
            <a:off x="8020050" y="1924050"/>
            <a:ext cx="2000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C7178"/>
                </a:solidFill>
                <a:latin typeface="Aptos"/>
                <a:ea typeface="Aptos"/>
                <a:cs typeface="Aptos"/>
              </a:defRPr>
            </a:pPr>
            <a:r>
              <a:rPr sz="863" b="0">
                <a:solidFill>
                  <a:srgbClr val="6C7178"/>
                </a:solidFill>
                <a:latin typeface="Aptos"/>
                <a:ea typeface="Aptos"/>
                <a:cs typeface="Aptos"/>
              </a:rPr>
              <a:t>Student A: overview + sorting</a:t>
            </a:r>
          </a:p>
          <a:p xmlns:a="http://schemas.openxmlformats.org/drawingml/2006/main">
            <a:pPr algn="l">
              <a:defRPr sz="863" b="0">
                <a:solidFill>
                  <a:srgbClr val="6C7178"/>
                </a:solidFill>
                <a:latin typeface="Aptos"/>
                <a:ea typeface="Aptos"/>
                <a:cs typeface="Aptos"/>
              </a:defRPr>
            </a:pPr>
            <a:r>
              <a:rPr sz="863" b="0">
                <a:solidFill>
                  <a:srgbClr val="6C7178"/>
                </a:solidFill>
                <a:latin typeface="Aptos"/>
                <a:ea typeface="Aptos"/>
                <a:cs typeface="Aptos"/>
              </a:rPr>
              <a:t>Student B: graph + design + reflection</a:t>
            </a:r>
          </a:p>
        </p:txBody>
      </p:sp>
      <p:sp>
        <p:nvSpPr>
          <p:cNvPr id="9" name="">
            <a:extLst xmlns:a="http://schemas.openxmlformats.org/drawingml/2006/main">
              <a:ext uri="{FF2B5EF4-FFF2-40B4-BE49-F238E27FC236}">
                <a16:creationId xmlns:a16="http://schemas.microsoft.com/office/drawing/2014/main" id="{8018D56D-115D-4A2B-A89F-97C0C8E330CF}"/>
              </a:ext>
            </a:extLst>
          </p:cNvPr>
          <p:cNvSpPr>
            <a:spLocks xmlns:a="http://schemas.openxmlformats.org/drawingml/2006/main" noGrp="1"/>
          </p:cNvSpPr>
          <p:nvPr/>
        </p:nvSpPr>
        <p:spPr>
          <a:xfrm xmlns:a="http://schemas.openxmlformats.org/drawingml/2006/main">
            <a:off x="914400" y="400050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246B57"/>
            </a:solidFill>
            <a:prstDash val="solid"/>
          </a:ln>
        </p:spPr>
      </p:sp>
      <p:sp>
        <p:nvSpPr>
          <p:cNvPr id="10" name="">
            <a:extLst xmlns:a="http://schemas.openxmlformats.org/drawingml/2006/main">
              <a:ext uri="{FF2B5EF4-FFF2-40B4-BE49-F238E27FC236}">
                <a16:creationId xmlns:a16="http://schemas.microsoft.com/office/drawing/2014/main" id="{D89C4719-B00A-4987-B55E-A73E06EDCBD2}"/>
              </a:ext>
            </a:extLst>
          </p:cNvPr>
          <p:cNvSpPr>
            <a:spLocks xmlns:a="http://schemas.openxmlformats.org/drawingml/2006/main" noGrp="1"/>
          </p:cNvSpPr>
          <p:nvPr/>
        </p:nvSpPr>
        <p:spPr>
          <a:xfrm xmlns:a="http://schemas.openxmlformats.org/drawingml/2006/main">
            <a:off x="1009650" y="4076700"/>
            <a:ext cx="800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246B57"/>
                </a:solidFill>
                <a:latin typeface="Aptos"/>
                <a:ea typeface="Aptos"/>
                <a:cs typeface="Aptos"/>
              </a:defRPr>
            </a:pPr>
            <a:r>
              <a:rPr sz="675" b="1">
                <a:solidFill>
                  <a:srgbClr val="246B57"/>
                </a:solidFill>
                <a:latin typeface="Aptos"/>
                <a:ea typeface="Aptos"/>
                <a:cs typeface="Aptos"/>
              </a:rPr>
              <a:t>Rank</a:t>
            </a:r>
          </a:p>
        </p:txBody>
      </p:sp>
      <p:sp>
        <p:nvSpPr>
          <p:cNvPr id="11" name="">
            <a:extLst xmlns:a="http://schemas.openxmlformats.org/drawingml/2006/main">
              <a:ext uri="{FF2B5EF4-FFF2-40B4-BE49-F238E27FC236}">
                <a16:creationId xmlns:a16="http://schemas.microsoft.com/office/drawing/2014/main" id="{96304DF1-AD75-4270-96AF-0B121FD0E29A}"/>
              </a:ext>
            </a:extLst>
          </p:cNvPr>
          <p:cNvSpPr>
            <a:spLocks xmlns:a="http://schemas.openxmlformats.org/drawingml/2006/main" noGrp="1"/>
          </p:cNvSpPr>
          <p:nvPr/>
        </p:nvSpPr>
        <p:spPr>
          <a:xfrm xmlns:a="http://schemas.openxmlformats.org/drawingml/2006/main">
            <a:off x="2209800" y="4067175"/>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02326"/>
                </a:solidFill>
                <a:latin typeface="Aptos"/>
                <a:ea typeface="Aptos"/>
                <a:cs typeface="Aptos"/>
              </a:defRPr>
            </a:pPr>
            <a:r>
              <a:rPr sz="975" b="0">
                <a:solidFill>
                  <a:srgbClr val="202326"/>
                </a:solidFill>
                <a:latin typeface="Aptos"/>
                <a:ea typeface="Aptos"/>
                <a:cs typeface="Aptos"/>
              </a:rPr>
              <a:t>clear rule + benchmark evidence</a:t>
            </a:r>
          </a:p>
        </p:txBody>
      </p:sp>
      <p:sp>
        <p:nvSpPr>
          <p:cNvPr id="12" name="">
            <a:extLst xmlns:a="http://schemas.openxmlformats.org/drawingml/2006/main">
              <a:ext uri="{FF2B5EF4-FFF2-40B4-BE49-F238E27FC236}">
                <a16:creationId xmlns:a16="http://schemas.microsoft.com/office/drawing/2014/main" id="{9E25C866-0CD9-4E29-B6F8-E9221203FC12}"/>
              </a:ext>
            </a:extLst>
          </p:cNvPr>
          <p:cNvSpPr>
            <a:spLocks xmlns:a="http://schemas.openxmlformats.org/drawingml/2006/main" noGrp="1"/>
          </p:cNvSpPr>
          <p:nvPr/>
        </p:nvSpPr>
        <p:spPr>
          <a:xfrm xmlns:a="http://schemas.openxmlformats.org/drawingml/2006/main">
            <a:off x="6858000" y="4143375"/>
            <a:ext cx="3048000" cy="9525"/>
          </a:xfrm>
          <a:prstGeom xmlns:a="http://schemas.openxmlformats.org/drawingml/2006/main" prst="rect">
            <a:avLst/>
          </a:prstGeom>
          <a:solidFill xmlns:a="http://schemas.openxmlformats.org/drawingml/2006/main">
            <a:srgbClr val="E2DAC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27CF2F0-9A8F-463F-9620-58628C19636B}"/>
              </a:ext>
            </a:extLst>
          </p:cNvPr>
          <p:cNvSpPr>
            <a:spLocks xmlns:a="http://schemas.openxmlformats.org/drawingml/2006/main" noGrp="1"/>
          </p:cNvSpPr>
          <p:nvPr/>
        </p:nvSpPr>
        <p:spPr>
          <a:xfrm xmlns:a="http://schemas.openxmlformats.org/drawingml/2006/main">
            <a:off x="914400" y="443865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315E91"/>
            </a:solidFill>
            <a:prstDash val="solid"/>
          </a:ln>
        </p:spPr>
      </p:sp>
      <p:sp>
        <p:nvSpPr>
          <p:cNvPr id="14" name="">
            <a:extLst xmlns:a="http://schemas.openxmlformats.org/drawingml/2006/main">
              <a:ext uri="{FF2B5EF4-FFF2-40B4-BE49-F238E27FC236}">
                <a16:creationId xmlns:a16="http://schemas.microsoft.com/office/drawing/2014/main" id="{E880E0BA-B149-410C-8482-73CA8D0082E8}"/>
              </a:ext>
            </a:extLst>
          </p:cNvPr>
          <p:cNvSpPr>
            <a:spLocks xmlns:a="http://schemas.openxmlformats.org/drawingml/2006/main" noGrp="1"/>
          </p:cNvSpPr>
          <p:nvPr/>
        </p:nvSpPr>
        <p:spPr>
          <a:xfrm xmlns:a="http://schemas.openxmlformats.org/drawingml/2006/main">
            <a:off x="1009650" y="4514850"/>
            <a:ext cx="800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315E91"/>
                </a:solidFill>
                <a:latin typeface="Aptos"/>
                <a:ea typeface="Aptos"/>
                <a:cs typeface="Aptos"/>
              </a:defRPr>
            </a:pPr>
            <a:r>
              <a:rPr sz="675" b="1">
                <a:solidFill>
                  <a:srgbClr val="315E91"/>
                </a:solidFill>
                <a:latin typeface="Aptos"/>
                <a:ea typeface="Aptos"/>
                <a:cs typeface="Aptos"/>
              </a:rPr>
              <a:t>Route</a:t>
            </a:r>
          </a:p>
        </p:txBody>
      </p:sp>
      <p:sp>
        <p:nvSpPr>
          <p:cNvPr id="15" name="">
            <a:extLst xmlns:a="http://schemas.openxmlformats.org/drawingml/2006/main">
              <a:ext uri="{FF2B5EF4-FFF2-40B4-BE49-F238E27FC236}">
                <a16:creationId xmlns:a16="http://schemas.microsoft.com/office/drawing/2014/main" id="{D3565F58-5ED5-48C0-B4A5-BB5EFB4926F6}"/>
              </a:ext>
            </a:extLst>
          </p:cNvPr>
          <p:cNvSpPr>
            <a:spLocks xmlns:a="http://schemas.openxmlformats.org/drawingml/2006/main" noGrp="1"/>
          </p:cNvSpPr>
          <p:nvPr/>
        </p:nvSpPr>
        <p:spPr>
          <a:xfrm xmlns:a="http://schemas.openxmlformats.org/drawingml/2006/main">
            <a:off x="2209800" y="4505325"/>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02326"/>
                </a:solidFill>
                <a:latin typeface="Aptos"/>
                <a:ea typeface="Aptos"/>
                <a:cs typeface="Aptos"/>
              </a:defRPr>
            </a:pPr>
            <a:r>
              <a:rPr sz="975" b="0">
                <a:solidFill>
                  <a:srgbClr val="202326"/>
                </a:solidFill>
                <a:latin typeface="Aptos"/>
                <a:ea typeface="Aptos"/>
                <a:cs typeface="Aptos"/>
              </a:rPr>
              <a:t>Dijkstra with waypoint constraints</a:t>
            </a:r>
          </a:p>
        </p:txBody>
      </p:sp>
      <p:sp>
        <p:nvSpPr>
          <p:cNvPr id="16" name="">
            <a:extLst xmlns:a="http://schemas.openxmlformats.org/drawingml/2006/main">
              <a:ext uri="{FF2B5EF4-FFF2-40B4-BE49-F238E27FC236}">
                <a16:creationId xmlns:a16="http://schemas.microsoft.com/office/drawing/2014/main" id="{EA67F4DE-0C81-4CED-8B2D-05F26235C340}"/>
              </a:ext>
            </a:extLst>
          </p:cNvPr>
          <p:cNvSpPr>
            <a:spLocks xmlns:a="http://schemas.openxmlformats.org/drawingml/2006/main" noGrp="1"/>
          </p:cNvSpPr>
          <p:nvPr/>
        </p:nvSpPr>
        <p:spPr>
          <a:xfrm xmlns:a="http://schemas.openxmlformats.org/drawingml/2006/main">
            <a:off x="6858000" y="4581525"/>
            <a:ext cx="3048000" cy="9525"/>
          </a:xfrm>
          <a:prstGeom xmlns:a="http://schemas.openxmlformats.org/drawingml/2006/main" prst="rect">
            <a:avLst/>
          </a:prstGeom>
          <a:solidFill xmlns:a="http://schemas.openxmlformats.org/drawingml/2006/main">
            <a:srgbClr val="E2DAC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EB729A5-E275-4264-A12E-E71FAFD595BA}"/>
              </a:ext>
            </a:extLst>
          </p:cNvPr>
          <p:cNvSpPr>
            <a:spLocks xmlns:a="http://schemas.openxmlformats.org/drawingml/2006/main" noGrp="1"/>
          </p:cNvSpPr>
          <p:nvPr/>
        </p:nvSpPr>
        <p:spPr>
          <a:xfrm xmlns:a="http://schemas.openxmlformats.org/drawingml/2006/main">
            <a:off x="914400" y="487680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B28736"/>
            </a:solidFill>
            <a:prstDash val="solid"/>
          </a:ln>
        </p:spPr>
      </p:sp>
      <p:sp>
        <p:nvSpPr>
          <p:cNvPr id="18" name="">
            <a:extLst xmlns:a="http://schemas.openxmlformats.org/drawingml/2006/main">
              <a:ext uri="{FF2B5EF4-FFF2-40B4-BE49-F238E27FC236}">
                <a16:creationId xmlns:a16="http://schemas.microsoft.com/office/drawing/2014/main" id="{61244972-6022-43C6-8661-956ACCB83F1D}"/>
              </a:ext>
            </a:extLst>
          </p:cNvPr>
          <p:cNvSpPr>
            <a:spLocks xmlns:a="http://schemas.openxmlformats.org/drawingml/2006/main" noGrp="1"/>
          </p:cNvSpPr>
          <p:nvPr/>
        </p:nvSpPr>
        <p:spPr>
          <a:xfrm xmlns:a="http://schemas.openxmlformats.org/drawingml/2006/main">
            <a:off x="1009650" y="4953000"/>
            <a:ext cx="800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B28736"/>
                </a:solidFill>
                <a:latin typeface="Aptos"/>
                <a:ea typeface="Aptos"/>
                <a:cs typeface="Aptos"/>
              </a:defRPr>
            </a:pPr>
            <a:r>
              <a:rPr sz="675" b="1">
                <a:solidFill>
                  <a:srgbClr val="B28736"/>
                </a:solidFill>
                <a:latin typeface="Aptos"/>
                <a:ea typeface="Aptos"/>
                <a:cs typeface="Aptos"/>
              </a:rPr>
              <a:t>Design</a:t>
            </a:r>
          </a:p>
        </p:txBody>
      </p:sp>
      <p:sp>
        <p:nvSpPr>
          <p:cNvPr id="19" name="">
            <a:extLst xmlns:a="http://schemas.openxmlformats.org/drawingml/2006/main">
              <a:ext uri="{FF2B5EF4-FFF2-40B4-BE49-F238E27FC236}">
                <a16:creationId xmlns:a16="http://schemas.microsoft.com/office/drawing/2014/main" id="{5D87D167-6364-42CF-B98A-7B5364A29A47}"/>
              </a:ext>
            </a:extLst>
          </p:cNvPr>
          <p:cNvSpPr>
            <a:spLocks xmlns:a="http://schemas.openxmlformats.org/drawingml/2006/main" noGrp="1"/>
          </p:cNvSpPr>
          <p:nvPr/>
        </p:nvSpPr>
        <p:spPr>
          <a:xfrm xmlns:a="http://schemas.openxmlformats.org/drawingml/2006/main">
            <a:off x="2209800" y="4943475"/>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02326"/>
                </a:solidFill>
                <a:latin typeface="Aptos"/>
                <a:ea typeface="Aptos"/>
                <a:cs typeface="Aptos"/>
              </a:defRPr>
            </a:pPr>
            <a:r>
              <a:rPr sz="975" b="0">
                <a:solidFill>
                  <a:srgbClr val="202326"/>
                </a:solidFill>
                <a:latin typeface="Aptos"/>
                <a:ea typeface="Aptos"/>
                <a:cs typeface="Aptos"/>
              </a:rPr>
              <a:t>interfaces and service separation</a:t>
            </a:r>
          </a:p>
        </p:txBody>
      </p:sp>
      <p:sp>
        <p:nvSpPr>
          <p:cNvPr id="20" name="">
            <a:extLst xmlns:a="http://schemas.openxmlformats.org/drawingml/2006/main">
              <a:ext uri="{FF2B5EF4-FFF2-40B4-BE49-F238E27FC236}">
                <a16:creationId xmlns:a16="http://schemas.microsoft.com/office/drawing/2014/main" id="{6A8C7343-6068-49F3-ABA5-5429FD211C90}"/>
              </a:ext>
            </a:extLst>
          </p:cNvPr>
          <p:cNvSpPr>
            <a:spLocks xmlns:a="http://schemas.openxmlformats.org/drawingml/2006/main" noGrp="1"/>
          </p:cNvSpPr>
          <p:nvPr/>
        </p:nvSpPr>
        <p:spPr>
          <a:xfrm xmlns:a="http://schemas.openxmlformats.org/drawingml/2006/main">
            <a:off x="6858000" y="5019675"/>
            <a:ext cx="3048000" cy="9525"/>
          </a:xfrm>
          <a:prstGeom xmlns:a="http://schemas.openxmlformats.org/drawingml/2006/main" prst="rect">
            <a:avLst/>
          </a:prstGeom>
          <a:solidFill xmlns:a="http://schemas.openxmlformats.org/drawingml/2006/main">
            <a:srgbClr val="E2DAC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4CB8D33-A836-43F6-94D1-BFE794C2CFBF}"/>
              </a:ext>
            </a:extLst>
          </p:cNvPr>
          <p:cNvSpPr>
            <a:spLocks xmlns:a="http://schemas.openxmlformats.org/drawingml/2006/main" noGrp="1"/>
          </p:cNvSpPr>
          <p:nvPr/>
        </p:nvSpPr>
        <p:spPr>
          <a:xfrm xmlns:a="http://schemas.openxmlformats.org/drawingml/2006/main">
            <a:off x="914400" y="531495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A85645"/>
            </a:solidFill>
            <a:prstDash val="solid"/>
          </a:ln>
        </p:spPr>
      </p:sp>
      <p:sp>
        <p:nvSpPr>
          <p:cNvPr id="22" name="">
            <a:extLst xmlns:a="http://schemas.openxmlformats.org/drawingml/2006/main">
              <a:ext uri="{FF2B5EF4-FFF2-40B4-BE49-F238E27FC236}">
                <a16:creationId xmlns:a16="http://schemas.microsoft.com/office/drawing/2014/main" id="{B37EC6AF-962D-49C0-9323-73B79C5BBDA6}"/>
              </a:ext>
            </a:extLst>
          </p:cNvPr>
          <p:cNvSpPr>
            <a:spLocks xmlns:a="http://schemas.openxmlformats.org/drawingml/2006/main" noGrp="1"/>
          </p:cNvSpPr>
          <p:nvPr/>
        </p:nvSpPr>
        <p:spPr>
          <a:xfrm xmlns:a="http://schemas.openxmlformats.org/drawingml/2006/main">
            <a:off x="1009650" y="5391150"/>
            <a:ext cx="800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A85645"/>
                </a:solidFill>
                <a:latin typeface="Aptos"/>
                <a:ea typeface="Aptos"/>
                <a:cs typeface="Aptos"/>
              </a:defRPr>
            </a:pPr>
            <a:r>
              <a:rPr sz="675" b="1">
                <a:solidFill>
                  <a:srgbClr val="A85645"/>
                </a:solidFill>
                <a:latin typeface="Aptos"/>
                <a:ea typeface="Aptos"/>
                <a:cs typeface="Aptos"/>
              </a:rPr>
              <a:t>Improve</a:t>
            </a:r>
          </a:p>
        </p:txBody>
      </p:sp>
      <p:sp>
        <p:nvSpPr>
          <p:cNvPr id="23" name="">
            <a:extLst xmlns:a="http://schemas.openxmlformats.org/drawingml/2006/main">
              <a:ext uri="{FF2B5EF4-FFF2-40B4-BE49-F238E27FC236}">
                <a16:creationId xmlns:a16="http://schemas.microsoft.com/office/drawing/2014/main" id="{5CB076C4-71C0-4DE4-AB5C-575DB1E8BFAA}"/>
              </a:ext>
            </a:extLst>
          </p:cNvPr>
          <p:cNvSpPr>
            <a:spLocks xmlns:a="http://schemas.openxmlformats.org/drawingml/2006/main" noGrp="1"/>
          </p:cNvSpPr>
          <p:nvPr/>
        </p:nvSpPr>
        <p:spPr>
          <a:xfrm xmlns:a="http://schemas.openxmlformats.org/drawingml/2006/main">
            <a:off x="2209800" y="5381625"/>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02326"/>
                </a:solidFill>
                <a:latin typeface="Aptos"/>
                <a:ea typeface="Aptos"/>
                <a:cs typeface="Aptos"/>
              </a:defRPr>
            </a:pPr>
            <a:r>
              <a:rPr sz="975" b="0">
                <a:solidFill>
                  <a:srgbClr val="202326"/>
                </a:solidFill>
                <a:latin typeface="Aptos"/>
                <a:ea typeface="Aptos"/>
                <a:cs typeface="Aptos"/>
              </a:rPr>
              <a:t>accessibility and practical routing</a:t>
            </a:r>
          </a:p>
        </p:txBody>
      </p:sp>
      <p:sp>
        <p:nvSpPr>
          <p:cNvPr id="24" name="">
            <a:extLst xmlns:a="http://schemas.openxmlformats.org/drawingml/2006/main">
              <a:ext uri="{FF2B5EF4-FFF2-40B4-BE49-F238E27FC236}">
                <a16:creationId xmlns:a16="http://schemas.microsoft.com/office/drawing/2014/main" id="{745FF4DB-124B-4CDB-9882-EC0466AB65E2}"/>
              </a:ext>
            </a:extLst>
          </p:cNvPr>
          <p:cNvSpPr>
            <a:spLocks xmlns:a="http://schemas.openxmlformats.org/drawingml/2006/main" noGrp="1"/>
          </p:cNvSpPr>
          <p:nvPr/>
        </p:nvSpPr>
        <p:spPr>
          <a:xfrm xmlns:a="http://schemas.openxmlformats.org/drawingml/2006/main">
            <a:off x="6858000" y="5457825"/>
            <a:ext cx="3048000" cy="9525"/>
          </a:xfrm>
          <a:prstGeom xmlns:a="http://schemas.openxmlformats.org/drawingml/2006/main" prst="rect">
            <a:avLst/>
          </a:prstGeom>
          <a:solidFill xmlns:a="http://schemas.openxmlformats.org/drawingml/2006/main">
            <a:srgbClr val="E2DACF"/>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A7B55DC-B49E-4C80-A8FF-0FAA50A86D5F}"/>
              </a:ext>
            </a:extLst>
          </p:cNvPr>
          <p:cNvSpPr>
            <a:spLocks xmlns:a="http://schemas.openxmlformats.org/drawingml/2006/main" noGrp="1"/>
          </p:cNvSpPr>
          <p:nvPr/>
        </p:nvSpPr>
        <p:spPr>
          <a:xfrm xmlns:a="http://schemas.openxmlformats.org/drawingml/2006/main">
            <a:off x="666750" y="6248400"/>
            <a:ext cx="4000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C7178"/>
                </a:solidFill>
                <a:latin typeface="Aptos"/>
                <a:ea typeface="Aptos"/>
                <a:cs typeface="Aptos"/>
              </a:defRPr>
            </a:pPr>
            <a:r>
              <a:rPr sz="638" b="0">
                <a:solidFill>
                  <a:srgbClr val="6C7178"/>
                </a:solidFill>
                <a:latin typeface="Aptos"/>
                <a:ea typeface="Aptos"/>
                <a:cs typeface="Aptos"/>
              </a:rPr>
              <a:t>CPT204 Group Project</a:t>
            </a:r>
          </a:p>
        </p:txBody>
      </p:sp>
      <p:sp>
        <p:nvSpPr>
          <p:cNvPr id="26" name="">
            <a:extLst xmlns:a="http://schemas.openxmlformats.org/drawingml/2006/main">
              <a:ext uri="{FF2B5EF4-FFF2-40B4-BE49-F238E27FC236}">
                <a16:creationId xmlns:a16="http://schemas.microsoft.com/office/drawing/2014/main" id="{D255AFFC-0C57-49AE-AA96-69C7169ADEBC}"/>
              </a:ext>
            </a:extLst>
          </p:cNvPr>
          <p:cNvSpPr>
            <a:spLocks xmlns:a="http://schemas.openxmlformats.org/drawingml/2006/main" noGrp="1"/>
          </p:cNvSpPr>
          <p:nvPr/>
        </p:nvSpPr>
        <p:spPr>
          <a:xfrm xmlns:a="http://schemas.openxmlformats.org/drawingml/2006/main">
            <a:off x="11106150" y="6248400"/>
            <a:ext cx="419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C7178"/>
                </a:solidFill>
                <a:latin typeface="Aptos"/>
                <a:ea typeface="Aptos"/>
                <a:cs typeface="Aptos"/>
              </a:defRPr>
            </a:pPr>
            <a:r>
              <a:rPr sz="638" b="0">
                <a:solidFill>
                  <a:srgbClr val="6C7178"/>
                </a:solidFill>
                <a:latin typeface="Aptos"/>
                <a:ea typeface="Aptos"/>
                <a:cs typeface="Aptos"/>
              </a:rPr>
              <a:t>09</a:t>
            </a:r>
          </a:p>
        </p:txBody>
      </p:sp>
    </p:spTree>
    <p:extLst>
      <p:ext uri="{BB962C8B-B14F-4D97-AF65-F5344CB8AC3E}">
        <p14:creationId xmlns:p14="http://schemas.microsoft.com/office/powerpoint/2010/main" val="1498231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2026-05-23T11:26:05.9160000Z</dcterms:created>
  <dcterms:modified xsi:type="dcterms:W3CDTF">2026-05-23T11:26:05.9160000Z</dcterms:modified>
</coreProperties>
</file>